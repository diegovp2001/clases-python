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For Anidado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Ciclos </a:t>
            </a:r>
            <a:r>
              <a:rPr sz="2000" b="0">
                <a:solidFill>
                  <a:srgbClr val="4ADFCB"/>
                </a:solidFill>
                <a:latin typeface="Consolas"/>
              </a:rPr>
              <a:t>for</a:t>
            </a:r>
            <a:r>
              <a:rPr sz="2000" b="0">
                <a:solidFill>
                  <a:srgbClr val="94A3B8"/>
                </a:solidFill>
                <a:latin typeface="Calibri"/>
              </a:rPr>
              <a:t> anidados (ciclo dentro de otro ciclo), relación filas/columnas entre ciclo externo e interno, sangría de dos niveles, construcción de salida por fila usando </a:t>
            </a:r>
            <a:r>
              <a:rPr sz="2000" b="0">
                <a:solidFill>
                  <a:srgbClr val="4ADFCB"/>
                </a:solidFill>
                <a:latin typeface="Consolas"/>
              </a:rPr>
              <a:t>print(..., end=...)</a:t>
            </a:r>
            <a:r>
              <a:rPr sz="2000" b="0">
                <a:solidFill>
                  <a:srgbClr val="94A3B8"/>
                </a:solidFill>
                <a:latin typeface="Calibri"/>
              </a:rPr>
              <a:t> y </a:t>
            </a:r>
            <a:r>
              <a:rPr sz="2000" b="0">
                <a:solidFill>
                  <a:srgbClr val="4ADFCB"/>
                </a:solidFill>
                <a:latin typeface="Consolas"/>
              </a:rPr>
              <a:t>print()</a:t>
            </a:r>
            <a:r>
              <a:rPr sz="2000" b="0">
                <a:solidFill>
                  <a:srgbClr val="94A3B8"/>
                </a:solidFill>
                <a:latin typeface="Calibri"/>
              </a:rPr>
              <a:t> vacío para el salto de línea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El orden es organizar el trabajo en pasos claros, uno dentro de otro, sin mezclarlos. Hoy desbloqueas una herramienta nueva 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20 - For Anidado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Construir programas con ciclos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 anidados que generen tablas y patrones organizados en filas y columnas, con orden.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El orden es organizar el trabajo en pasos claros, uno dentro de otro, sin mezclarlos. Hoy lo practicamos anidando ciclos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🦻 No ocupen audífonos.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⚡ Haz Ahora &lt;&lt;6:00&gt;&gt;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11094415" cy="4937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49377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52728"/>
            <a:ext cx="10820095" cy="4736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1. Si ya revisó los 5 asientos de la Fila 1, ¿cuál asiento revisa justo después?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2. ¿Cuántos asientos en total revisa el equipo en toda la sala?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3. ¿Cuántas veces vuelve a partir desde el asiento 1 mientras revisa toda la sala?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Ciclo `for` anidado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73152" cy="11663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37943"/>
            <a:ext cx="10728655" cy="681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Un ciclo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 dentro de otro ciclo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. El ciclo de adentro se ejecuta completo por cada vuelta del ciclo de afuera.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7571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23184"/>
            <a:ext cx="11094415" cy="2239264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23184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60344"/>
            <a:ext cx="10820095" cy="201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for fila in range(1, 3):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for asiento in range(1, 4):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    print("Fila", fila, "- Asiento", asiento)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27040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527040"/>
            <a:ext cx="73152" cy="1166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00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20232"/>
            <a:ext cx="10728655" cy="727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por cada vuelta del ciclo externo, el ciclo interno corre entero antes de que el externo avance.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Filas y columnas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4415" cy="110439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73152" cy="110439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37943"/>
            <a:ext cx="10728655" cy="619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en un </a:t>
            </a:r>
            <a:r>
              <a:rPr sz="2000" b="0">
                <a:solidFill>
                  <a:srgbClr val="4ADFCB"/>
                </a:solidFill>
                <a:latin typeface="Consolas"/>
              </a:rPr>
              <a:t>for</a:t>
            </a:r>
            <a:r>
              <a:rPr sz="2000" b="0">
                <a:solidFill>
                  <a:srgbClr val="FFFFFF"/>
                </a:solidFill>
                <a:latin typeface="Calibri"/>
              </a:rPr>
              <a:t> anidado, la variable del ciclo externo suele representar las filas, y la variable del ciclo interno representa las columnas dentro de cada fila.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1373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1208"/>
            <a:ext cx="11094415" cy="2301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6120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98368"/>
            <a:ext cx="10820095" cy="2072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for fila in range(1, 3):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for columna in range(1, 4):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    print("(", fila, ",", columna, ")")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27040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527040"/>
            <a:ext cx="73152" cy="1166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00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20232"/>
            <a:ext cx="10728655" cy="727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pensar "primero fijo la fila, después recorro todas sus columnas" ayuda a decidir cuál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 va afuera y cuál va adentro.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Sangría de dos niveles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73152" cy="11663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37943"/>
            <a:ext cx="10728655" cy="681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cada nivel de anidamiento exige su propia sangría. El cuerpo del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 interno va indentado dentro del cuerpo del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 externo.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7571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23184"/>
            <a:ext cx="11094415" cy="2239263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23184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60344"/>
            <a:ext cx="10820095" cy="2010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for fila in range(1, 3):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print("Fila", fila)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for asiento in range(1, 4):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    print("  Asiento", asiento)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27040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527040"/>
            <a:ext cx="73152" cy="1166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00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20232"/>
            <a:ext cx="10728655" cy="727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perder la sangría del ciclo interno rompe la relación de anidamiento — Python deja de entender que uno está "dentro" del otro.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4. Construir la salida por fila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4415" cy="14142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73152" cy="141427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37943"/>
            <a:ext cx="10728655" cy="929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usar </a:t>
            </a:r>
            <a:r>
              <a:rPr sz="2000" b="0">
                <a:solidFill>
                  <a:srgbClr val="4ADFCB"/>
                </a:solidFill>
                <a:latin typeface="Consolas"/>
              </a:rPr>
              <a:t>print(..., end=...)</a:t>
            </a:r>
            <a:r>
              <a:rPr sz="2000" b="0">
                <a:solidFill>
                  <a:srgbClr val="FFFFFF"/>
                </a:solidFill>
                <a:latin typeface="Calibri"/>
              </a:rPr>
              <a:t> dentro del ciclo interno mantiene los valores en la misma línea; un </a:t>
            </a:r>
            <a:r>
              <a:rPr sz="2000" b="0">
                <a:solidFill>
                  <a:srgbClr val="4ADFCB"/>
                </a:solidFill>
                <a:latin typeface="Consolas"/>
              </a:rPr>
              <a:t>print()</a:t>
            </a:r>
            <a:r>
              <a:rPr sz="2000" b="0">
                <a:solidFill>
                  <a:srgbClr val="FFFFFF"/>
                </a:solidFill>
                <a:latin typeface="Calibri"/>
              </a:rPr>
              <a:t> vacío después del ciclo interno (pero dentro del externo) salta a la siguiente línea al terminar cada fila.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2361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1088"/>
            <a:ext cx="11094415" cy="1991359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108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08248"/>
            <a:ext cx="10820095" cy="1762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for fila in range(1, 3):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for asiento in range(1, 4):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    print(asiento, end=" ")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27040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527040"/>
            <a:ext cx="73152" cy="1166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00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20232"/>
            <a:ext cx="10728655" cy="727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sin el </a:t>
            </a:r>
            <a:r>
              <a:rPr sz="2200" b="0">
                <a:solidFill>
                  <a:srgbClr val="4ADFCB"/>
                </a:solidFill>
                <a:latin typeface="Consolas"/>
              </a:rPr>
              <a:t>print()</a:t>
            </a:r>
            <a:r>
              <a:rPr sz="2200" b="0">
                <a:solidFill>
                  <a:srgbClr val="FFFFFF"/>
                </a:solidFill>
                <a:latin typeface="Calibri"/>
              </a:rPr>
              <a:t> vacío al cierre de cada fila, toda la sala quedaría impresa en una sola línea corrida.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📘 Conceptos 1–4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212080" cy="5486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54864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4919472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📘 1. Ciclo </a:t>
            </a:r>
            <a:r>
              <a:rPr sz="1800" b="0">
                <a:solidFill>
                  <a:srgbClr val="4ADFCB"/>
                </a:solidFill>
                <a:latin typeface="Consolas"/>
              </a:rPr>
              <a:t>for</a:t>
            </a:r>
            <a:r>
              <a:rPr sz="1800" b="0">
                <a:solidFill>
                  <a:srgbClr val="FFFFFF"/>
                </a:solidFill>
                <a:latin typeface="Calibri"/>
              </a:rPr>
              <a:t> anidado
    Un ciclo </a:t>
            </a:r>
            <a:r>
              <a:rPr sz="1800" b="0">
                <a:solidFill>
                  <a:srgbClr val="4ADFCB"/>
                </a:solidFill>
                <a:latin typeface="Consolas"/>
              </a:rPr>
              <a:t>for</a:t>
            </a:r>
            <a:r>
              <a:rPr sz="1800" b="0">
                <a:solidFill>
                  <a:srgbClr val="FFFFFF"/>
                </a:solidFill>
                <a:latin typeface="Calibri"/>
              </a:rPr>
              <a:t> dentro de otro ciclo </a:t>
            </a:r>
            <a:r>
              <a:rPr sz="1800" b="0">
                <a:solidFill>
                  <a:srgbClr val="4ADFCB"/>
                </a:solidFill>
                <a:latin typeface="Consolas"/>
              </a:rPr>
              <a:t>for</a:t>
            </a:r>
            <a:r>
              <a:rPr sz="1800" b="0">
                <a:solidFill>
                  <a:srgbClr val="FFFFFF"/>
                </a:solidFill>
                <a:latin typeface="Calibri"/>
              </a:rPr>
              <a:t>.
📘 2. Filas y columnas
    en un </a:t>
            </a:r>
            <a:r>
              <a:rPr sz="1800" b="0">
                <a:solidFill>
                  <a:srgbClr val="4ADFCB"/>
                </a:solidFill>
                <a:latin typeface="Consolas"/>
              </a:rPr>
              <a:t>for</a:t>
            </a:r>
            <a:r>
              <a:rPr sz="1800" b="0">
                <a:solidFill>
                  <a:srgbClr val="FFFFFF"/>
                </a:solidFill>
                <a:latin typeface="Calibri"/>
              </a:rPr>
              <a:t> anidado, la variable del ciclo externo suele representar las filas, y la variable del ciclo interno representa las columnas dentro de cada fila.
📘 3. Sangría de dos niveles
    cada nivel de anidamiento exige su propia sangría.
📘 4. Construir la salida por fila
    usar </a:t>
            </a:r>
            <a:r>
              <a:rPr sz="1800" b="0">
                <a:solidFill>
                  <a:srgbClr val="4ADFCB"/>
                </a:solidFill>
                <a:latin typeface="Consolas"/>
              </a:rPr>
              <a:t>print(..., end=...)</a:t>
            </a:r>
            <a:r>
              <a:rPr sz="1800" b="0">
                <a:solidFill>
                  <a:srgbClr val="FFFFFF"/>
                </a:solidFill>
                <a:latin typeface="Calibri"/>
              </a:rPr>
              <a:t> dentro del ciclo interno mantiene los valores en la misma línea; un </a:t>
            </a:r>
            <a:r>
              <a:rPr sz="1800" b="0">
                <a:solidFill>
                  <a:srgbClr val="4ADFCB"/>
                </a:solidFill>
                <a:latin typeface="Consolas"/>
              </a:rPr>
              <a:t>print()</a:t>
            </a:r>
            <a:r>
              <a:rPr sz="1800" b="0">
                <a:solidFill>
                  <a:srgbClr val="FFFFFF"/>
                </a:solidFill>
                <a:latin typeface="Calibri"/>
              </a:rPr>
              <a:t> vacío después del ciclo interno (pero dentro del externo) salta a la siguiente línea al terminar cada fila.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115568"/>
            <a:ext cx="5681167" cy="54864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61888" y="1115568"/>
            <a:ext cx="5681167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298448"/>
            <a:ext cx="542513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for fila in range(1, 3):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    for asiento in range(1, 4):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        print("Fila", fila, "- Asiento", asiento)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779215"/>
              </a:tblGrid>
              <a:tr h="1028700"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El ciclo interno no queda indentado dentro del externo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Ambos ciclos corren "en paralelo", no anidados — el resultado no forma una tabla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Verificar que 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for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interno esté un nivel de sangría más adentro que el externo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Usar el mismo nombre de variable en ambos ciclos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La variable externa se sobrescribe y el conteo de filas se pierde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Usar nombres distintos para el índice de fila y el de columna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Olvidar el salto de línea entre filas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Todos los asientos quedan impresos en una sola línea corrida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Agregar un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print()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vacío al terminar cada vuelta del ciclo externo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4415" cy="14173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39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39"/>
            <a:ext cx="9082735" cy="114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Construir programas con ciclos </a:t>
            </a:r>
            <a:r>
              <a:rPr sz="1700" b="0">
                <a:solidFill>
                  <a:srgbClr val="4ADFCB"/>
                </a:solidFill>
                <a:latin typeface="Consolas"/>
              </a:rPr>
              <a:t>for</a:t>
            </a:r>
            <a:r>
              <a:rPr sz="1700" b="0">
                <a:solidFill>
                  <a:srgbClr val="FFFFFF"/>
                </a:solidFill>
                <a:latin typeface="Calibri"/>
              </a:rPr>
              <a:t> anidados que generen tablas y patrones organizados en filas y columnas, con orden.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5387187" cy="3429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8BDF8"/>
                </a:solidFill>
                <a:latin typeface="Calibri"/>
              </a:rPr>
              <a:t>Comprensión 1 a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59"/>
            <a:ext cx="4747107" cy="2423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¿Qué tan seguro/a te sientes construyendo un </a:t>
            </a:r>
            <a:r>
              <a:rPr sz="1700" b="0">
                <a:solidFill>
                  <a:srgbClr val="4ADFCB"/>
                </a:solidFill>
                <a:latin typeface="Consolas"/>
              </a:rPr>
              <a:t>for</a:t>
            </a:r>
            <a:r>
              <a:rPr sz="1700" b="0">
                <a:solidFill>
                  <a:srgbClr val="FFFFFF"/>
                </a:solidFill>
                <a:latin typeface="Calibri"/>
              </a:rPr>
              <a:t> dentro de otro </a:t>
            </a:r>
            <a:r>
              <a:rPr sz="1700" b="0">
                <a:solidFill>
                  <a:srgbClr val="4ADFCB"/>
                </a:solidFill>
                <a:latin typeface="Consolas"/>
              </a:rPr>
              <a:t>for</a:t>
            </a:r>
            <a:r>
              <a:rPr sz="1700" b="0">
                <a:solidFill>
                  <a:srgbClr val="FFFFFF"/>
                </a:solidFill>
                <a:latin typeface="Calibri"/>
              </a:rPr>
              <a:t>? (1 = no entendí nada, 5 = puedo explicárselo a otro)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3017520"/>
            <a:ext cx="5387187" cy="3429000"/>
          </a:xfrm>
          <a:prstGeom prst="rect">
            <a:avLst/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32461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ADE80"/>
                </a:solidFill>
                <a:latin typeface="Calibri"/>
              </a:rPr>
              <a:t>Propósito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5907" y="3794759"/>
            <a:ext cx="4747107" cy="2423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¿En qué otra situación de tu vida (fuera de la programación) tendrías que organizar algo en filas y columnas, paso a paso y sin mezclar niveles?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