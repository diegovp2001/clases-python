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71" r:id="rId3"/>
    <p:sldId id="272" r:id="rId4"/>
    <p:sldId id="273" r:id="rId5"/>
    <p:sldId id="277" r:id="rId6"/>
    <p:sldId id="274" r:id="rId7"/>
    <p:sldId id="278" r:id="rId8"/>
    <p:sldId id="283" r:id="rId9"/>
    <p:sldId id="280" r:id="rId10"/>
    <p:sldId id="279" r:id="rId11"/>
    <p:sldId id="282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02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0F9B8E"/>
                </a:solidFill>
                <a:latin typeface="Consolas"/>
              </a:rPr>
              <a:t>&gt;&gt;&gt;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Operadores Lógicos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Hoy: Operadores lógicos (</a:t>
            </a:r>
            <a:r>
              <a:rPr sz="2000" b="0">
                <a:solidFill>
                  <a:srgbClr val="4ADFCB"/>
                </a:solidFill>
                <a:latin typeface="Consolas"/>
              </a:rPr>
              <a:t>and</a:t>
            </a:r>
            <a:r>
              <a:rPr sz="2000" b="0">
                <a:solidFill>
                  <a:srgbClr val="94A3B8"/>
                </a:solidFill>
                <a:latin typeface="Calibri"/>
              </a:rPr>
              <a:t>, </a:t>
            </a:r>
            <a:r>
              <a:rPr sz="2000" b="0">
                <a:solidFill>
                  <a:srgbClr val="4ADFCB"/>
                </a:solidFill>
                <a:latin typeface="Consolas"/>
              </a:rPr>
              <a:t>or</a:t>
            </a:r>
            <a:r>
              <a:rPr sz="2000" b="0">
                <a:solidFill>
                  <a:srgbClr val="94A3B8"/>
                </a:solidFill>
                <a:latin typeface="Calibri"/>
              </a:rPr>
              <a:t>, </a:t>
            </a:r>
            <a:r>
              <a:rPr sz="2000" b="0">
                <a:solidFill>
                  <a:srgbClr val="4ADFCB"/>
                </a:solidFill>
                <a:latin typeface="Consolas"/>
              </a:rPr>
              <a:t>not</a:t>
            </a:r>
            <a:r>
              <a:rPr sz="2000" b="0">
                <a:solidFill>
                  <a:srgbClr val="94A3B8"/>
                </a:solidFill>
                <a:latin typeface="Calibr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9B8E"/>
                </a:solidFill>
                <a:latin typeface="Calibri"/>
              </a:rPr>
              <a:t>Clase 8b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Mensaje de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Spotify, Instagram, YouTube y Discord revisan varias condiciones a la vez antes de decidir qué mostrarte. Hoy desbloqueas una herramienta nueva 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9B8E"/>
                </a:solidFill>
                <a:latin typeface="Consolas"/>
              </a:rPr>
              <a:t>&gt;&gt;&gt; Clase 8b - Operadores Lógicos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 dirty="0" err="1">
                <a:solidFill>
                  <a:srgbClr val="FFFFFF"/>
                </a:solidFill>
                <a:latin typeface="Calibri"/>
              </a:rPr>
              <a:t>Combinar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operadores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lógicos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(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and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or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not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) con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comparaciones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para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evaluar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múltiples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con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precisión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Spotify, Instagram, YouTube y Discord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revisan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varias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 la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vez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antes de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decidir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qué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mostrarte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Hoy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aprenderás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escribir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esas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decisiones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Python. Lo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entrenas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la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precisión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: no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saltarse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ningún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factor antes de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actuar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☝ Reglas de ahora en adelante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📓 Todo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comando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nuevo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al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cuaderno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🚫 NO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hagan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copiar-pegar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los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comandos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✨ En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toda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evaluación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podrán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usar sus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apuntes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  <a:endParaRPr lang="es-CL" sz="2200" b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lang="es-CL" sz="2200" dirty="0">
                <a:solidFill>
                  <a:srgbClr val="FFFFFF"/>
                </a:solidFill>
                <a:latin typeface="Calibri"/>
              </a:rPr>
              <a:t>🦻 No ocupen </a:t>
            </a:r>
            <a:r>
              <a:rPr lang="es-CL" sz="2200" dirty="0" err="1">
                <a:solidFill>
                  <a:srgbClr val="FFFFFF"/>
                </a:solidFill>
                <a:latin typeface="Calibri"/>
              </a:rPr>
              <a:t>audíofonos</a:t>
            </a:r>
            <a:r>
              <a:rPr lang="es-CL" sz="2200" dirty="0">
                <a:solidFill>
                  <a:srgbClr val="FFFFFF"/>
                </a:solidFill>
                <a:latin typeface="Calibri"/>
              </a:rPr>
              <a:t>.</a:t>
            </a:r>
            <a:endParaRPr sz="2200" b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Haz 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⚡ Haz Ahora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11094415" cy="8412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152" cy="8412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197864"/>
            <a:ext cx="1082009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(7 min) Actividad desconectada: lee cada situación y decide si el usuario puede o no puede hacer lo que quiere. Escribe V (puede) o F (no puede) sin abrir el computador.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66543"/>
            <a:ext cx="11094415" cy="398678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066543"/>
            <a:ext cx="73152" cy="3986784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03703"/>
            <a:ext cx="10820095" cy="3785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1. Para ver un video en YouTube necesitas tener internet Y que el video no sea privado. Tienes internet, pero el video es privado. ¿Puedes verlo?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2. Recibes una notificación en Discord si estás en el servidor O si te mencionaron directamente. No estás en el servidor, pero te mencionaron. ¿Recibes la notificación?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3. En Spotify una canción aparece en "Descubierto esta semana" si es nueva O si nunca la escuchaste. La canción es nueva pero ya la escuchaste. ¿Aparece?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4. Puedes publicar en Instagram si tu cuenta existe Y no está suspendida. Tu cuenta existe, pero está suspendida. ¿Puedes publicar?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5. Un video no se recomienda si tiene contenido sensible Y no activaste "modo sin restricciones". El video tiene contenido sensible, pero sí activaste el modo. ¿Se recomienda?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63056"/>
            <a:ext cx="11094415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94A3B8"/>
                </a:solidFill>
                <a:latin typeface="Calibri"/>
              </a:rPr>
              <a:t>→ En </a:t>
            </a:r>
            <a:r>
              <a:rPr sz="1500" b="0" dirty="0" err="1">
                <a:solidFill>
                  <a:srgbClr val="94A3B8"/>
                </a:solidFill>
                <a:latin typeface="Calibri"/>
              </a:rPr>
              <a:t>unos</a:t>
            </a:r>
            <a:r>
              <a:rPr sz="1500" b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Calibri"/>
              </a:rPr>
              <a:t>minutos</a:t>
            </a:r>
            <a:r>
              <a:rPr sz="1500" b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Calibri"/>
              </a:rPr>
              <a:t>revisaremos</a:t>
            </a:r>
            <a:r>
              <a:rPr sz="1500" b="0" dirty="0">
                <a:solidFill>
                  <a:srgbClr val="94A3B8"/>
                </a:solidFill>
                <a:latin typeface="Calibri"/>
              </a:rPr>
              <a:t> las </a:t>
            </a:r>
            <a:r>
              <a:rPr sz="1500" b="0" dirty="0" err="1">
                <a:solidFill>
                  <a:srgbClr val="94A3B8"/>
                </a:solidFill>
                <a:latin typeface="Calibri"/>
              </a:rPr>
              <a:t>respuestas</a:t>
            </a:r>
            <a:r>
              <a:rPr sz="1500" b="0" dirty="0">
                <a:solidFill>
                  <a:srgbClr val="94A3B8"/>
                </a:solidFill>
                <a:latin typeface="Calibri"/>
              </a:rPr>
              <a:t> y </a:t>
            </a:r>
            <a:r>
              <a:rPr sz="1500" b="0" dirty="0" err="1">
                <a:solidFill>
                  <a:srgbClr val="94A3B8"/>
                </a:solidFill>
                <a:latin typeface="Calibri"/>
              </a:rPr>
              <a:t>veremos</a:t>
            </a:r>
            <a:r>
              <a:rPr sz="1500" b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Calibri"/>
              </a:rPr>
              <a:t>cómo</a:t>
            </a:r>
            <a:r>
              <a:rPr sz="1500" b="0" dirty="0">
                <a:solidFill>
                  <a:srgbClr val="94A3B8"/>
                </a:solidFill>
                <a:latin typeface="Calibri"/>
              </a:rPr>
              <a:t> Python </a:t>
            </a:r>
            <a:r>
              <a:rPr sz="1500" b="0" dirty="0" err="1">
                <a:solidFill>
                  <a:srgbClr val="94A3B8"/>
                </a:solidFill>
                <a:latin typeface="Calibri"/>
              </a:rPr>
              <a:t>evalúa</a:t>
            </a:r>
            <a:r>
              <a:rPr sz="1500" b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Calibri"/>
              </a:rPr>
              <a:t>exactamente</a:t>
            </a:r>
            <a:r>
              <a:rPr sz="1500" b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Calibri"/>
              </a:rPr>
              <a:t>estas</a:t>
            </a:r>
            <a:r>
              <a:rPr sz="1500" b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Calibri"/>
              </a:rPr>
              <a:t>situaciones</a:t>
            </a:r>
            <a:r>
              <a:rPr sz="1500" b="0" dirty="0">
                <a:solidFill>
                  <a:srgbClr val="94A3B8"/>
                </a:solidFill>
                <a:latin typeface="Calibri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Operador `and`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16263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034451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4ADFCB"/>
                </a:solidFill>
                <a:latin typeface="Consolas"/>
              </a:rPr>
              <a:t>and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combina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dos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devuelve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solo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ambas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son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verdaderas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</a:t>
            </a:r>
            <a:endParaRPr lang="es-CL" sz="2200" b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Si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cualquiera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resultado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653650"/>
              </p:ext>
            </p:extLst>
          </p:nvPr>
        </p:nvGraphicFramePr>
        <p:xfrm>
          <a:off x="1774480" y="2707803"/>
          <a:ext cx="8642737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ADFCB"/>
                          </a:solidFill>
                          <a:latin typeface="Consolas"/>
                        </a:rPr>
                        <a:t>A and 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7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842809-05E4-9087-D5E0-3C10DE4F8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4EFBF9-00D3-87D6-FCB7-E857E7BEFB2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4FFD00-431B-8B73-8CC4-D80CC3F924B5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704A1-FA0B-5826-83AB-415B139E12FA}"/>
              </a:ext>
            </a:extLst>
          </p:cNvPr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F7E56F-EE44-7EDD-C00A-0E50C9E05A84}"/>
              </a:ext>
            </a:extLst>
          </p:cNvPr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93C12-3F28-D200-2DA3-3B6C6F17A60B}"/>
              </a:ext>
            </a:extLst>
          </p:cNvPr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Operador `and`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B5F66E-3246-E710-09FD-BCD7AB52F3F0}"/>
              </a:ext>
            </a:extLst>
          </p:cNvPr>
          <p:cNvSpPr/>
          <p:nvPr/>
        </p:nvSpPr>
        <p:spPr>
          <a:xfrm>
            <a:off x="548640" y="1508760"/>
            <a:ext cx="11094415" cy="110760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3FFFF2-5E0D-2D1A-6BD5-48CD742635C0}"/>
              </a:ext>
            </a:extLst>
          </p:cNvPr>
          <p:cNvSpPr/>
          <p:nvPr/>
        </p:nvSpPr>
        <p:spPr>
          <a:xfrm>
            <a:off x="548640" y="1508760"/>
            <a:ext cx="73152" cy="1034451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CB0A1-CFF7-F2F6-AD87-EE6B2A37BC96}"/>
              </a:ext>
            </a:extLst>
          </p:cNvPr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54EDC-8C4B-92F1-B4DD-3C7D07B7B0E5}"/>
              </a:ext>
            </a:extLst>
          </p:cNvPr>
          <p:cNvSpPr txBox="1"/>
          <p:nvPr/>
        </p:nvSpPr>
        <p:spPr>
          <a:xfrm>
            <a:off x="777240" y="1901951"/>
            <a:ext cx="1072865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4ADFCB"/>
                </a:solidFill>
                <a:latin typeface="Consolas"/>
              </a:rPr>
              <a:t>and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combina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dos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devuelve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solo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ambas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son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verdaderas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</a:t>
            </a:r>
            <a:endParaRPr lang="es-CL" sz="2200" b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Si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cualquiera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resultado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9AB6949-EC54-75C4-BB7C-AEF1EC571D80}"/>
              </a:ext>
            </a:extLst>
          </p:cNvPr>
          <p:cNvGraphicFramePr>
            <a:graphicFrameLocks noGrp="1"/>
          </p:cNvGraphicFramePr>
          <p:nvPr/>
        </p:nvGraphicFramePr>
        <p:xfrm>
          <a:off x="1774480" y="2707803"/>
          <a:ext cx="8642737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ADFCB"/>
                          </a:solidFill>
                          <a:latin typeface="Consolas"/>
                        </a:rPr>
                        <a:t>A and 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7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595AC4E-31FA-AB70-4AA5-B6313C015094}"/>
              </a:ext>
            </a:extLst>
          </p:cNvPr>
          <p:cNvSpPr txBox="1"/>
          <p:nvPr/>
        </p:nvSpPr>
        <p:spPr>
          <a:xfrm>
            <a:off x="548640" y="4929497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A3AA05-8043-A4A4-7DD7-72590FDEFE1B}"/>
              </a:ext>
            </a:extLst>
          </p:cNvPr>
          <p:cNvSpPr/>
          <p:nvPr/>
        </p:nvSpPr>
        <p:spPr>
          <a:xfrm>
            <a:off x="548640" y="5276968"/>
            <a:ext cx="11094415" cy="1176093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B3877D-AB5C-32E5-9568-9832D37C0CA1}"/>
              </a:ext>
            </a:extLst>
          </p:cNvPr>
          <p:cNvSpPr/>
          <p:nvPr/>
        </p:nvSpPr>
        <p:spPr>
          <a:xfrm>
            <a:off x="548640" y="5276969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181025-1E51-1BC3-7EBF-88755A90BF09}"/>
              </a:ext>
            </a:extLst>
          </p:cNvPr>
          <p:cNvSpPr txBox="1"/>
          <p:nvPr/>
        </p:nvSpPr>
        <p:spPr>
          <a:xfrm>
            <a:off x="731520" y="5414129"/>
            <a:ext cx="10820095" cy="6061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DFCB"/>
                </a:solidFill>
                <a:latin typeface="Consolas"/>
              </a:rPr>
              <a:t>tiene_suscripcion = True</a:t>
            </a:r>
          </a:p>
          <a:p>
            <a:pPr algn="l"/>
            <a:r>
              <a:rPr sz="1800" b="0">
                <a:solidFill>
                  <a:srgbClr val="4ADFCB"/>
                </a:solidFill>
                <a:latin typeface="Consolas"/>
              </a:rPr>
              <a:t>contenido_disponible = True</a:t>
            </a:r>
          </a:p>
          <a:p>
            <a:pPr algn="l"/>
            <a:r>
              <a:rPr sz="1800" b="0">
                <a:solidFill>
                  <a:srgbClr val="4ADFCB"/>
                </a:solidFill>
                <a:latin typeface="Consolas"/>
              </a:rPr>
              <a:t>print("¿Puede ver el video?", tiene_suscripcion and contenido_disponible)</a:t>
            </a:r>
          </a:p>
        </p:txBody>
      </p:sp>
    </p:spTree>
    <p:extLst>
      <p:ext uri="{BB962C8B-B14F-4D97-AF65-F5344CB8AC3E}">
        <p14:creationId xmlns:p14="http://schemas.microsoft.com/office/powerpoint/2010/main" val="419166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Operador `or`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162631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034451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4ADFCB"/>
                </a:solidFill>
                <a:latin typeface="Consolas"/>
              </a:rPr>
              <a:t>or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combina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dos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devuelve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al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menos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verdadera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</a:t>
            </a:r>
            <a:endParaRPr lang="es-CL" sz="2200" b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Solo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devuelve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ambas son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555243"/>
              </p:ext>
            </p:extLst>
          </p:nvPr>
        </p:nvGraphicFramePr>
        <p:xfrm>
          <a:off x="1705032" y="2707803"/>
          <a:ext cx="8781631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7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ADFCB"/>
                          </a:solidFill>
                          <a:latin typeface="Consolas"/>
                        </a:rPr>
                        <a:t>A or 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7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E75369-D26C-B66A-8229-0B94FC9AD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ED1156-BE8E-2080-E067-D88F82C31F5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49DB89-946D-0C8E-6DA1-6A0AEAECFF6A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A75DF3-3357-5642-74D7-75F57BA81CE0}"/>
              </a:ext>
            </a:extLst>
          </p:cNvPr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47B20B-C703-A875-6DC4-5409E8972628}"/>
              </a:ext>
            </a:extLst>
          </p:cNvPr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471264-B9F3-AFAA-A071-BC1DAFE4EBF1}"/>
              </a:ext>
            </a:extLst>
          </p:cNvPr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Operador `or`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D0F59-122D-9A0E-F63A-7634DB5FFF2C}"/>
              </a:ext>
            </a:extLst>
          </p:cNvPr>
          <p:cNvSpPr/>
          <p:nvPr/>
        </p:nvSpPr>
        <p:spPr>
          <a:xfrm>
            <a:off x="548640" y="1508760"/>
            <a:ext cx="11094415" cy="1034451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EB743E-7928-CA22-E6B0-897726E22897}"/>
              </a:ext>
            </a:extLst>
          </p:cNvPr>
          <p:cNvSpPr/>
          <p:nvPr/>
        </p:nvSpPr>
        <p:spPr>
          <a:xfrm>
            <a:off x="548640" y="1508760"/>
            <a:ext cx="73152" cy="1034451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B4DA0-9062-74FF-B580-476EBE881569}"/>
              </a:ext>
            </a:extLst>
          </p:cNvPr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7E44EB-7400-0C51-93AA-C7FC18B36179}"/>
              </a:ext>
            </a:extLst>
          </p:cNvPr>
          <p:cNvSpPr txBox="1"/>
          <p:nvPr/>
        </p:nvSpPr>
        <p:spPr>
          <a:xfrm>
            <a:off x="777240" y="1901951"/>
            <a:ext cx="10728655" cy="5498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ADFCB"/>
                </a:solidFill>
                <a:latin typeface="Consolas"/>
              </a:rPr>
              <a:t>or</a:t>
            </a:r>
            <a:r>
              <a:rPr sz="2200" b="0">
                <a:solidFill>
                  <a:srgbClr val="FFFFFF"/>
                </a:solidFill>
                <a:latin typeface="Calibri"/>
              </a:rPr>
              <a:t> combina dos condiciones y devuelve </a:t>
            </a:r>
            <a:r>
              <a:rPr sz="2200" b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>
                <a:solidFill>
                  <a:srgbClr val="FFFFFF"/>
                </a:solidFill>
                <a:latin typeface="Calibri"/>
              </a:rPr>
              <a:t> si al menos una es verdadera. Solo devuelve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 si ambas son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D4CA6E6-0F9A-1B65-0AD0-3679CC752DCF}"/>
              </a:ext>
            </a:extLst>
          </p:cNvPr>
          <p:cNvGraphicFramePr>
            <a:graphicFrameLocks noGrp="1"/>
          </p:cNvGraphicFramePr>
          <p:nvPr/>
        </p:nvGraphicFramePr>
        <p:xfrm>
          <a:off x="1705032" y="2707803"/>
          <a:ext cx="8781631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7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ADFCB"/>
                          </a:solidFill>
                          <a:latin typeface="Consolas"/>
                        </a:rPr>
                        <a:t>A or 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7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7F4EBA5-6CB1-97B0-4986-08D005460737}"/>
              </a:ext>
            </a:extLst>
          </p:cNvPr>
          <p:cNvSpPr txBox="1"/>
          <p:nvPr/>
        </p:nvSpPr>
        <p:spPr>
          <a:xfrm>
            <a:off x="548640" y="4914555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2515ED-CEA5-C4A7-1AEE-B5B34C4A271E}"/>
              </a:ext>
            </a:extLst>
          </p:cNvPr>
          <p:cNvSpPr/>
          <p:nvPr/>
        </p:nvSpPr>
        <p:spPr>
          <a:xfrm>
            <a:off x="548640" y="5262027"/>
            <a:ext cx="11094415" cy="118766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BDE200-DD99-B15F-01DC-9002906CFD05}"/>
              </a:ext>
            </a:extLst>
          </p:cNvPr>
          <p:cNvSpPr/>
          <p:nvPr/>
        </p:nvSpPr>
        <p:spPr>
          <a:xfrm>
            <a:off x="548640" y="5262027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20FF8C-D7B2-A10C-6CBA-FA9CE7309EE5}"/>
              </a:ext>
            </a:extLst>
          </p:cNvPr>
          <p:cNvSpPr txBox="1"/>
          <p:nvPr/>
        </p:nvSpPr>
        <p:spPr>
          <a:xfrm>
            <a:off x="731520" y="5399187"/>
            <a:ext cx="10820095" cy="6061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DFCB"/>
                </a:solidFill>
                <a:latin typeface="Consolas"/>
              </a:rPr>
              <a:t>es_suscriptor = False</a:t>
            </a:r>
          </a:p>
          <a:p>
            <a:pPr algn="l"/>
            <a:r>
              <a:rPr sz="1800" b="0">
                <a:solidFill>
                  <a:srgbClr val="4ADFCB"/>
                </a:solidFill>
                <a:latin typeface="Consolas"/>
              </a:rPr>
              <a:t>tiene_prueba_gratis = True</a:t>
            </a:r>
          </a:p>
          <a:p>
            <a:pPr algn="l"/>
            <a:r>
              <a:rPr sz="1800" b="0">
                <a:solidFill>
                  <a:srgbClr val="4ADFCB"/>
                </a:solidFill>
                <a:latin typeface="Consolas"/>
              </a:rPr>
              <a:t>print("¿Puede acceder al contenido?", es_suscriptor or tiene_prueba_gratis)</a:t>
            </a:r>
          </a:p>
        </p:txBody>
      </p:sp>
    </p:spTree>
    <p:extLst>
      <p:ext uri="{BB962C8B-B14F-4D97-AF65-F5344CB8AC3E}">
        <p14:creationId xmlns:p14="http://schemas.microsoft.com/office/powerpoint/2010/main" val="2604944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60376-C3F1-AF17-1013-11661734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B6FB9B-8BFD-DEC7-BF39-02A3ED62385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4D7AC3-0A3B-331B-F235-867B3593EB23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51A6F-46B3-0275-8C98-60350C6ACA06}"/>
              </a:ext>
            </a:extLst>
          </p:cNvPr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12D1B-3532-F03A-90DB-DE10A97371FF}"/>
              </a:ext>
            </a:extLst>
          </p:cNvPr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C1FE4F-A238-B677-D5A4-10DECB2004DF}"/>
              </a:ext>
            </a:extLst>
          </p:cNvPr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Operador `and`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FE2D65-C4AE-7D78-9324-6ED391489005}"/>
              </a:ext>
            </a:extLst>
          </p:cNvPr>
          <p:cNvSpPr/>
          <p:nvPr/>
        </p:nvSpPr>
        <p:spPr>
          <a:xfrm>
            <a:off x="548640" y="1508760"/>
            <a:ext cx="5693665" cy="1455467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4617DD-3522-17DE-9617-5948E0EEDA98}"/>
              </a:ext>
            </a:extLst>
          </p:cNvPr>
          <p:cNvSpPr/>
          <p:nvPr/>
        </p:nvSpPr>
        <p:spPr>
          <a:xfrm>
            <a:off x="548640" y="1508760"/>
            <a:ext cx="73152" cy="1455466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9C2791-47C1-EF6A-A787-C7A21F81B373}"/>
              </a:ext>
            </a:extLst>
          </p:cNvPr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714A98-475B-9356-E2B3-B8B1429EA6CA}"/>
              </a:ext>
            </a:extLst>
          </p:cNvPr>
          <p:cNvSpPr txBox="1"/>
          <p:nvPr/>
        </p:nvSpPr>
        <p:spPr>
          <a:xfrm>
            <a:off x="777240" y="1901951"/>
            <a:ext cx="546506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4ADFCB"/>
                </a:solidFill>
                <a:latin typeface="Consolas"/>
              </a:rPr>
              <a:t>and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combina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dos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devuelve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solo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ambas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son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verdaderas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</a:t>
            </a:r>
            <a:endParaRPr lang="es-CL" sz="2200" b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Si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cualquiera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resultado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5FFDA51-A8BA-1C89-FE30-925E15DC4DAC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3009947"/>
          <a:ext cx="4455631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ADFCB"/>
                          </a:solidFill>
                          <a:latin typeface="Consolas"/>
                        </a:rPr>
                        <a:t>A and 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7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5">
            <a:extLst>
              <a:ext uri="{FF2B5EF4-FFF2-40B4-BE49-F238E27FC236}">
                <a16:creationId xmlns:a16="http://schemas.microsoft.com/office/drawing/2014/main" id="{38D9C0EE-E703-9936-853B-061A3C31E084}"/>
              </a:ext>
            </a:extLst>
          </p:cNvPr>
          <p:cNvSpPr txBox="1"/>
          <p:nvPr/>
        </p:nvSpPr>
        <p:spPr>
          <a:xfrm>
            <a:off x="6463405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Operador `or`</a:t>
            </a:r>
          </a:p>
        </p:txBody>
      </p:sp>
    </p:spTree>
    <p:extLst>
      <p:ext uri="{BB962C8B-B14F-4D97-AF65-F5344CB8AC3E}">
        <p14:creationId xmlns:p14="http://schemas.microsoft.com/office/powerpoint/2010/main" val="4091565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3BE5-6287-E92E-FB51-12EC97757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AA03AC-3553-D0B0-D3BA-E466A5D957D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ECE0FB-987F-363D-0A49-45C25631422F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95C4F-8FA2-3102-2381-5E6382BB0541}"/>
              </a:ext>
            </a:extLst>
          </p:cNvPr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52996-7F89-2F3D-8BB0-3A8C16AE6364}"/>
              </a:ext>
            </a:extLst>
          </p:cNvPr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2825D-FD72-37B0-3708-472890D02326}"/>
              </a:ext>
            </a:extLst>
          </p:cNvPr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Operador `and`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EEFC0F-AA5F-672A-24A2-01DE2DCCDD5A}"/>
              </a:ext>
            </a:extLst>
          </p:cNvPr>
          <p:cNvSpPr/>
          <p:nvPr/>
        </p:nvSpPr>
        <p:spPr>
          <a:xfrm>
            <a:off x="548640" y="1508760"/>
            <a:ext cx="5693665" cy="1455467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C125C9-B8CC-1146-ADC3-677ACEF2356E}"/>
              </a:ext>
            </a:extLst>
          </p:cNvPr>
          <p:cNvSpPr/>
          <p:nvPr/>
        </p:nvSpPr>
        <p:spPr>
          <a:xfrm>
            <a:off x="548640" y="1508760"/>
            <a:ext cx="73152" cy="1455466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4C9A62-721A-F43A-A538-5E15FB5017CB}"/>
              </a:ext>
            </a:extLst>
          </p:cNvPr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A6F37C-FBF6-1F44-BE7C-AF928CC4ED64}"/>
              </a:ext>
            </a:extLst>
          </p:cNvPr>
          <p:cNvSpPr txBox="1"/>
          <p:nvPr/>
        </p:nvSpPr>
        <p:spPr>
          <a:xfrm>
            <a:off x="777240" y="1901951"/>
            <a:ext cx="546506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4ADFCB"/>
                </a:solidFill>
                <a:latin typeface="Consolas"/>
              </a:rPr>
              <a:t>and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combina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dos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devuelve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solo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ambas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son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verdaderas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</a:t>
            </a:r>
            <a:endParaRPr lang="es-CL" sz="2200" b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Si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cualquiera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resultado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B679640-0A3E-3912-8BB0-873DDBB5968E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3009947"/>
          <a:ext cx="4455631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ADFCB"/>
                          </a:solidFill>
                          <a:latin typeface="Consolas"/>
                        </a:rPr>
                        <a:t>A and 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7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5">
            <a:extLst>
              <a:ext uri="{FF2B5EF4-FFF2-40B4-BE49-F238E27FC236}">
                <a16:creationId xmlns:a16="http://schemas.microsoft.com/office/drawing/2014/main" id="{F5A7D18F-BDB8-B015-840A-C16F21BD19A2}"/>
              </a:ext>
            </a:extLst>
          </p:cNvPr>
          <p:cNvSpPr txBox="1"/>
          <p:nvPr/>
        </p:nvSpPr>
        <p:spPr>
          <a:xfrm>
            <a:off x="6463405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Operador `or`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55D174EF-097E-58A2-CF38-A427E04F9D71}"/>
              </a:ext>
            </a:extLst>
          </p:cNvPr>
          <p:cNvSpPr txBox="1"/>
          <p:nvPr/>
        </p:nvSpPr>
        <p:spPr>
          <a:xfrm>
            <a:off x="548640" y="5286113"/>
            <a:ext cx="4572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5A623"/>
                </a:solidFill>
                <a:latin typeface="Calibri"/>
              </a:rPr>
              <a:t>💻  </a:t>
            </a:r>
            <a:r>
              <a:rPr sz="1800" b="1" dirty="0" err="1">
                <a:solidFill>
                  <a:srgbClr val="F5A623"/>
                </a:solidFill>
                <a:latin typeface="Calibri"/>
              </a:rPr>
              <a:t>Ejemplo</a:t>
            </a:r>
            <a:r>
              <a:rPr lang="es-CL" sz="1800" b="1" dirty="0">
                <a:solidFill>
                  <a:srgbClr val="F5A623"/>
                </a:solidFill>
                <a:latin typeface="Calibri"/>
              </a:rPr>
              <a:t> AND</a:t>
            </a:r>
            <a:endParaRPr sz="1800" b="1" dirty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CE0D50F1-8BE5-E537-0239-EDD0DAC8E4C9}"/>
              </a:ext>
            </a:extLst>
          </p:cNvPr>
          <p:cNvSpPr/>
          <p:nvPr/>
        </p:nvSpPr>
        <p:spPr>
          <a:xfrm>
            <a:off x="548640" y="5633584"/>
            <a:ext cx="11094415" cy="1176093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57DA529B-E718-32A2-11A4-9FB43B84391A}"/>
              </a:ext>
            </a:extLst>
          </p:cNvPr>
          <p:cNvSpPr/>
          <p:nvPr/>
        </p:nvSpPr>
        <p:spPr>
          <a:xfrm>
            <a:off x="548640" y="5633585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A61FD216-E10E-E482-5C42-C67A369B4EB1}"/>
              </a:ext>
            </a:extLst>
          </p:cNvPr>
          <p:cNvSpPr txBox="1"/>
          <p:nvPr/>
        </p:nvSpPr>
        <p:spPr>
          <a:xfrm>
            <a:off x="731520" y="5770745"/>
            <a:ext cx="10820095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 err="1">
                <a:solidFill>
                  <a:srgbClr val="4ADFCB"/>
                </a:solidFill>
                <a:latin typeface="Consolas"/>
              </a:rPr>
              <a:t>tiene_suscripcion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 = True</a:t>
            </a:r>
          </a:p>
          <a:p>
            <a:pPr algn="l"/>
            <a:r>
              <a:rPr sz="1800" b="0" dirty="0" err="1">
                <a:solidFill>
                  <a:srgbClr val="4ADFCB"/>
                </a:solidFill>
                <a:latin typeface="Consolas"/>
              </a:rPr>
              <a:t>contenido_disponible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 = True</a:t>
            </a:r>
          </a:p>
          <a:p>
            <a:pPr algn="l"/>
            <a:r>
              <a:rPr sz="1800" b="0" dirty="0">
                <a:solidFill>
                  <a:srgbClr val="4ADFCB"/>
                </a:solidFill>
                <a:latin typeface="Consolas"/>
              </a:rPr>
              <a:t>print("¿</a:t>
            </a:r>
            <a:r>
              <a:rPr sz="1800" b="0" dirty="0" err="1">
                <a:solidFill>
                  <a:srgbClr val="4ADFCB"/>
                </a:solidFill>
                <a:latin typeface="Consolas"/>
              </a:rPr>
              <a:t>Puede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1800" b="0" dirty="0" err="1">
                <a:solidFill>
                  <a:srgbClr val="4ADFCB"/>
                </a:solidFill>
                <a:latin typeface="Consolas"/>
              </a:rPr>
              <a:t>ver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1800" b="0" dirty="0" err="1">
                <a:solidFill>
                  <a:srgbClr val="4ADFCB"/>
                </a:solidFill>
                <a:latin typeface="Consolas"/>
              </a:rPr>
              <a:t>el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 video?", </a:t>
            </a:r>
            <a:r>
              <a:rPr sz="1800" b="0" dirty="0" err="1">
                <a:solidFill>
                  <a:srgbClr val="4ADFCB"/>
                </a:solidFill>
                <a:latin typeface="Consolas"/>
              </a:rPr>
              <a:t>tiene_suscripcion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2800" b="1" dirty="0">
                <a:solidFill>
                  <a:srgbClr val="4ADFCB"/>
                </a:solidFill>
                <a:latin typeface="Consolas"/>
              </a:rPr>
              <a:t>and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1800" b="0" dirty="0" err="1">
                <a:solidFill>
                  <a:srgbClr val="4ADFCB"/>
                </a:solidFill>
                <a:latin typeface="Consolas"/>
              </a:rPr>
              <a:t>contenido_disponible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502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DA727-2036-5E34-5754-A8CCEA94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2FAD62-2BBF-9CB6-1AE3-5F4CBB68DE5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457282-783F-BAFB-A568-7D4F0BB6B057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9D9097-E615-67DC-DADE-4A8D3C6DBD0E}"/>
              </a:ext>
            </a:extLst>
          </p:cNvPr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E6778-5C66-635C-0FD5-532E410ADC24}"/>
              </a:ext>
            </a:extLst>
          </p:cNvPr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12C055-D5F2-E7E1-947F-28F3E3444A0C}"/>
              </a:ext>
            </a:extLst>
          </p:cNvPr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Operador `and`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0638A-C393-861B-2C14-F1DD167A13E3}"/>
              </a:ext>
            </a:extLst>
          </p:cNvPr>
          <p:cNvSpPr/>
          <p:nvPr/>
        </p:nvSpPr>
        <p:spPr>
          <a:xfrm>
            <a:off x="548640" y="1508760"/>
            <a:ext cx="5693665" cy="1455467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612639-EA68-6F7A-D030-73C2F6D484AF}"/>
              </a:ext>
            </a:extLst>
          </p:cNvPr>
          <p:cNvSpPr/>
          <p:nvPr/>
        </p:nvSpPr>
        <p:spPr>
          <a:xfrm>
            <a:off x="548640" y="1508760"/>
            <a:ext cx="73152" cy="1455466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573FDD-46C6-6745-2270-631A5216CEC4}"/>
              </a:ext>
            </a:extLst>
          </p:cNvPr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34A80-8BFB-8477-77B8-5AA9ACB40681}"/>
              </a:ext>
            </a:extLst>
          </p:cNvPr>
          <p:cNvSpPr txBox="1"/>
          <p:nvPr/>
        </p:nvSpPr>
        <p:spPr>
          <a:xfrm>
            <a:off x="777240" y="1901951"/>
            <a:ext cx="546506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4ADFCB"/>
                </a:solidFill>
                <a:latin typeface="Consolas"/>
              </a:rPr>
              <a:t>and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combina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dos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devuelve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solo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ambas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son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verdaderas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</a:t>
            </a:r>
            <a:endParaRPr lang="es-CL" sz="2200" b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Si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cualquiera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resultado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0F3FA7E-56B6-7FE5-D742-266A3DBA3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883324"/>
              </p:ext>
            </p:extLst>
          </p:nvPr>
        </p:nvGraphicFramePr>
        <p:xfrm>
          <a:off x="777240" y="3009947"/>
          <a:ext cx="4455631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ADFCB"/>
                          </a:solidFill>
                          <a:latin typeface="Consolas"/>
                        </a:rPr>
                        <a:t>A and 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7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5">
            <a:extLst>
              <a:ext uri="{FF2B5EF4-FFF2-40B4-BE49-F238E27FC236}">
                <a16:creationId xmlns:a16="http://schemas.microsoft.com/office/drawing/2014/main" id="{49D6777E-D1AC-C7AB-4D24-C8F6722DB12F}"/>
              </a:ext>
            </a:extLst>
          </p:cNvPr>
          <p:cNvSpPr txBox="1"/>
          <p:nvPr/>
        </p:nvSpPr>
        <p:spPr>
          <a:xfrm>
            <a:off x="6463405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Operador `or`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9DB338F1-2760-1665-6B1D-CF90DE8A7F7F}"/>
              </a:ext>
            </a:extLst>
          </p:cNvPr>
          <p:cNvSpPr/>
          <p:nvPr/>
        </p:nvSpPr>
        <p:spPr>
          <a:xfrm>
            <a:off x="6463406" y="1508760"/>
            <a:ext cx="5400750" cy="1455466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19546C81-A28B-E457-49A1-8BFF24370B15}"/>
              </a:ext>
            </a:extLst>
          </p:cNvPr>
          <p:cNvSpPr/>
          <p:nvPr/>
        </p:nvSpPr>
        <p:spPr>
          <a:xfrm>
            <a:off x="6463405" y="1508760"/>
            <a:ext cx="73152" cy="1455466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33F82545-0087-F184-D820-61B3446BCF60}"/>
              </a:ext>
            </a:extLst>
          </p:cNvPr>
          <p:cNvSpPr txBox="1"/>
          <p:nvPr/>
        </p:nvSpPr>
        <p:spPr>
          <a:xfrm>
            <a:off x="6692005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589DB6FF-C3D8-DA0D-9F09-04AA7AD41186}"/>
              </a:ext>
            </a:extLst>
          </p:cNvPr>
          <p:cNvSpPr txBox="1"/>
          <p:nvPr/>
        </p:nvSpPr>
        <p:spPr>
          <a:xfrm>
            <a:off x="6692006" y="1901951"/>
            <a:ext cx="4813890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4ADFCB"/>
                </a:solidFill>
                <a:latin typeface="Consolas"/>
              </a:rPr>
              <a:t>or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combina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dos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devuelve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al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menos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verdadera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Solo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devuelve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ambas son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graphicFrame>
        <p:nvGraphicFramePr>
          <p:cNvPr id="21" name="Table 10">
            <a:extLst>
              <a:ext uri="{FF2B5EF4-FFF2-40B4-BE49-F238E27FC236}">
                <a16:creationId xmlns:a16="http://schemas.microsoft.com/office/drawing/2014/main" id="{6795C560-9D23-A6DA-CE0B-D3C0ED86B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410027"/>
              </p:ext>
            </p:extLst>
          </p:nvPr>
        </p:nvGraphicFramePr>
        <p:xfrm>
          <a:off x="6959132" y="3055667"/>
          <a:ext cx="428943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ADFCB"/>
                          </a:solidFill>
                          <a:latin typeface="Consolas"/>
                        </a:rPr>
                        <a:t>A or 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7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6327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3161B-7ADA-3E48-8C1B-E015508F1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86284E-A317-5E3D-84C9-4C99D06ACE1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C2C47-5491-F069-75FF-FEECBFC1F5A9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A6A47-A90A-14C2-6713-AE906FD07C78}"/>
              </a:ext>
            </a:extLst>
          </p:cNvPr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9515B-5F69-A3B5-F572-8947EFBE7C56}"/>
              </a:ext>
            </a:extLst>
          </p:cNvPr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1011C-95D8-95C2-22D0-07CE94D1EFFD}"/>
              </a:ext>
            </a:extLst>
          </p:cNvPr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Operador `and`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F82DC2-9A67-3FDF-1C90-AAFCFF6036D6}"/>
              </a:ext>
            </a:extLst>
          </p:cNvPr>
          <p:cNvSpPr/>
          <p:nvPr/>
        </p:nvSpPr>
        <p:spPr>
          <a:xfrm>
            <a:off x="548640" y="1508760"/>
            <a:ext cx="5693665" cy="1455467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C1387-9D7F-1522-AC1A-11C59B3376B2}"/>
              </a:ext>
            </a:extLst>
          </p:cNvPr>
          <p:cNvSpPr/>
          <p:nvPr/>
        </p:nvSpPr>
        <p:spPr>
          <a:xfrm>
            <a:off x="548640" y="1508760"/>
            <a:ext cx="73152" cy="1455466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B6203-8FD7-7BAA-FBC1-1C14D478AA4C}"/>
              </a:ext>
            </a:extLst>
          </p:cNvPr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8528C6-03AD-41EC-CEDB-57CCAF51C101}"/>
              </a:ext>
            </a:extLst>
          </p:cNvPr>
          <p:cNvSpPr txBox="1"/>
          <p:nvPr/>
        </p:nvSpPr>
        <p:spPr>
          <a:xfrm>
            <a:off x="777240" y="1901951"/>
            <a:ext cx="5465065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4ADFCB"/>
                </a:solidFill>
                <a:latin typeface="Consolas"/>
              </a:rPr>
              <a:t>and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combina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dos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devuelve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solo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ambas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son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verdaderas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</a:t>
            </a:r>
            <a:endParaRPr lang="es-CL" sz="2200" b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Si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cualquiera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resultado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500BF4-9D8A-FBF2-B824-431FD0FAE71E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3009947"/>
          <a:ext cx="4455631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ADFCB"/>
                          </a:solidFill>
                          <a:latin typeface="Consolas"/>
                        </a:rPr>
                        <a:t>A and 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7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5">
            <a:extLst>
              <a:ext uri="{FF2B5EF4-FFF2-40B4-BE49-F238E27FC236}">
                <a16:creationId xmlns:a16="http://schemas.microsoft.com/office/drawing/2014/main" id="{5DBA2CD9-7C87-4C9F-DD52-A3ABC6387D21}"/>
              </a:ext>
            </a:extLst>
          </p:cNvPr>
          <p:cNvSpPr txBox="1"/>
          <p:nvPr/>
        </p:nvSpPr>
        <p:spPr>
          <a:xfrm>
            <a:off x="6463405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Operador `or`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F9AAC1D0-F92B-91EA-6DF3-5A006B9D820E}"/>
              </a:ext>
            </a:extLst>
          </p:cNvPr>
          <p:cNvSpPr/>
          <p:nvPr/>
        </p:nvSpPr>
        <p:spPr>
          <a:xfrm>
            <a:off x="6463406" y="1508760"/>
            <a:ext cx="5400750" cy="1455466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EF6AF935-43C0-B72F-8C81-DE5243DABF4A}"/>
              </a:ext>
            </a:extLst>
          </p:cNvPr>
          <p:cNvSpPr/>
          <p:nvPr/>
        </p:nvSpPr>
        <p:spPr>
          <a:xfrm>
            <a:off x="6463405" y="1508760"/>
            <a:ext cx="73152" cy="1455466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282CF3E6-F89C-FB7D-F97C-BD5CB2B5378F}"/>
              </a:ext>
            </a:extLst>
          </p:cNvPr>
          <p:cNvSpPr txBox="1"/>
          <p:nvPr/>
        </p:nvSpPr>
        <p:spPr>
          <a:xfrm>
            <a:off x="6692005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810C438D-3D03-8853-E4D3-971C2A871288}"/>
              </a:ext>
            </a:extLst>
          </p:cNvPr>
          <p:cNvSpPr txBox="1"/>
          <p:nvPr/>
        </p:nvSpPr>
        <p:spPr>
          <a:xfrm>
            <a:off x="6692006" y="1901951"/>
            <a:ext cx="4813890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4ADFCB"/>
                </a:solidFill>
                <a:latin typeface="Consolas"/>
              </a:rPr>
              <a:t>or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combina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dos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condiciones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devuelve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al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menos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es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verdadera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Solo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devuelve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ambas son </a:t>
            </a:r>
            <a:r>
              <a:rPr sz="22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graphicFrame>
        <p:nvGraphicFramePr>
          <p:cNvPr id="21" name="Table 10">
            <a:extLst>
              <a:ext uri="{FF2B5EF4-FFF2-40B4-BE49-F238E27FC236}">
                <a16:creationId xmlns:a16="http://schemas.microsoft.com/office/drawing/2014/main" id="{A4FB8EDC-2E2C-C243-D009-A0E3BE0A6964}"/>
              </a:ext>
            </a:extLst>
          </p:cNvPr>
          <p:cNvGraphicFramePr>
            <a:graphicFrameLocks noGrp="1"/>
          </p:cNvGraphicFramePr>
          <p:nvPr/>
        </p:nvGraphicFramePr>
        <p:xfrm>
          <a:off x="6959132" y="3055667"/>
          <a:ext cx="428943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ADFCB"/>
                          </a:solidFill>
                          <a:latin typeface="Consolas"/>
                        </a:rPr>
                        <a:t>A or B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69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>
                    <a:solidFill>
                      <a:srgbClr val="12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7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ADFC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>
                    <a:solidFill>
                      <a:srgbClr val="0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11">
            <a:extLst>
              <a:ext uri="{FF2B5EF4-FFF2-40B4-BE49-F238E27FC236}">
                <a16:creationId xmlns:a16="http://schemas.microsoft.com/office/drawing/2014/main" id="{0BF73D94-86D4-E2F6-A794-1236C394BD5B}"/>
              </a:ext>
            </a:extLst>
          </p:cNvPr>
          <p:cNvSpPr txBox="1"/>
          <p:nvPr/>
        </p:nvSpPr>
        <p:spPr>
          <a:xfrm>
            <a:off x="548640" y="5137614"/>
            <a:ext cx="4572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5A623"/>
                </a:solidFill>
                <a:latin typeface="Calibri"/>
              </a:rPr>
              <a:t>💻  </a:t>
            </a:r>
            <a:r>
              <a:rPr sz="1800" b="1" dirty="0" err="1">
                <a:solidFill>
                  <a:srgbClr val="F5A623"/>
                </a:solidFill>
                <a:latin typeface="Calibri"/>
              </a:rPr>
              <a:t>Ejemplo</a:t>
            </a:r>
            <a:r>
              <a:rPr lang="es-CL" sz="1800" b="1" dirty="0">
                <a:solidFill>
                  <a:srgbClr val="F5A623"/>
                </a:solidFill>
                <a:latin typeface="Calibri"/>
              </a:rPr>
              <a:t> OR</a:t>
            </a:r>
            <a:endParaRPr sz="1800" b="1" dirty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A3938802-2A62-A4CB-A2A9-63C4E8EE01A6}"/>
              </a:ext>
            </a:extLst>
          </p:cNvPr>
          <p:cNvSpPr/>
          <p:nvPr/>
        </p:nvSpPr>
        <p:spPr>
          <a:xfrm>
            <a:off x="548640" y="5485086"/>
            <a:ext cx="11094415" cy="118766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D037451F-8BC9-A23A-13E6-81C7ACD108DB}"/>
              </a:ext>
            </a:extLst>
          </p:cNvPr>
          <p:cNvSpPr/>
          <p:nvPr/>
        </p:nvSpPr>
        <p:spPr>
          <a:xfrm>
            <a:off x="548640" y="5485086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E948EA06-574D-59A5-5181-F64627553AB5}"/>
              </a:ext>
            </a:extLst>
          </p:cNvPr>
          <p:cNvSpPr txBox="1"/>
          <p:nvPr/>
        </p:nvSpPr>
        <p:spPr>
          <a:xfrm>
            <a:off x="731520" y="5622246"/>
            <a:ext cx="10820095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 err="1">
                <a:solidFill>
                  <a:srgbClr val="4ADFCB"/>
                </a:solidFill>
                <a:latin typeface="Consolas"/>
              </a:rPr>
              <a:t>es_suscriptor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 = False</a:t>
            </a:r>
          </a:p>
          <a:p>
            <a:pPr algn="l"/>
            <a:r>
              <a:rPr sz="1800" b="0" dirty="0" err="1">
                <a:solidFill>
                  <a:srgbClr val="4ADFCB"/>
                </a:solidFill>
                <a:latin typeface="Consolas"/>
              </a:rPr>
              <a:t>tiene_prueba_gratis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 = True</a:t>
            </a:r>
          </a:p>
          <a:p>
            <a:pPr algn="l"/>
            <a:r>
              <a:rPr sz="1800" b="0" dirty="0">
                <a:solidFill>
                  <a:srgbClr val="4ADFCB"/>
                </a:solidFill>
                <a:latin typeface="Consolas"/>
              </a:rPr>
              <a:t>print("¿</a:t>
            </a:r>
            <a:r>
              <a:rPr sz="1800" b="0" dirty="0" err="1">
                <a:solidFill>
                  <a:srgbClr val="4ADFCB"/>
                </a:solidFill>
                <a:latin typeface="Consolas"/>
              </a:rPr>
              <a:t>Puede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 acceder al </a:t>
            </a:r>
            <a:r>
              <a:rPr sz="1800" b="0" dirty="0" err="1">
                <a:solidFill>
                  <a:srgbClr val="4ADFCB"/>
                </a:solidFill>
                <a:latin typeface="Consolas"/>
              </a:rPr>
              <a:t>contenido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?", </a:t>
            </a:r>
            <a:r>
              <a:rPr sz="1800" b="0" dirty="0" err="1">
                <a:solidFill>
                  <a:srgbClr val="4ADFCB"/>
                </a:solidFill>
                <a:latin typeface="Consolas"/>
              </a:rPr>
              <a:t>es_suscriptor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2800" b="1" dirty="0">
                <a:solidFill>
                  <a:srgbClr val="4ADFCB"/>
                </a:solidFill>
                <a:latin typeface="Consolas"/>
              </a:rPr>
              <a:t>or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 </a:t>
            </a:r>
            <a:r>
              <a:rPr sz="1800" b="0" dirty="0" err="1">
                <a:solidFill>
                  <a:srgbClr val="4ADFCB"/>
                </a:solidFill>
                <a:latin typeface="Consolas"/>
              </a:rPr>
              <a:t>tiene_prueba_gratis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45811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3. Operador `not`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954126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954126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4ADFCB"/>
                </a:solidFill>
                <a:latin typeface="Consolas"/>
              </a:rPr>
              <a:t>not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invierte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valor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booleano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una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condición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 </a:t>
            </a:r>
            <a:endParaRPr lang="es-CL" sz="2800" b="0" dirty="0">
              <a:solidFill>
                <a:srgbClr val="FFFFFF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Si es </a:t>
            </a:r>
            <a:r>
              <a:rPr sz="2800" b="0" dirty="0">
                <a:solidFill>
                  <a:srgbClr val="4ADFCB"/>
                </a:solidFill>
                <a:latin typeface="Consolas"/>
              </a:rPr>
              <a:t>True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, lo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convierte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; </a:t>
            </a:r>
            <a:endParaRPr lang="es-CL" sz="2800" b="0" dirty="0">
              <a:solidFill>
                <a:srgbClr val="FFFFFF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Calibri"/>
              </a:rPr>
              <a:t>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i es </a:t>
            </a:r>
            <a:r>
              <a:rPr sz="2800" b="0" dirty="0">
                <a:solidFill>
                  <a:srgbClr val="4ADFCB"/>
                </a:solidFill>
                <a:latin typeface="Consolas"/>
              </a:rPr>
              <a:t>False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, lo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convierte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>
                <a:solidFill>
                  <a:srgbClr val="4ADFCB"/>
                </a:solidFill>
                <a:latin typeface="Consolas"/>
              </a:rPr>
              <a:t>True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27478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74950"/>
            <a:ext cx="11094415" cy="1327493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97495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112110"/>
            <a:ext cx="10820095" cy="10988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 err="1">
                <a:solidFill>
                  <a:srgbClr val="4ADFCB"/>
                </a:solidFill>
                <a:latin typeface="Consolas"/>
              </a:rPr>
              <a:t>esta_en_modo_avion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= True</a:t>
            </a: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print("¿Tiene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conexión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?", not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esta_en_modo_avion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467036"/>
            <a:ext cx="11094415" cy="11166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5467036"/>
            <a:ext cx="73152" cy="1116643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540188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60228"/>
            <a:ext cx="10728655" cy="6777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dirty="0">
                <a:solidFill>
                  <a:srgbClr val="4ADFCB"/>
                </a:solidFill>
                <a:latin typeface="Consolas"/>
              </a:rPr>
              <a:t>not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voltea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resultado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convierte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sí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no y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viceversa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Errores típicos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⚠️ Errores típicos a evitar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22740"/>
              </p:ext>
            </p:extLst>
          </p:nvPr>
        </p:nvGraphicFramePr>
        <p:xfrm>
          <a:off x="548640" y="160020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Cómo corregirlo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FFFFFF"/>
                          </a:solidFill>
                          <a:latin typeface="Calibri"/>
                        </a:rPr>
                        <a:t>Confundir </a:t>
                      </a:r>
                      <a:r>
                        <a:rPr sz="2000">
                          <a:solidFill>
                            <a:srgbClr val="4ADFCB"/>
                          </a:solidFill>
                          <a:latin typeface="Consolas"/>
                        </a:rPr>
                        <a:t>and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libri"/>
                        </a:rPr>
                        <a:t> con </a:t>
                      </a:r>
                      <a:r>
                        <a:rPr sz="2000">
                          <a:solidFill>
                            <a:srgbClr val="4ADFCB"/>
                          </a:solidFill>
                          <a:latin typeface="Consolas"/>
                        </a:rPr>
                        <a:t>or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FFFFFF"/>
                          </a:solidFill>
                          <a:latin typeface="Calibri"/>
                        </a:rPr>
                        <a:t>El programa autoriza o bloquea en los casos equivocados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FFFFFF"/>
                          </a:solidFill>
                          <a:latin typeface="Calibri"/>
                        </a:rPr>
                        <a:t>Pregúntate: ¿deben cumplirse TODAS o ALGUNA?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FFFFFF"/>
                          </a:solidFill>
                          <a:latin typeface="Calibri"/>
                        </a:rPr>
                        <a:t>Escribir </a:t>
                      </a:r>
                      <a:r>
                        <a:rPr sz="2000">
                          <a:solidFill>
                            <a:srgbClr val="4ADFCB"/>
                          </a:solidFill>
                          <a:latin typeface="Consolas"/>
                        </a:rPr>
                        <a:t>AND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libri"/>
                        </a:rPr>
                        <a:t>, </a:t>
                      </a:r>
                      <a:r>
                        <a:rPr sz="2000">
                          <a:solidFill>
                            <a:srgbClr val="4ADFCB"/>
                          </a:solidFill>
                          <a:latin typeface="Consolas"/>
                        </a:rPr>
                        <a:t>OR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libri"/>
                        </a:rPr>
                        <a:t> o </a:t>
                      </a:r>
                      <a:r>
                        <a:rPr sz="2000">
                          <a:solidFill>
                            <a:srgbClr val="4ADFCB"/>
                          </a:solidFill>
                          <a:latin typeface="Consolas"/>
                        </a:rPr>
                        <a:t>NOT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libri"/>
                        </a:rPr>
                        <a:t> en mayúscula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4ADFCB"/>
                          </a:solidFill>
                          <a:latin typeface="Consolas"/>
                        </a:rPr>
                        <a:t>SyntaxError</a:t>
                      </a:r>
                      <a:endParaRPr sz="2000" dirty="0">
                        <a:solidFill>
                          <a:srgbClr val="4ADFCB"/>
                        </a:solidFill>
                        <a:latin typeface="Consolas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FFFFFF"/>
                          </a:solidFill>
                          <a:latin typeface="Calibri"/>
                        </a:rPr>
                        <a:t>Siempre en minúscula: </a:t>
                      </a:r>
                      <a:r>
                        <a:rPr sz="2000">
                          <a:solidFill>
                            <a:srgbClr val="4ADFCB"/>
                          </a:solidFill>
                          <a:latin typeface="Consolas"/>
                        </a:rPr>
                        <a:t>and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libri"/>
                        </a:rPr>
                        <a:t>, </a:t>
                      </a:r>
                      <a:r>
                        <a:rPr sz="2000">
                          <a:solidFill>
                            <a:srgbClr val="4ADFCB"/>
                          </a:solidFill>
                          <a:latin typeface="Consolas"/>
                        </a:rPr>
                        <a:t>or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libri"/>
                        </a:rPr>
                        <a:t>, </a:t>
                      </a:r>
                      <a:r>
                        <a:rPr sz="2000">
                          <a:solidFill>
                            <a:srgbClr val="4ADFCB"/>
                          </a:solidFill>
                          <a:latin typeface="Consolas"/>
                        </a:rPr>
                        <a:t>not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FFFFFF"/>
                          </a:solidFill>
                          <a:latin typeface="Calibri"/>
                        </a:rPr>
                        <a:t>Olvidar que </a:t>
                      </a:r>
                      <a:r>
                        <a:rPr sz="2000">
                          <a:solidFill>
                            <a:srgbClr val="4ADFCB"/>
                          </a:solidFill>
                          <a:latin typeface="Consolas"/>
                        </a:rPr>
                        <a:t>not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libri"/>
                        </a:rPr>
                        <a:t> afecta solo lo que sigue inmediatamente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FFFFFF"/>
                          </a:solidFill>
                          <a:latin typeface="Calibri"/>
                        </a:rPr>
                        <a:t>Puede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FFFFFF"/>
                          </a:solidFill>
                          <a:latin typeface="Calibri"/>
                        </a:rPr>
                        <a:t>negar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Calibri"/>
                        </a:rPr>
                        <a:t> solo </a:t>
                      </a:r>
                      <a:r>
                        <a:rPr sz="2000" dirty="0" err="1">
                          <a:solidFill>
                            <a:srgbClr val="FFFFFF"/>
                          </a:solidFill>
                          <a:latin typeface="Calibri"/>
                        </a:rPr>
                        <a:t>parte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Calibri"/>
                        </a:rPr>
                        <a:t> de la </a:t>
                      </a:r>
                      <a:r>
                        <a:rPr sz="2000" dirty="0" err="1">
                          <a:solidFill>
                            <a:srgbClr val="FFFFFF"/>
                          </a:solidFill>
                          <a:latin typeface="Calibri"/>
                        </a:rPr>
                        <a:t>expresión</a:t>
                      </a:r>
                      <a:endParaRPr sz="20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FFFFFF"/>
                          </a:solidFill>
                          <a:latin typeface="Calibri"/>
                        </a:rPr>
                        <a:t>Usa </a:t>
                      </a:r>
                      <a:r>
                        <a:rPr sz="2000" dirty="0" err="1">
                          <a:solidFill>
                            <a:srgbClr val="FFFFFF"/>
                          </a:solidFill>
                          <a:latin typeface="Calibri"/>
                        </a:rPr>
                        <a:t>paréntesis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Calibri"/>
                        </a:rPr>
                        <a:t>: </a:t>
                      </a:r>
                      <a:r>
                        <a:rPr sz="2000" dirty="0">
                          <a:solidFill>
                            <a:srgbClr val="4ADFCB"/>
                          </a:solidFill>
                          <a:latin typeface="Consolas"/>
                        </a:rPr>
                        <a:t>not (</a:t>
                      </a:r>
                      <a:r>
                        <a:rPr sz="2000" dirty="0" err="1">
                          <a:solidFill>
                            <a:srgbClr val="4ADFCB"/>
                          </a:solidFill>
                          <a:latin typeface="Consolas"/>
                        </a:rPr>
                        <a:t>condicion_a</a:t>
                      </a:r>
                      <a:r>
                        <a:rPr sz="2000" dirty="0">
                          <a:solidFill>
                            <a:srgbClr val="4ADFCB"/>
                          </a:solidFill>
                          <a:latin typeface="Consolas"/>
                        </a:rPr>
                        <a:t> and </a:t>
                      </a:r>
                      <a:r>
                        <a:rPr sz="2000" dirty="0" err="1">
                          <a:solidFill>
                            <a:srgbClr val="4ADFCB"/>
                          </a:solidFill>
                          <a:latin typeface="Consolas"/>
                        </a:rPr>
                        <a:t>condicion_b</a:t>
                      </a:r>
                      <a:r>
                        <a:rPr sz="2000" dirty="0">
                          <a:solidFill>
                            <a:srgbClr val="4ADFCB"/>
                          </a:solidFill>
                          <a:latin typeface="Consolas"/>
                        </a:rPr>
                        <a:t>)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💡 Si te aparece uno de estos errores, vuelve a esta tabla antes de pedir ayuda.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1242</Words>
  <Application>Microsoft Office PowerPoint</Application>
  <PresentationFormat>Panorámica</PresentationFormat>
  <Paragraphs>275</Paragraphs>
  <Slides>13</Slides>
  <Notes>0</Notes>
  <HiddenSlides>4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Ignacio Vargas Palominos</cp:lastModifiedBy>
  <cp:revision>3</cp:revision>
  <dcterms:created xsi:type="dcterms:W3CDTF">2013-01-27T09:14:16Z</dcterms:created>
  <dcterms:modified xsi:type="dcterms:W3CDTF">2026-06-08T14:09:56Z</dcterms:modified>
  <cp:category/>
</cp:coreProperties>
</file>