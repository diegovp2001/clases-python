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5A623"/>
                </a:solidFill>
                <a:latin typeface="Calibri"/>
              </a:rPr>
              <a:t>🎫  Ticket de Salida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Clase 32 — Strings: métodos para modificar y separar texto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💡  Cómo lo vamos a 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1.  Son 3 preguntas. Las vemos </a:t>
            </a:r>
            <a:r>
              <a:rPr b="1" sz="2200">
                <a:solidFill>
                  <a:srgbClr val="FFFFFF"/>
                </a:solidFill>
                <a:latin typeface="Calibri"/>
              </a:rPr>
              <a:t>una por una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2.  Decide tu respuesta </a:t>
            </a:r>
            <a:r>
              <a:rPr b="1" sz="2200">
                <a:solidFill>
                  <a:srgbClr val="FFFFFF"/>
                </a:solidFill>
                <a:latin typeface="Calibri"/>
              </a:rPr>
              <a:t>en silencio</a:t>
            </a:r>
            <a:r>
              <a:rPr sz="2200">
                <a:solidFill>
                  <a:srgbClr val="FFFFFF"/>
                </a:solidFill>
                <a:latin typeface="Calibri"/>
              </a:rPr>
              <a:t>: no la digas ni la comentes.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3.  Anota la letra que elegiste (</a:t>
            </a:r>
            <a:r>
              <a:rPr b="1" sz="2200">
                <a:solidFill>
                  <a:srgbClr val="FFFFFF"/>
                </a:solidFill>
                <a:latin typeface="Calibri"/>
              </a:rPr>
              <a:t>A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B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C</a:t>
            </a:r>
            <a:r>
              <a:rPr sz="2200">
                <a:solidFill>
                  <a:srgbClr val="FFFFFF"/>
                </a:solidFill>
                <a:latin typeface="Calibri"/>
              </a:rPr>
              <a:t> o </a:t>
            </a:r>
            <a:r>
              <a:rPr b="1" sz="2200">
                <a:solidFill>
                  <a:srgbClr val="FFFFFF"/>
                </a:solidFill>
                <a:latin typeface="Calibri"/>
              </a:rPr>
              <a:t>D</a:t>
            </a:r>
            <a:r>
              <a:rPr sz="220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4.  Recién al terminar la pregunta 3 completamos el Formulario.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5.  Después de enviarlo, revisamos juntos las respuestas.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Nadie responde el Formulario antes de tiempo: primero te comprometes con tu respuesta.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1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90220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682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texto = "  hola MUNDO  "
print(texto.strip().title())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20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0967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0937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"  hola MUNDO  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020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0967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0937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Hola Mundo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764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3852671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8496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HOLA MUNDO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37764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3852671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38496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hola mundo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2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2070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pedido = "Papas Fritas,3400"
producto, precio = pedido.split(",")
print(precio)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53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4015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3985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Papas Fritas,3400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3253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4015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3985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Papas Fritas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81272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52932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154424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3400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081272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452932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154424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Error, porque </a:t>
            </a:r>
            <a:r>
              <a:rPr sz="2300">
                <a:solidFill>
                  <a:srgbClr val="4ADFCB"/>
                </a:solidFill>
                <a:latin typeface="Consolas"/>
              </a:rPr>
              <a:t>split()</a:t>
            </a:r>
            <a:r>
              <a:rPr sz="2400">
                <a:solidFill>
                  <a:srgbClr val="FFFFFF"/>
                </a:solidFill>
                <a:latin typeface="Calibri"/>
              </a:rPr>
              <a:t> no se puede guardar en dos variables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3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2070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separador = "-" * 4
mensaje = "Total" + separador
print(mensaje)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53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4015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3985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Total----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3253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4015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3985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Total-4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81272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34340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154424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TotalTotalTotalTotal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081272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434340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154424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Error, porque no se puede sumar texto con texto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2C39A"/>
                </a:solidFill>
                <a:latin typeface="Calibri"/>
              </a:rPr>
              <a:t>📝  Ahora sí: completa el Formulario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4ADFCB"/>
                </a:solidFill>
                <a:latin typeface="Consolas"/>
              </a:rPr>
              <a:t>https://forms.gle/sjRpbgmQzrpkEBsH9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Qué escribir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2200">
                <a:solidFill>
                  <a:srgbClr val="FFFFFF"/>
                </a:solidFill>
                <a:latin typeface="Calibri"/>
              </a:rPr>
              <a:t>Nombre:</a:t>
            </a:r>
            <a:r>
              <a:rPr sz="2200">
                <a:solidFill>
                  <a:srgbClr val="FFFFFF"/>
                </a:solidFill>
                <a:latin typeface="Calibri"/>
              </a:rPr>
              <a:t> tu nombre completo.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Tema de la clase de hoy:</a:t>
            </a:r>
            <a:r>
              <a:rPr sz="2200">
                <a:solidFill>
                  <a:srgbClr val="FFFFFF"/>
                </a:solidFill>
                <a:latin typeface="Calibri"/>
              </a:rPr>
              <a:t> </a:t>
            </a:r>
            <a:r>
              <a:rPr sz="2100">
                <a:solidFill>
                  <a:srgbClr val="4ADFCB"/>
                </a:solidFill>
                <a:latin typeface="Consolas"/>
              </a:rPr>
              <a:t>Strings: métodos para modificar y separar texto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Respuestas:</a:t>
            </a:r>
            <a:r>
              <a:rPr sz="2200">
                <a:solidFill>
                  <a:srgbClr val="FFFFFF"/>
                </a:solidFill>
                <a:latin typeface="Calibri"/>
              </a:rPr>
              <a:t> marca la letra que anotaste en cada una de las 3 preguntas.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Envía. Cuando estén todos, revisamos las respuestas juntos.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1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Hola Mundo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4ADFCB"/>
                </a:solidFill>
                <a:latin typeface="Consolas"/>
              </a:rPr>
              <a:t>strip()</a:t>
            </a:r>
            <a:r>
              <a:rPr sz="2200">
                <a:solidFill>
                  <a:srgbClr val="FFFFFF"/>
                </a:solidFill>
                <a:latin typeface="Calibri"/>
              </a:rPr>
              <a:t> quita los espacios de los extremos, </a:t>
            </a:r>
            <a:r>
              <a:rPr sz="2100">
                <a:solidFill>
                  <a:srgbClr val="4ADFCB"/>
                </a:solidFill>
                <a:latin typeface="Consolas"/>
              </a:rPr>
              <a:t>title()</a:t>
            </a:r>
            <a:r>
              <a:rPr sz="2200">
                <a:solidFill>
                  <a:srgbClr val="FFFFFF"/>
                </a:solidFill>
                <a:latin typeface="Calibri"/>
              </a:rPr>
              <a:t> deja la primera letra de cada palabra en mayúscula y el resto en minúscula.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2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3400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4ADFCB"/>
                </a:solidFill>
                <a:latin typeface="Consolas"/>
              </a:rPr>
              <a:t>split(",")</a:t>
            </a:r>
            <a:r>
              <a:rPr sz="2200">
                <a:solidFill>
                  <a:srgbClr val="FFFFFF"/>
                </a:solidFill>
                <a:latin typeface="Calibri"/>
              </a:rPr>
              <a:t> corta el texto en dos partes por la coma; la asignación múltiple guarda cada parte en su variable en orden, así que </a:t>
            </a:r>
            <a:r>
              <a:rPr sz="2100">
                <a:solidFill>
                  <a:srgbClr val="4ADFCB"/>
                </a:solidFill>
                <a:latin typeface="Consolas"/>
              </a:rPr>
              <a:t>precio</a:t>
            </a:r>
            <a:r>
              <a:rPr sz="2200">
                <a:solidFill>
                  <a:srgbClr val="FFFFFF"/>
                </a:solidFill>
                <a:latin typeface="Calibri"/>
              </a:rPr>
              <a:t> queda con </a:t>
            </a:r>
            <a:r>
              <a:rPr sz="2100">
                <a:solidFill>
                  <a:srgbClr val="4ADFCB"/>
                </a:solidFill>
                <a:latin typeface="Consolas"/>
              </a:rPr>
              <a:t>"3400"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3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Total----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4ADFCB"/>
                </a:solidFill>
                <a:latin typeface="Consolas"/>
              </a:rPr>
              <a:t>*</a:t>
            </a:r>
            <a:r>
              <a:rPr sz="2200">
                <a:solidFill>
                  <a:srgbClr val="FFFFFF"/>
                </a:solidFill>
                <a:latin typeface="Calibri"/>
              </a:rPr>
              <a:t> repite el texto </a:t>
            </a:r>
            <a:r>
              <a:rPr sz="2100">
                <a:solidFill>
                  <a:srgbClr val="4ADFCB"/>
                </a:solidFill>
                <a:latin typeface="Consolas"/>
              </a:rPr>
              <a:t>"-"</a:t>
            </a:r>
            <a:r>
              <a:rPr sz="2200">
                <a:solidFill>
                  <a:srgbClr val="FFFFFF"/>
                </a:solidFill>
                <a:latin typeface="Calibri"/>
              </a:rPr>
              <a:t> 4 veces (</a:t>
            </a:r>
            <a:r>
              <a:rPr sz="2100">
                <a:solidFill>
                  <a:srgbClr val="4ADFCB"/>
                </a:solidFill>
                <a:latin typeface="Consolas"/>
              </a:rPr>
              <a:t>"----"</a:t>
            </a:r>
            <a:r>
              <a:rPr sz="2200">
                <a:solidFill>
                  <a:srgbClr val="FFFFFF"/>
                </a:solidFill>
                <a:latin typeface="Calibri"/>
              </a:rPr>
              <a:t>), y </a:t>
            </a:r>
            <a:r>
              <a:rPr sz="2100">
                <a:solidFill>
                  <a:srgbClr val="4ADFCB"/>
                </a:solidFill>
                <a:latin typeface="Consolas"/>
              </a:rPr>
              <a:t>+</a:t>
            </a:r>
            <a:r>
              <a:rPr sz="2200">
                <a:solidFill>
                  <a:srgbClr val="FFFFFF"/>
                </a:solidFill>
                <a:latin typeface="Calibri"/>
              </a:rPr>
              <a:t> une ese resultado con </a:t>
            </a:r>
            <a:r>
              <a:rPr sz="2100">
                <a:solidFill>
                  <a:srgbClr val="4ADFCB"/>
                </a:solidFill>
                <a:latin typeface="Consolas"/>
              </a:rPr>
              <a:t>"Total"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