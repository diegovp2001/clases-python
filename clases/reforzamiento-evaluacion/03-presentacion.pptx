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73" r:id="rId5"/>
    <p:sldId id="276" r:id="rId6"/>
    <p:sldId id="277" r:id="rId7"/>
    <p:sldId id="27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2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Reforzamiento: Debuggear errores de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Martes — práctica previa a la evaluación del jueves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Ref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Hoy debuggeamos: encontrar y corregir errores es la habilidad central de cualquier programador.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Ref - Reforzamiento: Debuggear errores de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Debuggear errores de Python: identificar y corregir errores de </a:t>
            </a:r>
            <a:r>
              <a:rPr sz="2200" b="0">
                <a:solidFill>
                  <a:srgbClr val="4ADFCB"/>
                </a:solidFill>
                <a:latin typeface="Consolas"/>
              </a:rPr>
              <a:t>sintaxis</a:t>
            </a:r>
            <a:r>
              <a:rPr sz="2200" b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>
                <a:solidFill>
                  <a:srgbClr val="4ADFCB"/>
                </a:solidFill>
                <a:latin typeface="Consolas"/>
              </a:rPr>
              <a:t>lógica</a:t>
            </a:r>
            <a:r>
              <a:rPr sz="2200" b="0">
                <a:solidFill>
                  <a:srgbClr val="FFFFFF"/>
                </a:solidFill>
                <a:latin typeface="Calibri"/>
              </a:rPr>
              <a:t> e </a:t>
            </a:r>
            <a:r>
              <a:rPr sz="2200" b="0">
                <a:solidFill>
                  <a:srgbClr val="4ADFCB"/>
                </a:solidFill>
                <a:latin typeface="Consolas"/>
              </a:rPr>
              <a:t>indentación</a:t>
            </a:r>
            <a:r>
              <a:rPr sz="2200" b="0">
                <a:solidFill>
                  <a:srgbClr val="FFFFFF"/>
                </a:solidFill>
                <a:latin typeface="Calibri"/>
              </a:rPr>
              <a:t> en un programa.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Practicar las habilidades que entran en la evaluación del jueves, entendiendo que debuggear es una habilidad central de cualquier programador.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Haz Ahora — V o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ejecutar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: decide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caso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valido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Python.</a:t>
            </a:r>
            <a:r>
              <a:rPr lang="es-CL" sz="2200" b="0" dirty="0">
                <a:solidFill>
                  <a:srgbClr val="FFFFFF"/>
                </a:solidFill>
                <a:latin typeface="Calibri"/>
              </a:rPr>
              <a:t> Escribe en el colab.</a:t>
            </a:r>
            <a:endParaRPr sz="2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23317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flipH="1">
            <a:off x="548254" y="2103119"/>
            <a:ext cx="64313" cy="2331719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728655" cy="205359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1.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nota </a:t>
            </a:r>
            <a:r>
              <a:rPr sz="2200" b="0" dirty="0" err="1">
                <a:solidFill>
                  <a:srgbClr val="4ADFCB"/>
                </a:solidFill>
                <a:latin typeface="Consolas"/>
              </a:rPr>
              <a:t>promedio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 = 6.5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→ Esta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línea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válida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Python
2.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total = 10 + 20 / 2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total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vale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15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
3. El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siguiente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código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2200" b="0" dirty="0">
                <a:solidFill>
                  <a:srgbClr val="FFFFFF"/>
                </a:solidFill>
                <a:latin typeface="Calibri"/>
              </a:rPr>
              <a:t>no 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da error</a:t>
            </a:r>
            <a:r>
              <a:rPr lang="es-CL" sz="2200" dirty="0">
                <a:solidFill>
                  <a:srgbClr val="FFFFFF"/>
                </a:solidFill>
                <a:latin typeface="Calibri"/>
              </a:rPr>
              <a:t>: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r>
              <a:rPr lang="es-MX" sz="2400" dirty="0">
                <a:solidFill>
                  <a:srgbClr val="4ADFCB"/>
                </a:solidFill>
                <a:latin typeface="Consolas"/>
              </a:rPr>
              <a:t>precio = 990</a:t>
            </a:r>
          </a:p>
          <a:p>
            <a:r>
              <a:rPr lang="es-MX" sz="2400" dirty="0">
                <a:solidFill>
                  <a:srgbClr val="4ADFCB"/>
                </a:solidFill>
                <a:latin typeface="Consolas"/>
              </a:rPr>
              <a:t>    descuento = 100</a:t>
            </a:r>
          </a:p>
          <a:p>
            <a:r>
              <a:rPr lang="es-MX" sz="2400" dirty="0" err="1">
                <a:solidFill>
                  <a:srgbClr val="4ADFCB"/>
                </a:solidFill>
                <a:latin typeface="Consolas"/>
              </a:rPr>
              <a:t>precio_venta</a:t>
            </a:r>
            <a:r>
              <a:rPr lang="es-MX" sz="2400" dirty="0">
                <a:solidFill>
                  <a:srgbClr val="4ADFCB"/>
                </a:solidFill>
                <a:latin typeface="Consolas"/>
              </a:rPr>
              <a:t> = </a:t>
            </a:r>
          </a:p>
          <a:p>
            <a:pPr algn="l"/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endParaRPr lang="es-CL" sz="2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FFFFFF"/>
                </a:solidFill>
                <a:latin typeface="Calibri"/>
              </a:rPr>
              <a:t>Revisamos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respuestas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conjunto antes de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continuar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3C4745-06B3-2DFF-FD03-5142B676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4281AC-033B-82D5-6FFC-6408BF6474B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6705D-F3A0-7182-5225-B72519930213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79DD6-3E25-A3D0-4060-577D60DF56DE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FB3EC-C6BD-EC08-B9DA-CF9891E31D58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5AD4D-A7EE-9FF3-ED42-3AEAB6B10513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Haz Ahora — V o 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2A15E-1AC0-F5BC-625A-69AED04C0342}"/>
              </a:ext>
            </a:extLst>
          </p:cNvPr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Sin ejecutar: decide si cada caso es valido en Python.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00E49-4799-F12B-6DE0-A76F4219A115}"/>
              </a:ext>
            </a:extLst>
          </p:cNvPr>
          <p:cNvSpPr/>
          <p:nvPr/>
        </p:nvSpPr>
        <p:spPr>
          <a:xfrm>
            <a:off x="548640" y="2103120"/>
            <a:ext cx="11094415" cy="1417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EA7830-8D45-0F67-D4A1-21AA85ABBA84}"/>
              </a:ext>
            </a:extLst>
          </p:cNvPr>
          <p:cNvSpPr/>
          <p:nvPr/>
        </p:nvSpPr>
        <p:spPr>
          <a:xfrm>
            <a:off x="548640" y="2103120"/>
            <a:ext cx="73152" cy="14173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30C2A-A73D-E874-FDAA-D114FFAF7A72}"/>
              </a:ext>
            </a:extLst>
          </p:cNvPr>
          <p:cNvSpPr txBox="1"/>
          <p:nvPr/>
        </p:nvSpPr>
        <p:spPr>
          <a:xfrm>
            <a:off x="777240" y="2194560"/>
            <a:ext cx="10728655" cy="12344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1. </a:t>
            </a:r>
            <a:r>
              <a:rPr sz="2200" b="0">
                <a:solidFill>
                  <a:srgbClr val="4ADFCB"/>
                </a:solidFill>
                <a:latin typeface="Consolas"/>
              </a:rPr>
              <a:t>nota promedio = 6.5</a:t>
            </a:r>
            <a:r>
              <a:rPr sz="2200" b="0">
                <a:solidFill>
                  <a:srgbClr val="FFFFFF"/>
                </a:solidFill>
                <a:latin typeface="Calibri"/>
              </a:rPr>
              <a:t> → Esta línea es válida en Python.  *(F — espacio en el nombre)*
2. </a:t>
            </a:r>
            <a:r>
              <a:rPr sz="2200" b="0">
                <a:solidFill>
                  <a:srgbClr val="4ADFCB"/>
                </a:solidFill>
                <a:latin typeface="Consolas"/>
              </a:rPr>
              <a:t>total = 10 + 20 / 2</a:t>
            </a:r>
            <a:r>
              <a:rPr sz="2200" b="0">
                <a:solidFill>
                  <a:srgbClr val="FFFFFF"/>
                </a:solidFill>
                <a:latin typeface="Calibri"/>
              </a:rPr>
              <a:t> → </a:t>
            </a:r>
            <a:r>
              <a:rPr sz="2200" b="0">
                <a:solidFill>
                  <a:srgbClr val="4ADFCB"/>
                </a:solidFill>
                <a:latin typeface="Consolas"/>
              </a:rPr>
              <a:t>total</a:t>
            </a:r>
            <a:r>
              <a:rPr sz="2200" b="0">
                <a:solidFill>
                  <a:srgbClr val="FFFFFF"/>
                </a:solidFill>
                <a:latin typeface="Calibri"/>
              </a:rPr>
              <a:t> vale </a:t>
            </a:r>
            <a:r>
              <a:rPr sz="2200" b="0">
                <a:solidFill>
                  <a:srgbClr val="4ADFCB"/>
                </a:solidFill>
                <a:latin typeface="Consolas"/>
              </a:rPr>
              <a:t>15</a:t>
            </a:r>
            <a:r>
              <a:rPr sz="2200" b="0">
                <a:solidFill>
                  <a:srgbClr val="FFFFFF"/>
                </a:solidFill>
                <a:latin typeface="Calibri"/>
              </a:rPr>
              <a:t>.  *(F — vale 20: primero se divide 20/2, luego se suma 10)*
3. ¿El siguiente código da error? *(V — indentación inesperada)*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ABB38-705C-1644-98F2-B4ABF83EC44E}"/>
              </a:ext>
            </a:extLst>
          </p:cNvPr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52F097-2B70-9155-2D66-106E190BC425}"/>
              </a:ext>
            </a:extLst>
          </p:cNvPr>
          <p:cNvSpPr/>
          <p:nvPr/>
        </p:nvSpPr>
        <p:spPr>
          <a:xfrm>
            <a:off x="548640" y="4023360"/>
            <a:ext cx="11094415" cy="17373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03B8C3-5F40-4F90-E48E-BABA5C765B27}"/>
              </a:ext>
            </a:extLst>
          </p:cNvPr>
          <p:cNvSpPr/>
          <p:nvPr/>
        </p:nvSpPr>
        <p:spPr>
          <a:xfrm>
            <a:off x="548640" y="402336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B5370-384D-8703-BD51-206BA109BA42}"/>
              </a:ext>
            </a:extLst>
          </p:cNvPr>
          <p:cNvSpPr txBox="1"/>
          <p:nvPr/>
        </p:nvSpPr>
        <p:spPr>
          <a:xfrm>
            <a:off x="731520" y="416052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precio = 990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descuento = 100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8C9A5F-54F2-1A91-C606-94EA795445E4}"/>
              </a:ext>
            </a:extLst>
          </p:cNvPr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306BBD-D82D-833F-3E1B-0B201219D950}"/>
              </a:ext>
            </a:extLst>
          </p:cNvPr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F8C43D-3B57-ADD2-5E0D-53BB6877BE33}"/>
              </a:ext>
            </a:extLst>
          </p:cNvPr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Revisamos las respuestas en conjunto antes de continuar.</a:t>
            </a:r>
          </a:p>
        </p:txBody>
      </p:sp>
    </p:spTree>
    <p:extLst>
      <p:ext uri="{BB962C8B-B14F-4D97-AF65-F5344CB8AC3E}">
        <p14:creationId xmlns:p14="http://schemas.microsoft.com/office/powerpoint/2010/main" val="367670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2524-7F70-11A6-BBD8-A3D4AA12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31E676-99A2-04C6-6187-0CFE1E1D74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AD82E-D9FE-4D3C-E47B-337ADEBF07DC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6EED9-45AB-1319-C4AF-D01B7659B5A9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CFEC8-3548-CA13-C3C5-08AA3D7C7697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880ED-7578-75F9-EEB6-1C13DB5C1B83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  <a:latin typeface="Calibri"/>
              </a:rPr>
              <a:t>Tipos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de error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Python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03DDE2-BC4E-25F5-D6DA-DCABF80D4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7672"/>
              </p:ext>
            </p:extLst>
          </p:nvPr>
        </p:nvGraphicFramePr>
        <p:xfrm>
          <a:off x="228600" y="1600200"/>
          <a:ext cx="1173784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corregirlo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Sintaxis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Python no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puede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leer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— se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detiene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antes de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correr</a:t>
                      </a:r>
                      <a:r>
                        <a:rPr lang="es-CL" sz="1800" dirty="0">
                          <a:solidFill>
                            <a:srgbClr val="FFFFFF"/>
                          </a:solidFill>
                          <a:latin typeface="Calibri"/>
                        </a:rPr>
                        <a:t> por variables separadas, usar comas y no puntos, entre otros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nota promedio = 6.0` (espacio en el nombre),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temperatura = 10,5 (coma como separador decimal)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nombre = "Juan (comilla sin cerrar)</a:t>
                      </a:r>
                      <a:endParaRPr sz="1800" dirty="0">
                        <a:solidFill>
                          <a:srgbClr val="4ADFCB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2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A79B-86EA-44C8-CC52-F0F19A73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ADFAF8-B418-558C-CF2F-74FEB7A5E9E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1B29E-FC87-B5DE-D336-FCB96A0C120B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8B59D-FB7A-1CD2-F95E-1B55D42198D2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1756C-736B-3A36-B6A1-37C75C1D9BB3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0463A-97E0-2540-5C5F-F34FAA9B1AC0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  <a:latin typeface="Calibri"/>
              </a:rPr>
              <a:t>Tipos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de error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Python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B02E53-619F-AD48-7FF1-D48C8D6FB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330606"/>
              </p:ext>
            </p:extLst>
          </p:nvPr>
        </p:nvGraphicFramePr>
        <p:xfrm>
          <a:off x="228600" y="1600200"/>
          <a:ext cx="11737849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corregirlo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Sintaxis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Python no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puede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leer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— se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detiene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antes de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correr</a:t>
                      </a:r>
                      <a:r>
                        <a:rPr lang="es-CL" sz="1800" dirty="0">
                          <a:solidFill>
                            <a:srgbClr val="FFFFFF"/>
                          </a:solidFill>
                          <a:latin typeface="Calibri"/>
                        </a:rPr>
                        <a:t> por variables separadas, usar comas y no puntos, entre otros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nota promedio = 6.0` (espacio en el nombre),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temperatura = 10,5 (coma como separador decimal)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nombre = "Juan (comilla sin cerrar)</a:t>
                      </a:r>
                      <a:endParaRPr sz="1800" dirty="0">
                        <a:solidFill>
                          <a:srgbClr val="4ADFCB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ógica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corre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pero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es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incorrecto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Ejemplo: Cerrar paréntesis </a:t>
                      </a:r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s-CL" sz="1800" dirty="0">
                          <a:solidFill>
                            <a:srgbClr val="4ADFCB"/>
                          </a:solidFill>
                          <a:latin typeface="Consolas"/>
                        </a:rPr>
                        <a:t>a + b + c</a:t>
                      </a:r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 / 3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CL"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lang="es-CL" sz="1800" dirty="0">
                          <a:solidFill>
                            <a:srgbClr val="FFFFFF"/>
                          </a:solidFill>
                          <a:latin typeface="Calibri"/>
                          <a:sym typeface="Wingdings" panose="05000000000000000000" pitchFamily="2" charset="2"/>
                        </a:rPr>
                        <a:t> </a:t>
                      </a:r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(a + b + c) / 3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92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6FF7D-B4F3-3B24-BA50-B2F69A1B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C742AC-0B65-E11F-4BD2-2920897DAB8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33B469-598B-E1EC-5952-B3DECB572969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FD1D9-7469-5C16-F372-106D3E8422C1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46FBF-EF9D-4346-A431-0B218735FC7D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6532C-0E91-EBAA-D9DE-142CB13A101F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  <a:latin typeface="Calibri"/>
              </a:rPr>
              <a:t>Tipos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de error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Python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A48310-1614-6496-5AB1-F6B75AC957A5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600200"/>
          <a:ext cx="1173784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corregirlo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Sintaxis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Python no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puede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leer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— se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detiene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antes de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correr</a:t>
                      </a:r>
                      <a:r>
                        <a:rPr lang="es-CL" sz="1800" dirty="0">
                          <a:solidFill>
                            <a:srgbClr val="FFFFFF"/>
                          </a:solidFill>
                          <a:latin typeface="Calibri"/>
                        </a:rPr>
                        <a:t> por variables separadas, usar comas y no puntos, entre otros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nota promedio = 6.0` (espacio en el nombre),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temperatura = 10,5 (coma como separador decimal) </a:t>
                      </a:r>
                    </a:p>
                    <a:p>
                      <a:pPr algn="l"/>
                      <a:r>
                        <a:rPr lang="es-MX" sz="1800" dirty="0">
                          <a:solidFill>
                            <a:srgbClr val="4ADFCB"/>
                          </a:solidFill>
                          <a:latin typeface="Consolas"/>
                        </a:rPr>
                        <a:t>nombre = "Juan (comilla sin cerrar)</a:t>
                      </a:r>
                      <a:endParaRPr sz="1800" dirty="0">
                        <a:solidFill>
                          <a:srgbClr val="4ADFCB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ógica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corre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pero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es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incorrecto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Ejemplo: Cerrar paréntesis </a:t>
                      </a:r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s-CL" sz="1800" dirty="0">
                          <a:solidFill>
                            <a:srgbClr val="4ADFCB"/>
                          </a:solidFill>
                          <a:latin typeface="Consolas"/>
                        </a:rPr>
                        <a:t>a + b + c</a:t>
                      </a:r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 / 3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CL"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lang="es-CL" sz="1800" dirty="0">
                          <a:solidFill>
                            <a:srgbClr val="FFFFFF"/>
                          </a:solidFill>
                          <a:latin typeface="Calibri"/>
                          <a:sym typeface="Wingdings" panose="05000000000000000000" pitchFamily="2" charset="2"/>
                        </a:rPr>
                        <a:t> </a:t>
                      </a:r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(a + b + c) / 3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s-CL" sz="18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Identación</a:t>
                      </a:r>
                      <a:r>
                        <a:rPr lang="es-CL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Sangría inesperada — Python no sabe a qué bloque pertenece la línea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    </a:t>
                      </a:r>
                      <a:r>
                        <a:rPr sz="1800" dirty="0" err="1">
                          <a:solidFill>
                            <a:srgbClr val="4ADFCB"/>
                          </a:solidFill>
                          <a:latin typeface="Consolas"/>
                        </a:rPr>
                        <a:t>descuento</a:t>
                      </a:r>
                      <a:r>
                        <a:rPr sz="1800" dirty="0">
                          <a:solidFill>
                            <a:srgbClr val="4ADFCB"/>
                          </a:solidFill>
                          <a:latin typeface="Consolas"/>
                        </a:rPr>
                        <a:t> = 100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al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inicio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</a:rPr>
                        <a:t> del </a:t>
                      </a:r>
                      <a:r>
                        <a:rPr sz="1800" dirty="0" err="1">
                          <a:solidFill>
                            <a:srgbClr val="FFFFFF"/>
                          </a:solidFill>
                          <a:latin typeface="Calibri"/>
                        </a:rPr>
                        <a:t>programa</a:t>
                      </a:r>
                      <a:endParaRPr sz="18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5142AD-26A6-1ECA-24C9-3FC41FF5DE7F}"/>
              </a:ext>
            </a:extLst>
          </p:cNvPr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96C56-093B-124F-EFBF-E3287BF69AAC}"/>
              </a:ext>
            </a:extLst>
          </p:cNvPr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B854A-552E-5581-A165-2A8E2F16B039}"/>
              </a:ext>
            </a:extLst>
          </p:cNvPr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FFFFFF"/>
                </a:solidFill>
                <a:latin typeface="Calibri"/>
              </a:rPr>
              <a:t>Estrategia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: lee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error,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identifica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linea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corrige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de a uno y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vuelve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ejecutar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312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1. Error de sintaxis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Python no puede leer el código y se detiene con un mensaje de error antes de ejecutar nada.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nota promedio = 6.0   # espacio en el nombre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precio = 4.990        # punto como separador decimal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nombre = "Juan        # comilla sin cerrar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 Python lanza </a:t>
            </a:r>
            <a:r>
              <a:rPr sz="2200" b="0">
                <a:solidFill>
                  <a:srgbClr val="4ADFCB"/>
                </a:solidFill>
                <a:latin typeface="Consolas"/>
              </a:rPr>
              <a:t>SyntaxError</a:t>
            </a:r>
            <a:r>
              <a:rPr sz="2200" b="0">
                <a:solidFill>
                  <a:srgbClr val="FFFFFF"/>
                </a:solidFill>
                <a:latin typeface="Calibri"/>
              </a:rPr>
              <a:t>, busca el problema en la línea indicada.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2. Error de lógica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código se ejecuta sin errores, pero da un resultado incorrecto porque la operación está mal planteada.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promedio = nota_1 + nota_2 + nota_3 / 3   # mal: divide solo nota_3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promedio = (nota_1 + nota_2 + nota_3) / 3  # correcto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Sin mensaje de error, compara el resultado obtenido con el esperado.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3. Error de indentación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Una línea tiene sangría inesperada al inicio del programa, sin un bloque que la justifique.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precio = 990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descuento = 100   # IndentationError: unexpected indent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En Python la sangría tiene significado — úsala solo cuando corresponde.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874</Words>
  <Application>Microsoft Office PowerPoint</Application>
  <PresentationFormat>Panorámica</PresentationFormat>
  <Paragraphs>109</Paragraphs>
  <Slides>10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Ignacio Vargas Palominos</cp:lastModifiedBy>
  <cp:revision>2</cp:revision>
  <dcterms:created xsi:type="dcterms:W3CDTF">2013-01-27T09:14:16Z</dcterms:created>
  <dcterms:modified xsi:type="dcterms:W3CDTF">2026-05-21T19:32:00Z</dcterms:modified>
  <cp:category/>
</cp:coreProperties>
</file>