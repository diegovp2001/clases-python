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f74QcNqXdpWW84bBIq5mmeMil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58A70E-6694-484C-BD1E-8ADB1372D385}">
  <a:tblStyle styleId="{0158A70E-6694-484C-BD1E-8ADB1372D3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Booleano y Comparaciones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Hoy: Tipo booleano (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), operadores de comparación (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&lt;=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bool()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8a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programas necesitan evaluar condiciones todo el tiempo. Hoy desbloqueas una herramienta nueva 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8a - Tipo Booleano y Comparaciones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Demostrar el uso de valores booleanos y operadores de comparación en Python mediante la evaluación de condiciones con datos cotidianos.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nuestro día a día, necesitamos evaluar condiciones todo el tiempo. Hoy aprenderás a escribir esas condiciones en Python y a entender qué responde el programa (verdadero o falso).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 en clases.</a:t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40" y="1115568"/>
            <a:ext cx="11094415" cy="8412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115568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197864"/>
            <a:ext cx="10820095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Actividad desconectada: lee cada situación y decide si es verdadera (V) o falsa (F). Escribe tu respuesta en la celda de abajo sin abrir el computador.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48640" y="2066543"/>
            <a:ext cx="11094415" cy="39867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48640" y="2066543"/>
            <a:ext cx="73152" cy="3986784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49808" y="2203703"/>
            <a:ext cx="10820095" cy="3785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El PIN guardado es 4821. Ingresaste 4821. ¿Son iguales?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Tu contraseña es "Gato99". Escribiste "gato99". ¿Son distintas?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Tu app pesa 450 MB. Tienes 380 MB libres. ¿Cabe la app?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Llevas 2 intentos fallidos. El límite es 5. ¿Estás bajo el límite?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Tienes 16 años. La app exige 16 o más. ¿Puedes entrar?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Tu usuario tiene 12 caracteres. El máximo es 15. ¿Es válido?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48640" y="6163056"/>
            <a:ext cx="11094415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En unos minutos revisaremos en conjunto las respuestas y veremos cómo Python evalúa cada una de estas situaciones.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Tipo booleano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48640" y="1508760"/>
            <a:ext cx="11094415" cy="25720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8640" y="1508760"/>
            <a:ext cx="73152" cy="2572076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77240" y="1901951"/>
            <a:ext cx="1072865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Python existe un tipo especial llamado </a:t>
            </a:r>
            <a:r>
              <a:rPr b="0" i="0" lang="en-US" sz="2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solo puede tener dos valores: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DFCB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(verdadero) o </a:t>
            </a:r>
            <a:r>
              <a:rPr b="1" i="0" lang="en-US" sz="2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(falso). </a:t>
            </a:r>
            <a:endParaRPr b="1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escribe con la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primera letra en mayúscula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Usa </a:t>
            </a:r>
            <a:r>
              <a:rPr b="1" i="0" lang="en-US" sz="24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type()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confirmar el tipo.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8640" y="424542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48640" y="4592900"/>
            <a:ext cx="11094415" cy="19907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8640" y="459290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31520" y="4730060"/>
            <a:ext cx="10820095" cy="1762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tiene_stock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esta_agotado =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print(tiene_stock)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print(type(tiene_stock))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5"/>
          <p:cNvGraphicFramePr/>
          <p:nvPr/>
        </p:nvGraphicFramePr>
        <p:xfrm>
          <a:off x="5839960" y="9694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2619100"/>
                <a:gridCol w="3367425"/>
              </a:tblGrid>
              <a:tr h="84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72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3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72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 sz="2400"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72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 sz="2400"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72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 sz="2400"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72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 sz="2400"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84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3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3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 sz="2400"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2217362"/>
            <a:ext cx="10856671" cy="868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2217362"/>
            <a:ext cx="108658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77240" y="2381954"/>
            <a:ext cx="10637215" cy="59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 &gt;= precio_audifono</a:t>
            </a:r>
            <a:endParaRPr/>
          </a:p>
        </p:txBody>
      </p:sp>
      <p:graphicFrame>
        <p:nvGraphicFramePr>
          <p:cNvPr id="168" name="Google Shape;168;p6"/>
          <p:cNvGraphicFramePr/>
          <p:nvPr/>
        </p:nvGraphicFramePr>
        <p:xfrm>
          <a:off x="7901185" y="118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1697200"/>
                <a:gridCol w="2182125"/>
              </a:tblGrid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2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2217362"/>
            <a:ext cx="10856671" cy="868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2217362"/>
            <a:ext cx="108658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77240" y="2381954"/>
            <a:ext cx="10637215" cy="59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 &gt;= precio_audifono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48640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3314642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31520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731520" y="366211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731520" y="404616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dinero disponible en la Cuenta RUT</a:t>
            </a:r>
            <a:endParaRPr/>
          </a:p>
        </p:txBody>
      </p:sp>
      <p:graphicFrame>
        <p:nvGraphicFramePr>
          <p:cNvPr id="186" name="Google Shape;186;p7"/>
          <p:cNvGraphicFramePr/>
          <p:nvPr/>
        </p:nvGraphicFramePr>
        <p:xfrm>
          <a:off x="7535119" y="408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1697200"/>
                <a:gridCol w="2182125"/>
              </a:tblGrid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2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48640" y="2217362"/>
            <a:ext cx="10856671" cy="868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2217362"/>
            <a:ext cx="108658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777240" y="2381954"/>
            <a:ext cx="10637215" cy="59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 &gt;= precio_audifono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48640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8640" y="3314642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731520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731520" y="366211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731520" y="404616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dinero disponible en la Cuenta RUT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233007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233007" y="3314642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6415887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2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6415887" y="3570327"/>
            <a:ext cx="51357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6415887" y="3943031"/>
            <a:ext cx="51357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operador — define qué tipo de comparación se hace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8"/>
          <p:cNvGraphicFramePr/>
          <p:nvPr/>
        </p:nvGraphicFramePr>
        <p:xfrm>
          <a:off x="7535119" y="408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1697200"/>
                <a:gridCol w="2182125"/>
              </a:tblGrid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2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" y="2217362"/>
            <a:ext cx="10856671" cy="868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2217362"/>
            <a:ext cx="108658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777240" y="2381954"/>
            <a:ext cx="10637215" cy="59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 &gt;= precio_audifono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48640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48640" y="3314642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731520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731520" y="366211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</a:t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731520" y="404616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dinero disponible en la Cuenta RUT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233007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233007" y="3314642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415887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2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6415887" y="3570327"/>
            <a:ext cx="51357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6415887" y="3943031"/>
            <a:ext cx="51357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operador — define qué tipo de comparación se hace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48640" y="477768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" y="4777682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731520" y="485083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3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731520" y="512515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precio_audifono</a:t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731520" y="550920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precio del artículo que queremos comprar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9"/>
          <p:cNvGraphicFramePr/>
          <p:nvPr/>
        </p:nvGraphicFramePr>
        <p:xfrm>
          <a:off x="7535119" y="408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1697200"/>
                <a:gridCol w="2182125"/>
              </a:tblGrid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2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548640" y="868680"/>
            <a:ext cx="110944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Operadores de comparación: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48640" y="2217362"/>
            <a:ext cx="10856671" cy="868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48640" y="2217362"/>
            <a:ext cx="108658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777240" y="2381954"/>
            <a:ext cx="10637215" cy="594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 &gt;= precio_audifono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548640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8640" y="3314642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731520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731520" y="366211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saldo_cuenta_rut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731520" y="404616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dinero disponible en la Cuenta RUT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233007" y="331464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233007" y="3314642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6415887" y="338779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2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6415887" y="3570327"/>
            <a:ext cx="51357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6415887" y="3943031"/>
            <a:ext cx="51357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operador — define qué tipo de comparación se hace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48640" y="477768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48640" y="4777682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731520" y="485083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3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731520" y="512515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precio_audifono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731520" y="550920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precio del artículo que queremos comprar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33007" y="4777682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233007" y="4777682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6415887" y="4850834"/>
            <a:ext cx="5135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PARTE 4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6415887" y="5125154"/>
            <a:ext cx="513572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Resultado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6415887" y="5509202"/>
            <a:ext cx="51357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siempre </a:t>
            </a: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nunca otro valor</a:t>
            </a:r>
            <a:endParaRPr/>
          </a:p>
        </p:txBody>
      </p:sp>
      <p:graphicFrame>
        <p:nvGraphicFramePr>
          <p:cNvPr id="270" name="Google Shape;270;p10"/>
          <p:cNvGraphicFramePr/>
          <p:nvPr/>
        </p:nvGraphicFramePr>
        <p:xfrm>
          <a:off x="7535119" y="408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1697200"/>
                <a:gridCol w="2182125"/>
              </a:tblGrid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Operador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Significado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Igual</a:t>
                      </a:r>
                      <a:endParaRPr sz="2000" u="none" cap="none" strike="noStrike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Distinto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37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Mayor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46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FCB"/>
                        </a:buClr>
                        <a:buSzPts val="2000"/>
                        <a:buFont typeface="Consola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Menor e Igual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Operadores == != &gt;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Comparando saldo_cuenta_rut = 45000 con precio = 60000.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==</a:t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== 60000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False — no son iguales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!=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!= 60000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 — sí son distintos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&gt; 60000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False — el saldo no supera el precio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Operadores &lt; &gt;= &lt;=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Comparando saldo_cuenta_rut = 45000 con precio = 60000.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&lt; 60000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 — el saldo es menor al precio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&gt;=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&gt;= 60000</a:t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False — el saldo no alcanza el precio</a:t>
            </a:r>
            <a:endParaRPr/>
          </a:p>
        </p:txBody>
      </p:sp>
      <p:sp>
        <p:nvSpPr>
          <p:cNvPr id="326" name="Google Shape;326;p12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&lt;=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45000 &lt;= 60000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 — el saldo está bajo o igual al precio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3. La función `bool()`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48640" y="1508760"/>
            <a:ext cx="11094415" cy="264402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48640" y="1508760"/>
            <a:ext cx="73152" cy="264402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777240" y="1901951"/>
            <a:ext cx="107286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bool()</a:t>
            </a: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convierte un número en su valor booleano. </a:t>
            </a:r>
            <a:endParaRPr b="0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0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 convierte en </a:t>
            </a:r>
            <a:r>
              <a:rPr b="0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b="0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Cualquier otro número se convierte en </a:t>
            </a:r>
            <a:r>
              <a:rPr b="0" lang="en-US" sz="2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548640" y="431737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548640" y="4664846"/>
            <a:ext cx="11094415" cy="191883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548640" y="4664846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731520" y="4802006"/>
            <a:ext cx="1082009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print(bool(0))    # False — cero es siempre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print(bool(150))  # True — cualquier otro número es True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357" name="Google Shape;357;p1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358" name="Google Shape;358;p1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4. Booleanos en la vida real</a:t>
            </a:r>
            <a:endParaRPr/>
          </a:p>
        </p:txBody>
      </p:sp>
      <p:sp>
        <p:nvSpPr>
          <p:cNvPr id="359" name="Google Shape;359;p14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te preguntas tú, Python lo resuelve con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548640" y="2011680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🌍  Vida real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6172200" y="2011680"/>
            <a:ext cx="54708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🐍  En Python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48640" y="2423160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713232" y="2496312"/>
            <a:ext cx="48920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¿Te alcanza el saldo para el artículo?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5715000" y="24231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6172200" y="2423160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6172200" y="2423160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6336792" y="2496312"/>
            <a:ext cx="5196535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saldo &gt;= precio → True o False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548640" y="3310128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548640" y="3310128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713232" y="3383280"/>
            <a:ext cx="48920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¿Hay unidades disponibles en la tienda?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5715000" y="3310128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6172200" y="3310128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6172200" y="3310128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6336792" y="3383280"/>
            <a:ext cx="5196535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unidades != 0 → True o False</a:t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548640" y="4197096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48640" y="4197096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713232" y="4270248"/>
            <a:ext cx="48920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¿El envío llega en 5 días o menos?</a:t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5715000" y="4197096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6172200" y="4197096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172200" y="4197096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 txBox="1"/>
          <p:nvPr/>
        </p:nvSpPr>
        <p:spPr>
          <a:xfrm>
            <a:off x="6336792" y="4270248"/>
            <a:ext cx="5196535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dias_envio &lt;= 5 → True o False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8a</a:t>
            </a:r>
            <a:endParaRPr/>
          </a:p>
        </p:txBody>
      </p:sp>
      <p:sp>
        <p:nvSpPr>
          <p:cNvPr id="390" name="Google Shape;390;p1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392" name="Google Shape;392;p15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{0158A70E-6694-484C-BD1E-8ADB1372D385}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Escribir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</a:t>
                      </a: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minúscula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NameError: name 'true' is not defined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Siempre con mayúscula: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Usar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en vez de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 comparar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 un valor en vez de comparar</a:t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 comparar, usar doble igual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Comparar </a:t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"60000" &gt;= 60000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TypeError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— texto vs número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 con </a:t>
                      </a:r>
                      <a:r>
                        <a:rPr lang="en-US" sz="24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int()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antes de comparar</a:t>
                      </a:r>
                      <a:endParaRPr sz="2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731520" y="6063585"/>
            <a:ext cx="108200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