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0" r:id="rId2"/>
    <p:sldId id="271" r:id="rId3"/>
    <p:sldId id="272" r:id="rId4"/>
    <p:sldId id="273" r:id="rId5"/>
    <p:sldId id="274" r:id="rId6"/>
    <p:sldId id="275" r:id="rId7"/>
    <p:sldId id="276" r:id="rId8"/>
    <p:sldId id="277" r:id="rId9"/>
    <p:sldId id="278" r:id="rId10"/>
    <p:sldId id="27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594360"/>
            <a:ext cx="3657600" cy="914400"/>
          </a:xfrm>
          <a:prstGeom prst="rect">
            <a:avLst/>
          </a:prstGeom>
          <a:noFill/>
        </p:spPr>
        <p:txBody>
          <a:bodyPr wrap="square" anchor="t">
            <a:spAutoFit/>
          </a:bodyPr>
          <a:lstStyle/>
          <a:p>
            <a:pPr algn="l"/>
            <a:r>
              <a:rPr sz="7600" b="1">
                <a:solidFill>
                  <a:srgbClr val="0F9B8E"/>
                </a:solidFill>
                <a:latin typeface="Consolas"/>
              </a:rPr>
              <a:t>&gt;&gt;&gt;</a:t>
            </a:r>
          </a:p>
        </p:txBody>
      </p:sp>
      <p:sp>
        <p:nvSpPr>
          <p:cNvPr id="5" name="TextBox 4"/>
          <p:cNvSpPr txBox="1"/>
          <p:nvPr/>
        </p:nvSpPr>
        <p:spPr>
          <a:xfrm>
            <a:off x="685800" y="1554480"/>
            <a:ext cx="10820095" cy="914400"/>
          </a:xfrm>
          <a:prstGeom prst="rect">
            <a:avLst/>
          </a:prstGeom>
          <a:noFill/>
        </p:spPr>
        <p:txBody>
          <a:bodyPr wrap="square" anchor="t">
            <a:spAutoFit/>
          </a:bodyPr>
          <a:lstStyle/>
          <a:p>
            <a:pPr algn="l"/>
            <a:r>
              <a:rPr sz="4000" b="1">
                <a:solidFill>
                  <a:srgbClr val="FFFFFF"/>
                </a:solidFill>
                <a:latin typeface="Calibri"/>
              </a:rPr>
              <a:t>Condicionales: independientes, excluyentes y anidadas</a:t>
            </a:r>
          </a:p>
        </p:txBody>
      </p:sp>
      <p:sp>
        <p:nvSpPr>
          <p:cNvPr id="6" name="TextBox 5"/>
          <p:cNvSpPr txBox="1"/>
          <p:nvPr/>
        </p:nvSpPr>
        <p:spPr>
          <a:xfrm>
            <a:off x="685800" y="2487168"/>
            <a:ext cx="10820095" cy="457200"/>
          </a:xfrm>
          <a:prstGeom prst="rect">
            <a:avLst/>
          </a:prstGeom>
          <a:noFill/>
        </p:spPr>
        <p:txBody>
          <a:bodyPr wrap="square" anchor="t">
            <a:spAutoFit/>
          </a:bodyPr>
          <a:lstStyle/>
          <a:p>
            <a:pPr algn="l"/>
            <a:r>
              <a:rPr sz="2000" b="0">
                <a:solidFill>
                  <a:srgbClr val="94A3B8"/>
                </a:solidFill>
                <a:latin typeface="Calibri"/>
              </a:rPr>
              <a:t>Hoy: varios </a:t>
            </a:r>
            <a:r>
              <a:rPr sz="2000" b="0">
                <a:solidFill>
                  <a:srgbClr val="4ADFCB"/>
                </a:solidFill>
                <a:latin typeface="Consolas"/>
              </a:rPr>
              <a:t>if</a:t>
            </a:r>
            <a:r>
              <a:rPr sz="2000" b="0">
                <a:solidFill>
                  <a:srgbClr val="94A3B8"/>
                </a:solidFill>
                <a:latin typeface="Calibri"/>
              </a:rPr>
              <a:t> independientes seguidos, contrastados explícitamente con </a:t>
            </a:r>
            <a:r>
              <a:rPr sz="2000" b="0">
                <a:solidFill>
                  <a:srgbClr val="4ADFCB"/>
                </a:solidFill>
                <a:latin typeface="Consolas"/>
              </a:rPr>
              <a:t>elif</a:t>
            </a:r>
            <a:r>
              <a:rPr sz="2000" b="0">
                <a:solidFill>
                  <a:srgbClr val="94A3B8"/>
                </a:solidFill>
                <a:latin typeface="Calibri"/>
              </a:rPr>
              <a:t> y con el anidamiento; probar el valor del borde como hábito de verificación</a:t>
            </a:r>
          </a:p>
        </p:txBody>
      </p:sp>
      <p:sp>
        <p:nvSpPr>
          <p:cNvPr id="7" name="TextBox 6"/>
          <p:cNvSpPr txBox="1"/>
          <p:nvPr/>
        </p:nvSpPr>
        <p:spPr>
          <a:xfrm>
            <a:off x="685800" y="3035808"/>
            <a:ext cx="10820095" cy="365760"/>
          </a:xfrm>
          <a:prstGeom prst="rect">
            <a:avLst/>
          </a:prstGeom>
          <a:noFill/>
        </p:spPr>
        <p:txBody>
          <a:bodyPr wrap="square" anchor="t">
            <a:spAutoFit/>
          </a:bodyPr>
          <a:lstStyle/>
          <a:p>
            <a:pPr algn="l"/>
            <a:r>
              <a:rPr sz="1400" b="1">
                <a:solidFill>
                  <a:srgbClr val="0F9B8E"/>
                </a:solidFill>
                <a:latin typeface="Calibri"/>
              </a:rPr>
              <a:t>Clase 19.5</a:t>
            </a:r>
          </a:p>
        </p:txBody>
      </p:sp>
      <p:sp>
        <p:nvSpPr>
          <p:cNvPr id="8" name="Rectangle 7"/>
          <p:cNvSpPr/>
          <p:nvPr/>
        </p:nvSpPr>
        <p:spPr>
          <a:xfrm>
            <a:off x="685800" y="3749039"/>
            <a:ext cx="10820095" cy="192024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3749039"/>
            <a:ext cx="73152" cy="19202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822191"/>
            <a:ext cx="10362895" cy="365760"/>
          </a:xfrm>
          <a:prstGeom prst="rect">
            <a:avLst/>
          </a:prstGeom>
          <a:noFill/>
        </p:spPr>
        <p:txBody>
          <a:bodyPr wrap="square" anchor="t">
            <a:spAutoFit/>
          </a:bodyPr>
          <a:lstStyle/>
          <a:p>
            <a:pPr algn="l"/>
            <a:r>
              <a:rPr sz="1800" b="1">
                <a:solidFill>
                  <a:srgbClr val="F5A623"/>
                </a:solidFill>
                <a:latin typeface="Calibri"/>
              </a:rPr>
              <a:t>Mensaje de hoy</a:t>
            </a:r>
          </a:p>
        </p:txBody>
      </p:sp>
      <p:sp>
        <p:nvSpPr>
          <p:cNvPr id="11" name="TextBox 10"/>
          <p:cNvSpPr txBox="1"/>
          <p:nvPr/>
        </p:nvSpPr>
        <p:spPr>
          <a:xfrm>
            <a:off x="914400" y="4251960"/>
            <a:ext cx="10362895" cy="1325880"/>
          </a:xfrm>
          <a:prstGeom prst="rect">
            <a:avLst/>
          </a:prstGeom>
          <a:noFill/>
        </p:spPr>
        <p:txBody>
          <a:bodyPr wrap="square" anchor="t">
            <a:spAutoFit/>
          </a:bodyPr>
          <a:lstStyle/>
          <a:p>
            <a:pPr algn="l"/>
            <a:r>
              <a:rPr sz="2200" b="0">
                <a:solidFill>
                  <a:srgbClr val="FFFFFF"/>
                </a:solidFill>
                <a:latin typeface="Calibri"/>
              </a:rPr>
              <a:t>La rigurosidad es revisar justo el caso donde algo puede fallar, en vez de confiar en que salió bien porque funcionó una vez. Hoy desbloqueas una herramienta nueva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274320"/>
            <a:ext cx="10820095" cy="411480"/>
          </a:xfrm>
          <a:prstGeom prst="rect">
            <a:avLst/>
          </a:prstGeom>
          <a:noFill/>
        </p:spPr>
        <p:txBody>
          <a:bodyPr wrap="square" anchor="t">
            <a:spAutoFit/>
          </a:bodyPr>
          <a:lstStyle/>
          <a:p>
            <a:pPr algn="l"/>
            <a:r>
              <a:rPr sz="1600" b="0">
                <a:solidFill>
                  <a:srgbClr val="0F9B8E"/>
                </a:solidFill>
                <a:latin typeface="Consolas"/>
              </a:rPr>
              <a:t>&gt;&gt;&gt; Clase 19.5 - Condicionales: independientes, excluyentes y anidadas</a:t>
            </a:r>
          </a:p>
        </p:txBody>
      </p:sp>
      <p:sp>
        <p:nvSpPr>
          <p:cNvPr id="5" name="Rectangle 4"/>
          <p:cNvSpPr/>
          <p:nvPr/>
        </p:nvSpPr>
        <p:spPr>
          <a:xfrm>
            <a:off x="685800" y="914400"/>
            <a:ext cx="5349240" cy="283464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914400"/>
            <a:ext cx="73152" cy="2834640"/>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005840"/>
            <a:ext cx="5029200" cy="365760"/>
          </a:xfrm>
          <a:prstGeom prst="rect">
            <a:avLst/>
          </a:prstGeom>
          <a:noFill/>
        </p:spPr>
        <p:txBody>
          <a:bodyPr wrap="square" anchor="t">
            <a:spAutoFit/>
          </a:bodyPr>
          <a:lstStyle/>
          <a:p>
            <a:pPr algn="l"/>
            <a:r>
              <a:rPr sz="1800" b="1">
                <a:solidFill>
                  <a:srgbClr val="0F9B8E"/>
                </a:solidFill>
                <a:latin typeface="Calibri"/>
              </a:rPr>
              <a:t>📘  Objetivo</a:t>
            </a:r>
          </a:p>
        </p:txBody>
      </p:sp>
      <p:sp>
        <p:nvSpPr>
          <p:cNvPr id="8" name="TextBox 7"/>
          <p:cNvSpPr txBox="1"/>
          <p:nvPr/>
        </p:nvSpPr>
        <p:spPr>
          <a:xfrm>
            <a:off x="914400" y="1417320"/>
            <a:ext cx="5029200" cy="2240280"/>
          </a:xfrm>
          <a:prstGeom prst="rect">
            <a:avLst/>
          </a:prstGeom>
          <a:noFill/>
        </p:spPr>
        <p:txBody>
          <a:bodyPr wrap="square" anchor="t">
            <a:normAutofit/>
          </a:bodyPr>
          <a:lstStyle/>
          <a:p>
            <a:pPr algn="l"/>
            <a:r>
              <a:rPr sz="2200" b="0">
                <a:solidFill>
                  <a:srgbClr val="FFFFFF"/>
                </a:solidFill>
                <a:latin typeface="Calibri"/>
              </a:rPr>
              <a:t>Distinguir si dos condiciones son independientes, excluyentes o dependientes, escribir la forma de </a:t>
            </a:r>
            <a:r>
              <a:rPr sz="2200" b="0">
                <a:solidFill>
                  <a:srgbClr val="4ADFCB"/>
                </a:solidFill>
                <a:latin typeface="Consolas"/>
              </a:rPr>
              <a:t>if</a:t>
            </a:r>
            <a:r>
              <a:rPr sz="2200" b="0">
                <a:solidFill>
                  <a:srgbClr val="FFFFFF"/>
                </a:solidFill>
                <a:latin typeface="Calibri"/>
              </a:rPr>
              <a:t> que corresponde a cada caso y comprobarla en el valor del borde, con rigurosidad.</a:t>
            </a:r>
          </a:p>
        </p:txBody>
      </p:sp>
      <p:sp>
        <p:nvSpPr>
          <p:cNvPr id="9" name="Rectangle 8"/>
          <p:cNvSpPr/>
          <p:nvPr/>
        </p:nvSpPr>
        <p:spPr>
          <a:xfrm>
            <a:off x="6263640" y="914400"/>
            <a:ext cx="5349240" cy="283464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914400"/>
            <a:ext cx="73152" cy="2834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005840"/>
            <a:ext cx="5029200" cy="365760"/>
          </a:xfrm>
          <a:prstGeom prst="rect">
            <a:avLst/>
          </a:prstGeom>
          <a:noFill/>
        </p:spPr>
        <p:txBody>
          <a:bodyPr wrap="square" anchor="t">
            <a:spAutoFit/>
          </a:bodyPr>
          <a:lstStyle/>
          <a:p>
            <a:pPr algn="l"/>
            <a:r>
              <a:rPr sz="1800" b="1">
                <a:solidFill>
                  <a:srgbClr val="F5A623"/>
                </a:solidFill>
                <a:latin typeface="Calibri"/>
              </a:rPr>
              <a:t>💡  Propósito</a:t>
            </a:r>
          </a:p>
        </p:txBody>
      </p:sp>
      <p:sp>
        <p:nvSpPr>
          <p:cNvPr id="12" name="TextBox 11"/>
          <p:cNvSpPr txBox="1"/>
          <p:nvPr/>
        </p:nvSpPr>
        <p:spPr>
          <a:xfrm>
            <a:off x="6492240" y="1417320"/>
            <a:ext cx="5029200" cy="2240280"/>
          </a:xfrm>
          <a:prstGeom prst="rect">
            <a:avLst/>
          </a:prstGeom>
          <a:noFill/>
        </p:spPr>
        <p:txBody>
          <a:bodyPr wrap="square" anchor="t">
            <a:normAutofit/>
          </a:bodyPr>
          <a:lstStyle/>
          <a:p>
            <a:pPr algn="l"/>
            <a:r>
              <a:rPr sz="2200" b="0">
                <a:solidFill>
                  <a:srgbClr val="FFFFFF"/>
                </a:solidFill>
                <a:latin typeface="Calibri"/>
              </a:rPr>
              <a:t>La rigurosidad es revisar justo el caso donde algo puede fallar, en vez de confiar en que salió bien porque funcionó una vez. Hoy la practicamos probando el valor exacto del borde de cada condición.</a:t>
            </a:r>
          </a:p>
        </p:txBody>
      </p:sp>
      <p:sp>
        <p:nvSpPr>
          <p:cNvPr id="13" name="Rectangle 12"/>
          <p:cNvSpPr/>
          <p:nvPr/>
        </p:nvSpPr>
        <p:spPr>
          <a:xfrm>
            <a:off x="685800" y="3931920"/>
            <a:ext cx="10820095" cy="265176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3931920"/>
            <a:ext cx="73152" cy="2651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023359"/>
            <a:ext cx="10362895" cy="411480"/>
          </a:xfrm>
          <a:prstGeom prst="rect">
            <a:avLst/>
          </a:prstGeom>
          <a:noFill/>
        </p:spPr>
        <p:txBody>
          <a:bodyPr wrap="square" anchor="t">
            <a:spAutoFit/>
          </a:bodyPr>
          <a:lstStyle/>
          <a:p>
            <a:pPr algn="l"/>
            <a:r>
              <a:rPr sz="1800" b="1">
                <a:solidFill>
                  <a:srgbClr val="02C39A"/>
                </a:solidFill>
                <a:latin typeface="Calibri"/>
              </a:rPr>
              <a:t>☝ Reglas de ahora en adelante</a:t>
            </a:r>
          </a:p>
        </p:txBody>
      </p:sp>
      <p:sp>
        <p:nvSpPr>
          <p:cNvPr id="16" name="TextBox 15"/>
          <p:cNvSpPr txBox="1"/>
          <p:nvPr/>
        </p:nvSpPr>
        <p:spPr>
          <a:xfrm>
            <a:off x="914400" y="4480559"/>
            <a:ext cx="10362895" cy="2011680"/>
          </a:xfrm>
          <a:prstGeom prst="rect">
            <a:avLst/>
          </a:prstGeom>
          <a:noFill/>
        </p:spPr>
        <p:txBody>
          <a:bodyPr wrap="square" anchor="t">
            <a:normAutofit/>
          </a:bodyPr>
          <a:lstStyle/>
          <a:p>
            <a:pPr algn="l"/>
            <a:r>
              <a:rPr sz="2200" b="0">
                <a:solidFill>
                  <a:srgbClr val="FFFFFF"/>
                </a:solidFill>
                <a:latin typeface="Calibri"/>
              </a:rPr>
              <a:t>🦻 No ocupen audífonos.</a:t>
            </a:r>
          </a:p>
          <a:p>
            <a:pPr algn="l"/>
            <a:r>
              <a:rPr sz="2200" b="0">
                <a:solidFill>
                  <a:srgbClr val="FFFFFF"/>
                </a:solidFill>
                <a:latin typeface="Calibri"/>
              </a:rPr>
              <a:t>📓 Todo comando nuevo va al cuaderno.</a:t>
            </a:r>
          </a:p>
          <a:p>
            <a:pPr algn="l"/>
            <a:r>
              <a:rPr sz="2200" b="0">
                <a:solidFill>
                  <a:srgbClr val="FFFFFF"/>
                </a:solidFill>
                <a:latin typeface="Calibri"/>
              </a:rPr>
              <a:t>🚫 NO hagan copiar-pegar de los comandos.</a:t>
            </a:r>
          </a:p>
          <a:p>
            <a:pPr algn="l"/>
            <a:r>
              <a:rPr sz="2200" b="0">
                <a:solidFill>
                  <a:srgbClr val="FFFFFF"/>
                </a:solidFill>
                <a:latin typeface="Calibri"/>
              </a:rPr>
              <a:t>✨ En toda evaluación podrán usar sus apuntes.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0F1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79" y="118872"/>
            <a:ext cx="5486400" cy="320040"/>
          </a:xfrm>
          <a:prstGeom prst="rect">
            <a:avLst/>
          </a:prstGeom>
          <a:noFill/>
        </p:spPr>
        <p:txBody>
          <a:bodyPr wrap="square" anchor="ctr">
            <a:spAutoFit/>
          </a:bodyPr>
          <a:lstStyle/>
          <a:p>
            <a:pPr algn="l"/>
            <a:r>
              <a:rPr sz="1200" b="0">
                <a:solidFill>
                  <a:srgbClr val="94A3B8"/>
                </a:solidFill>
                <a:latin typeface="Consolas"/>
              </a:rPr>
              <a:t>🐍 Python · Clase 19.5</a:t>
            </a:r>
          </a:p>
        </p:txBody>
      </p:sp>
      <p:sp>
        <p:nvSpPr>
          <p:cNvPr id="5" name="TextBox 4"/>
          <p:cNvSpPr txBox="1"/>
          <p:nvPr/>
        </p:nvSpPr>
        <p:spPr>
          <a:xfrm>
            <a:off x="8534095" y="118872"/>
            <a:ext cx="3200400" cy="320040"/>
          </a:xfrm>
          <a:prstGeom prst="rect">
            <a:avLst/>
          </a:prstGeom>
          <a:noFill/>
        </p:spPr>
        <p:txBody>
          <a:bodyPr wrap="square" anchor="ctr">
            <a:spAutoFit/>
          </a:bodyPr>
          <a:lstStyle/>
          <a:p>
            <a:pPr algn="r"/>
            <a:r>
              <a:rPr sz="1200" b="1">
                <a:solidFill>
                  <a:srgbClr val="0F9B8E"/>
                </a:solidFill>
                <a:latin typeface="Consolas"/>
              </a:rPr>
              <a:t>Haz Ahora</a:t>
            </a:r>
          </a:p>
        </p:txBody>
      </p:sp>
      <p:sp>
        <p:nvSpPr>
          <p:cNvPr id="6" name="TextBox 5"/>
          <p:cNvSpPr txBox="1"/>
          <p:nvPr/>
        </p:nvSpPr>
        <p:spPr>
          <a:xfrm>
            <a:off x="548640" y="566928"/>
            <a:ext cx="11094415" cy="475488"/>
          </a:xfrm>
          <a:prstGeom prst="rect">
            <a:avLst/>
          </a:prstGeom>
          <a:noFill/>
        </p:spPr>
        <p:txBody>
          <a:bodyPr wrap="square" anchor="t">
            <a:spAutoFit/>
          </a:bodyPr>
          <a:lstStyle/>
          <a:p>
            <a:pPr algn="l"/>
            <a:r>
              <a:rPr sz="3000" b="1">
                <a:solidFill>
                  <a:srgbClr val="F5A623"/>
                </a:solidFill>
                <a:latin typeface="Calibri"/>
              </a:rPr>
              <a:t>⚡ Haz Ahora &lt;&lt;7:00&gt;&gt;</a:t>
            </a:r>
          </a:p>
        </p:txBody>
      </p:sp>
      <p:sp>
        <p:nvSpPr>
          <p:cNvPr id="7" name="Rectangle 6"/>
          <p:cNvSpPr/>
          <p:nvPr/>
        </p:nvSpPr>
        <p:spPr>
          <a:xfrm>
            <a:off x="548640" y="1115568"/>
            <a:ext cx="11094415" cy="841248"/>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115568"/>
            <a:ext cx="73152" cy="84124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197864"/>
            <a:ext cx="10820095" cy="713232"/>
          </a:xfrm>
          <a:prstGeom prst="rect">
            <a:avLst/>
          </a:prstGeom>
          <a:noFill/>
        </p:spPr>
        <p:txBody>
          <a:bodyPr wrap="square" anchor="t">
            <a:spAutoFit/>
          </a:bodyPr>
          <a:lstStyle/>
          <a:p>
            <a:pPr algn="l"/>
            <a:r>
              <a:rPr sz="1700" b="0">
                <a:solidFill>
                  <a:srgbClr val="FFFFFF"/>
                </a:solidFill>
                <a:latin typeface="Calibri"/>
              </a:rPr>
              <a:t>Abre el Colab de la clase. Vas a encontrar tres programas que tienen algo mal: ejecútalos, no los adivines. Debajo de cada uno está la pregunta y el espacio para responderla.</a:t>
            </a:r>
          </a:p>
        </p:txBody>
      </p:sp>
      <p:sp>
        <p:nvSpPr>
          <p:cNvPr id="10" name="Rectangle 9"/>
          <p:cNvSpPr/>
          <p:nvPr/>
        </p:nvSpPr>
        <p:spPr>
          <a:xfrm>
            <a:off x="548640" y="2066543"/>
            <a:ext cx="11094415" cy="398678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2066543"/>
            <a:ext cx="73152" cy="3986784"/>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2203703"/>
            <a:ext cx="10820095" cy="3785616"/>
          </a:xfrm>
          <a:prstGeom prst="rect">
            <a:avLst/>
          </a:prstGeom>
          <a:noFill/>
        </p:spPr>
        <p:txBody>
          <a:bodyPr wrap="square" anchor="t">
            <a:spAutoFit/>
          </a:bodyPr>
          <a:lstStyle/>
          <a:p>
            <a:pPr algn="l"/>
            <a:r>
              <a:rPr sz="2000" b="0">
                <a:solidFill>
                  <a:srgbClr val="FFFFFF"/>
                </a:solidFill>
                <a:latin typeface="Calibri"/>
              </a:rPr>
              <a:t>1. Programa 1 — La app de hábitos de estudio: ¿qué imprime? ¿Y qué debería imprimir con una racha de 12 días?</a:t>
            </a:r>
          </a:p>
          <a:p>
            <a:pPr algn="l"/>
            <a:r>
              <a:rPr sz="2000" b="0">
                <a:solidFill>
                  <a:srgbClr val="FFFFFF"/>
                </a:solidFill>
                <a:latin typeface="Calibri"/>
              </a:rPr>
              <a:t>2. Programa 2 — El torneo de equipos: ejecútalo, cambia el puntaje a 19 y ejecútalo otra vez. ¿En cuál de los dos casos el resultado quedó equivocado?</a:t>
            </a:r>
          </a:p>
          <a:p>
            <a:pPr algn="l"/>
            <a:r>
              <a:rPr sz="2000" b="0">
                <a:solidFill>
                  <a:srgbClr val="FFFFFF"/>
                </a:solidFill>
                <a:latin typeface="Calibri"/>
              </a:rPr>
              <a:t>3. Programa 3 — La micro a Talagante: ¿cuántas líneas imprime? ¿Pueden ser verdaderas las dos al mismo tiempo?</a:t>
            </a:r>
          </a:p>
          <a:p>
            <a:pPr algn="l"/>
            <a:r>
              <a:rPr sz="2000" b="0">
                <a:solidFill>
                  <a:srgbClr val="FFFFFF"/>
                </a:solidFill>
                <a:latin typeface="Calibri"/>
              </a:rPr>
              <a:t>4. ¿Cuál de los tres te costó más? ¿Qué fue lo que te hizo darte cuenta?</a:t>
            </a:r>
          </a:p>
        </p:txBody>
      </p:sp>
      <p:sp>
        <p:nvSpPr>
          <p:cNvPr id="13" name="TextBox 12"/>
          <p:cNvSpPr txBox="1"/>
          <p:nvPr/>
        </p:nvSpPr>
        <p:spPr>
          <a:xfrm>
            <a:off x="548640" y="6163056"/>
            <a:ext cx="11094415" cy="438912"/>
          </a:xfrm>
          <a:prstGeom prst="rect">
            <a:avLst/>
          </a:prstGeom>
          <a:noFill/>
        </p:spPr>
        <p:txBody>
          <a:bodyPr wrap="square" anchor="t">
            <a:spAutoFit/>
          </a:bodyPr>
          <a:lstStyle/>
          <a:p>
            <a:pPr algn="l"/>
            <a:r>
              <a:rPr sz="1500" b="0">
                <a:solidFill>
                  <a:srgbClr val="FFFFFF"/>
                </a:solidFill>
                <a:latin typeface="Calibri"/>
              </a:rPr>
              <a:t>→ Cuando se acabe el tiempo las revisamos juntos.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0F1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79" y="118872"/>
            <a:ext cx="5486400" cy="320040"/>
          </a:xfrm>
          <a:prstGeom prst="rect">
            <a:avLst/>
          </a:prstGeom>
          <a:noFill/>
        </p:spPr>
        <p:txBody>
          <a:bodyPr wrap="square" anchor="ctr">
            <a:spAutoFit/>
          </a:bodyPr>
          <a:lstStyle/>
          <a:p>
            <a:pPr algn="l"/>
            <a:r>
              <a:rPr sz="1200" b="0">
                <a:solidFill>
                  <a:srgbClr val="94A3B8"/>
                </a:solidFill>
                <a:latin typeface="Consolas"/>
              </a:rPr>
              <a:t>🐍 Python · Clase 19.5</a:t>
            </a:r>
          </a:p>
        </p:txBody>
      </p:sp>
      <p:sp>
        <p:nvSpPr>
          <p:cNvPr id="5" name="TextBox 4"/>
          <p:cNvSpPr txBox="1"/>
          <p:nvPr/>
        </p:nvSpPr>
        <p:spPr>
          <a:xfrm>
            <a:off x="8534095" y="118872"/>
            <a:ext cx="3200400" cy="320040"/>
          </a:xfrm>
          <a:prstGeom prst="rect">
            <a:avLst/>
          </a:prstGeom>
          <a:noFill/>
        </p:spPr>
        <p:txBody>
          <a:bodyPr wrap="square" anchor="ctr">
            <a:spAutoFit/>
          </a:bodyPr>
          <a:lstStyle/>
          <a:p>
            <a:pPr algn="r"/>
            <a:r>
              <a:rPr sz="1200" b="1">
                <a:solidFill>
                  <a:srgbClr val="0F9B8E"/>
                </a:solidFill>
                <a:latin typeface="Consolas"/>
              </a:rPr>
              <a:t>Contenido nuevo</a:t>
            </a:r>
          </a:p>
        </p:txBody>
      </p:sp>
      <p:sp>
        <p:nvSpPr>
          <p:cNvPr id="6" name="TextBox 5"/>
          <p:cNvSpPr txBox="1"/>
          <p:nvPr/>
        </p:nvSpPr>
        <p:spPr>
          <a:xfrm>
            <a:off x="548640" y="868680"/>
            <a:ext cx="11094415" cy="685800"/>
          </a:xfrm>
          <a:prstGeom prst="rect">
            <a:avLst/>
          </a:prstGeom>
          <a:noFill/>
        </p:spPr>
        <p:txBody>
          <a:bodyPr wrap="square" anchor="t">
            <a:spAutoFit/>
          </a:bodyPr>
          <a:lstStyle/>
          <a:p>
            <a:pPr algn="l"/>
            <a:r>
              <a:rPr sz="3200" b="1">
                <a:solidFill>
                  <a:srgbClr val="FFFFFF"/>
                </a:solidFill>
                <a:latin typeface="Calibri"/>
              </a:rPr>
              <a:t>📘 1. Independientes — varios `if` seguidos</a:t>
            </a:r>
          </a:p>
        </p:txBody>
      </p:sp>
      <p:sp>
        <p:nvSpPr>
          <p:cNvPr id="7" name="Rectangle 6"/>
          <p:cNvSpPr/>
          <p:nvPr/>
        </p:nvSpPr>
        <p:spPr>
          <a:xfrm>
            <a:off x="548640" y="1444752"/>
            <a:ext cx="11094415" cy="1042416"/>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44752"/>
            <a:ext cx="73152" cy="1042416"/>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36192"/>
            <a:ext cx="10728655" cy="347472"/>
          </a:xfrm>
          <a:prstGeom prst="rect">
            <a:avLst/>
          </a:prstGeom>
          <a:noFill/>
        </p:spPr>
        <p:txBody>
          <a:bodyPr wrap="square" anchor="t">
            <a:spAutoFit/>
          </a:bodyPr>
          <a:lstStyle/>
          <a:p>
            <a:pPr algn="l"/>
            <a:r>
              <a:rPr sz="1800" b="1">
                <a:solidFill>
                  <a:srgbClr val="0F9B8E"/>
                </a:solidFill>
                <a:latin typeface="Calibri"/>
              </a:rPr>
              <a:t>📘  Definición</a:t>
            </a:r>
          </a:p>
        </p:txBody>
      </p:sp>
      <p:sp>
        <p:nvSpPr>
          <p:cNvPr id="10" name="TextBox 9"/>
          <p:cNvSpPr txBox="1"/>
          <p:nvPr/>
        </p:nvSpPr>
        <p:spPr>
          <a:xfrm>
            <a:off x="777240" y="1837943"/>
            <a:ext cx="10728655" cy="557784"/>
          </a:xfrm>
          <a:prstGeom prst="rect">
            <a:avLst/>
          </a:prstGeom>
          <a:noFill/>
        </p:spPr>
        <p:txBody>
          <a:bodyPr wrap="square" anchor="t">
            <a:spAutoFit/>
          </a:bodyPr>
          <a:lstStyle/>
          <a:p>
            <a:pPr algn="l"/>
            <a:r>
              <a:rPr sz="1800" b="0">
                <a:solidFill>
                  <a:srgbClr val="FFFFFF"/>
                </a:solidFill>
                <a:latin typeface="Calibri"/>
              </a:rPr>
              <a:t>Cuando dos preguntas no tienen nada que ver entre sí, cada una va en su propio </a:t>
            </a:r>
            <a:r>
              <a:rPr sz="1800" b="0">
                <a:solidFill>
                  <a:srgbClr val="4ADFCB"/>
                </a:solidFill>
                <a:latin typeface="Consolas"/>
              </a:rPr>
              <a:t>if</a:t>
            </a:r>
            <a:r>
              <a:rPr sz="1800" b="0">
                <a:solidFill>
                  <a:srgbClr val="FFFFFF"/>
                </a:solidFill>
                <a:latin typeface="Calibri"/>
              </a:rPr>
              <a:t>. Python revisa todos, uno por uno, sin que el resultado de uno afecte al siguiente.</a:t>
            </a:r>
          </a:p>
        </p:txBody>
      </p:sp>
      <p:sp>
        <p:nvSpPr>
          <p:cNvPr id="11" name="TextBox 10"/>
          <p:cNvSpPr txBox="1"/>
          <p:nvPr/>
        </p:nvSpPr>
        <p:spPr>
          <a:xfrm>
            <a:off x="548640" y="2596896"/>
            <a:ext cx="4572000" cy="347472"/>
          </a:xfrm>
          <a:prstGeom prst="rect">
            <a:avLst/>
          </a:prstGeom>
          <a:noFill/>
        </p:spPr>
        <p:txBody>
          <a:bodyPr wrap="square" anchor="t">
            <a:spAutoFit/>
          </a:bodyPr>
          <a:lstStyle/>
          <a:p>
            <a:pPr algn="l"/>
            <a:r>
              <a:rPr sz="1800" b="1">
                <a:solidFill>
                  <a:srgbClr val="F5A623"/>
                </a:solidFill>
                <a:latin typeface="Calibri"/>
              </a:rPr>
              <a:t>💻  Ejemplo</a:t>
            </a:r>
          </a:p>
        </p:txBody>
      </p:sp>
      <p:sp>
        <p:nvSpPr>
          <p:cNvPr id="12" name="Rectangle 11"/>
          <p:cNvSpPr/>
          <p:nvPr/>
        </p:nvSpPr>
        <p:spPr>
          <a:xfrm>
            <a:off x="548640" y="2944368"/>
            <a:ext cx="11094415" cy="28448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944368"/>
            <a:ext cx="11094415" cy="91440"/>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081528"/>
            <a:ext cx="10820095" cy="2616200"/>
          </a:xfrm>
          <a:prstGeom prst="rect">
            <a:avLst/>
          </a:prstGeom>
          <a:noFill/>
        </p:spPr>
        <p:txBody>
          <a:bodyPr wrap="square" anchor="t">
            <a:spAutoFit/>
          </a:bodyPr>
          <a:lstStyle/>
          <a:p>
            <a:pPr algn="l"/>
            <a:r>
              <a:rPr sz="1600" b="0">
                <a:solidFill>
                  <a:srgbClr val="4ADFCB"/>
                </a:solidFill>
                <a:latin typeface="Consolas"/>
              </a:rPr>
              <a:t>  bateria_baja = True</a:t>
            </a:r>
          </a:p>
          <a:p>
            <a:pPr algn="l"/>
            <a:r>
              <a:rPr sz="1600" b="0">
                <a:solidFill>
                  <a:srgbClr val="4ADFCB"/>
                </a:solidFill>
                <a:latin typeface="Consolas"/>
              </a:rPr>
              <a:t>  hay_wifi_disponible = True</a:t>
            </a:r>
          </a:p>
          <a:p>
            <a:pPr algn="l"/>
            <a:endParaRPr sz="1600" b="0">
              <a:solidFill>
                <a:srgbClr val="4ADFCB"/>
              </a:solidFill>
              <a:latin typeface="Consolas"/>
            </a:endParaRPr>
          </a:p>
          <a:p>
            <a:pPr algn="l"/>
            <a:r>
              <a:rPr sz="1600" b="0">
                <a:solidFill>
                  <a:srgbClr val="4ADFCB"/>
                </a:solidFill>
                <a:latin typeface="Consolas"/>
              </a:rPr>
              <a:t>  if bateria_baja == True:</a:t>
            </a:r>
          </a:p>
          <a:p>
            <a:pPr algn="l"/>
            <a:r>
              <a:rPr sz="1600" b="0">
                <a:solidFill>
                  <a:srgbClr val="4ADFCB"/>
                </a:solidFill>
                <a:latin typeface="Consolas"/>
              </a:rPr>
              <a:t>      print("Queda poca batería.")</a:t>
            </a:r>
          </a:p>
          <a:p>
            <a:pPr algn="l"/>
            <a:r>
              <a:rPr sz="1600" b="0">
                <a:solidFill>
                  <a:srgbClr val="4ADFCB"/>
                </a:solidFill>
                <a:latin typeface="Consolas"/>
              </a:rPr>
              <a:t>  &gt;&gt; Queda poca batería.</a:t>
            </a:r>
          </a:p>
          <a:p>
            <a:pPr algn="l"/>
            <a:endParaRPr sz="1600" b="0">
              <a:solidFill>
                <a:srgbClr val="4ADFCB"/>
              </a:solidFill>
              <a:latin typeface="Consolas"/>
            </a:endParaRPr>
          </a:p>
          <a:p>
            <a:pPr algn="l"/>
            <a:r>
              <a:rPr sz="1600" b="0">
                <a:solidFill>
                  <a:srgbClr val="4ADFCB"/>
                </a:solidFill>
                <a:latin typeface="Consolas"/>
              </a:rPr>
              <a:t>  if hay_wifi_disponible == True:</a:t>
            </a:r>
          </a:p>
          <a:p>
            <a:pPr algn="l"/>
            <a:r>
              <a:rPr sz="1600" b="0">
                <a:solidFill>
                  <a:srgbClr val="4ADFCB"/>
                </a:solidFill>
                <a:latin typeface="Consolas"/>
              </a:rPr>
              <a:t>      print("Hay wifi disponible.")</a:t>
            </a:r>
          </a:p>
          <a:p>
            <a:pPr algn="l"/>
            <a:r>
              <a:rPr sz="1600" b="0">
                <a:solidFill>
                  <a:srgbClr val="4ADFCB"/>
                </a:solidFill>
                <a:latin typeface="Consolas"/>
              </a:rPr>
              <a:t>  &gt;&gt; Hay wifi disponible.</a:t>
            </a:r>
          </a:p>
        </p:txBody>
      </p:sp>
      <p:sp>
        <p:nvSpPr>
          <p:cNvPr id="15" name="Rectangle 14"/>
          <p:cNvSpPr/>
          <p:nvPr/>
        </p:nvSpPr>
        <p:spPr>
          <a:xfrm>
            <a:off x="548640" y="5898896"/>
            <a:ext cx="11094415" cy="794511"/>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5898896"/>
            <a:ext cx="73152" cy="794511"/>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5972048"/>
            <a:ext cx="10728655" cy="347472"/>
          </a:xfrm>
          <a:prstGeom prst="rect">
            <a:avLst/>
          </a:prstGeom>
          <a:noFill/>
        </p:spPr>
        <p:txBody>
          <a:bodyPr wrap="square" anchor="t">
            <a:spAutoFit/>
          </a:bodyPr>
          <a:lstStyle/>
          <a:p>
            <a:pPr algn="l"/>
            <a:r>
              <a:rPr sz="1800" b="1">
                <a:solidFill>
                  <a:srgbClr val="F5A623"/>
                </a:solidFill>
                <a:latin typeface="Calibri"/>
              </a:rPr>
              <a:t>💡  Idea clave</a:t>
            </a:r>
          </a:p>
        </p:txBody>
      </p:sp>
      <p:sp>
        <p:nvSpPr>
          <p:cNvPr id="18" name="TextBox 17"/>
          <p:cNvSpPr txBox="1"/>
          <p:nvPr/>
        </p:nvSpPr>
        <p:spPr>
          <a:xfrm>
            <a:off x="777240" y="6292088"/>
            <a:ext cx="10728655" cy="355599"/>
          </a:xfrm>
          <a:prstGeom prst="rect">
            <a:avLst/>
          </a:prstGeom>
          <a:noFill/>
        </p:spPr>
        <p:txBody>
          <a:bodyPr wrap="square" anchor="ctr">
            <a:spAutoFit/>
          </a:bodyPr>
          <a:lstStyle/>
          <a:p>
            <a:pPr algn="l"/>
            <a:r>
              <a:rPr sz="2000" b="0">
                <a:solidFill>
                  <a:srgbClr val="FFFFFF"/>
                </a:solidFill>
                <a:latin typeface="Calibri"/>
              </a:rPr>
              <a:t>Cada </a:t>
            </a:r>
            <a:r>
              <a:rPr sz="2000" b="0">
                <a:solidFill>
                  <a:srgbClr val="4ADFCB"/>
                </a:solidFill>
                <a:latin typeface="Consolas"/>
              </a:rPr>
              <a:t>if</a:t>
            </a:r>
            <a:r>
              <a:rPr sz="2000" b="0">
                <a:solidFill>
                  <a:srgbClr val="FFFFFF"/>
                </a:solidFill>
                <a:latin typeface="Calibri"/>
              </a:rPr>
              <a:t> se revisa por su cuenta. Pueden cumplirse los dos, uno solo o ninguno.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0F1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79" y="118872"/>
            <a:ext cx="5486400" cy="320040"/>
          </a:xfrm>
          <a:prstGeom prst="rect">
            <a:avLst/>
          </a:prstGeom>
          <a:noFill/>
        </p:spPr>
        <p:txBody>
          <a:bodyPr wrap="square" anchor="ctr">
            <a:spAutoFit/>
          </a:bodyPr>
          <a:lstStyle/>
          <a:p>
            <a:pPr algn="l"/>
            <a:r>
              <a:rPr sz="1200" b="0">
                <a:solidFill>
                  <a:srgbClr val="94A3B8"/>
                </a:solidFill>
                <a:latin typeface="Consolas"/>
              </a:rPr>
              <a:t>🐍 Python · Clase 19.5</a:t>
            </a:r>
          </a:p>
        </p:txBody>
      </p:sp>
      <p:sp>
        <p:nvSpPr>
          <p:cNvPr id="5" name="TextBox 4"/>
          <p:cNvSpPr txBox="1"/>
          <p:nvPr/>
        </p:nvSpPr>
        <p:spPr>
          <a:xfrm>
            <a:off x="8534095" y="118872"/>
            <a:ext cx="3200400" cy="320040"/>
          </a:xfrm>
          <a:prstGeom prst="rect">
            <a:avLst/>
          </a:prstGeom>
          <a:noFill/>
        </p:spPr>
        <p:txBody>
          <a:bodyPr wrap="square" anchor="ctr">
            <a:spAutoFit/>
          </a:bodyPr>
          <a:lstStyle/>
          <a:p>
            <a:pPr algn="r"/>
            <a:r>
              <a:rPr sz="1200" b="1">
                <a:solidFill>
                  <a:srgbClr val="0F9B8E"/>
                </a:solidFill>
                <a:latin typeface="Consolas"/>
              </a:rPr>
              <a:t>Contenido nuevo</a:t>
            </a:r>
          </a:p>
        </p:txBody>
      </p:sp>
      <p:sp>
        <p:nvSpPr>
          <p:cNvPr id="6" name="TextBox 5"/>
          <p:cNvSpPr txBox="1"/>
          <p:nvPr/>
        </p:nvSpPr>
        <p:spPr>
          <a:xfrm>
            <a:off x="548640" y="868680"/>
            <a:ext cx="11094415" cy="685800"/>
          </a:xfrm>
          <a:prstGeom prst="rect">
            <a:avLst/>
          </a:prstGeom>
          <a:noFill/>
        </p:spPr>
        <p:txBody>
          <a:bodyPr wrap="square" anchor="t">
            <a:spAutoFit/>
          </a:bodyPr>
          <a:lstStyle/>
          <a:p>
            <a:pPr algn="l"/>
            <a:r>
              <a:rPr sz="3200" b="1">
                <a:solidFill>
                  <a:srgbClr val="FFFFFF"/>
                </a:solidFill>
                <a:latin typeface="Calibri"/>
              </a:rPr>
              <a:t>📘 2. Excluyentes — `if / elif / else`, y el orden decide</a:t>
            </a:r>
          </a:p>
        </p:txBody>
      </p:sp>
      <p:sp>
        <p:nvSpPr>
          <p:cNvPr id="7" name="Rectangle 6"/>
          <p:cNvSpPr/>
          <p:nvPr/>
        </p:nvSpPr>
        <p:spPr>
          <a:xfrm>
            <a:off x="548640" y="1444752"/>
            <a:ext cx="11094415" cy="98044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44752"/>
            <a:ext cx="73152" cy="980440"/>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36192"/>
            <a:ext cx="10728655" cy="347472"/>
          </a:xfrm>
          <a:prstGeom prst="rect">
            <a:avLst/>
          </a:prstGeom>
          <a:noFill/>
        </p:spPr>
        <p:txBody>
          <a:bodyPr wrap="square" anchor="t">
            <a:spAutoFit/>
          </a:bodyPr>
          <a:lstStyle/>
          <a:p>
            <a:pPr algn="l"/>
            <a:r>
              <a:rPr sz="1800" b="1">
                <a:solidFill>
                  <a:srgbClr val="0F9B8E"/>
                </a:solidFill>
                <a:latin typeface="Calibri"/>
              </a:rPr>
              <a:t>📘  Definición</a:t>
            </a:r>
          </a:p>
        </p:txBody>
      </p:sp>
      <p:sp>
        <p:nvSpPr>
          <p:cNvPr id="10" name="TextBox 9"/>
          <p:cNvSpPr txBox="1"/>
          <p:nvPr/>
        </p:nvSpPr>
        <p:spPr>
          <a:xfrm>
            <a:off x="777240" y="1837943"/>
            <a:ext cx="10728655" cy="495807"/>
          </a:xfrm>
          <a:prstGeom prst="rect">
            <a:avLst/>
          </a:prstGeom>
          <a:noFill/>
        </p:spPr>
        <p:txBody>
          <a:bodyPr wrap="square" anchor="t">
            <a:spAutoFit/>
          </a:bodyPr>
          <a:lstStyle/>
          <a:p>
            <a:pPr algn="l"/>
            <a:r>
              <a:rPr sz="1600" b="0">
                <a:solidFill>
                  <a:srgbClr val="FFFFFF"/>
                </a:solidFill>
                <a:latin typeface="Calibri"/>
              </a:rPr>
              <a:t>Cuando las preguntas son distintas versiones de lo mismo y solo una puede ser la respuesta, van encadenadas con </a:t>
            </a:r>
            <a:r>
              <a:rPr sz="1600" b="0">
                <a:solidFill>
                  <a:srgbClr val="4ADFCB"/>
                </a:solidFill>
                <a:latin typeface="Consolas"/>
              </a:rPr>
              <a:t>elif</a:t>
            </a:r>
            <a:r>
              <a:rPr sz="1600" b="0">
                <a:solidFill>
                  <a:srgbClr val="FFFFFF"/>
                </a:solidFill>
                <a:latin typeface="Calibri"/>
              </a:rPr>
              <a:t>. El primer </a:t>
            </a:r>
            <a:r>
              <a:rPr sz="1600" b="0">
                <a:solidFill>
                  <a:srgbClr val="4ADFCB"/>
                </a:solidFill>
                <a:latin typeface="Consolas"/>
              </a:rPr>
              <a:t>elif</a:t>
            </a:r>
            <a:r>
              <a:rPr sz="1600" b="0">
                <a:solidFill>
                  <a:srgbClr val="FFFFFF"/>
                </a:solidFill>
                <a:latin typeface="Calibri"/>
              </a:rPr>
              <a:t> que se cumple se lleva todo y los de más abajo ni siquiera se revisan.</a:t>
            </a:r>
          </a:p>
        </p:txBody>
      </p:sp>
      <p:sp>
        <p:nvSpPr>
          <p:cNvPr id="11" name="TextBox 10"/>
          <p:cNvSpPr txBox="1"/>
          <p:nvPr/>
        </p:nvSpPr>
        <p:spPr>
          <a:xfrm>
            <a:off x="548640" y="2534920"/>
            <a:ext cx="4572000" cy="347472"/>
          </a:xfrm>
          <a:prstGeom prst="rect">
            <a:avLst/>
          </a:prstGeom>
          <a:noFill/>
        </p:spPr>
        <p:txBody>
          <a:bodyPr wrap="square" anchor="t">
            <a:spAutoFit/>
          </a:bodyPr>
          <a:lstStyle/>
          <a:p>
            <a:pPr algn="l"/>
            <a:r>
              <a:rPr sz="1800" b="1">
                <a:solidFill>
                  <a:srgbClr val="F5A623"/>
                </a:solidFill>
                <a:latin typeface="Calibri"/>
              </a:rPr>
              <a:t>💻  Ejemplo</a:t>
            </a:r>
          </a:p>
        </p:txBody>
      </p:sp>
      <p:sp>
        <p:nvSpPr>
          <p:cNvPr id="12" name="Rectangle 11"/>
          <p:cNvSpPr/>
          <p:nvPr/>
        </p:nvSpPr>
        <p:spPr>
          <a:xfrm>
            <a:off x="548640" y="2882392"/>
            <a:ext cx="11094415" cy="2658872"/>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882392"/>
            <a:ext cx="11094415" cy="91440"/>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019551"/>
            <a:ext cx="10820095" cy="2430272"/>
          </a:xfrm>
          <a:prstGeom prst="rect">
            <a:avLst/>
          </a:prstGeom>
          <a:noFill/>
        </p:spPr>
        <p:txBody>
          <a:bodyPr wrap="square" anchor="t">
            <a:spAutoFit/>
          </a:bodyPr>
          <a:lstStyle/>
          <a:p>
            <a:pPr algn="l"/>
            <a:r>
              <a:rPr sz="1400" b="0">
                <a:solidFill>
                  <a:srgbClr val="4ADFCB"/>
                </a:solidFill>
                <a:latin typeface="Consolas"/>
              </a:rPr>
              <a:t>  racha_dias_estudio = 12</a:t>
            </a:r>
          </a:p>
          <a:p>
            <a:pPr algn="l"/>
            <a:endParaRPr sz="1400" b="0">
              <a:solidFill>
                <a:srgbClr val="4ADFCB"/>
              </a:solidFill>
              <a:latin typeface="Consolas"/>
            </a:endParaRPr>
          </a:p>
          <a:p>
            <a:pPr algn="l"/>
            <a:r>
              <a:rPr sz="1400" b="0">
                <a:solidFill>
                  <a:srgbClr val="4ADFCB"/>
                </a:solidFill>
                <a:latin typeface="Consolas"/>
              </a:rPr>
              <a:t>  if racha_dias_estudio &gt;= 14:</a:t>
            </a:r>
          </a:p>
          <a:p>
            <a:pPr algn="l"/>
            <a:r>
              <a:rPr sz="1400" b="0">
                <a:solidFill>
                  <a:srgbClr val="4ADFCB"/>
                </a:solidFill>
                <a:latin typeface="Consolas"/>
              </a:rPr>
              <a:t>      print("Categoría de tu racha:", "Racha de élite")</a:t>
            </a:r>
          </a:p>
          <a:p>
            <a:pPr algn="l"/>
            <a:r>
              <a:rPr sz="1400" b="0">
                <a:solidFill>
                  <a:srgbClr val="4ADFCB"/>
                </a:solidFill>
                <a:latin typeface="Consolas"/>
              </a:rPr>
              <a:t>  elif racha_dias_estudio &gt;= 7:</a:t>
            </a:r>
          </a:p>
          <a:p>
            <a:pPr algn="l"/>
            <a:r>
              <a:rPr sz="1400" b="0">
                <a:solidFill>
                  <a:srgbClr val="4ADFCB"/>
                </a:solidFill>
                <a:latin typeface="Consolas"/>
              </a:rPr>
              <a:t>      print("Categoría de tu racha:", "Buena constancia")</a:t>
            </a:r>
          </a:p>
          <a:p>
            <a:pPr algn="l"/>
            <a:r>
              <a:rPr sz="1400" b="0">
                <a:solidFill>
                  <a:srgbClr val="4ADFCB"/>
                </a:solidFill>
                <a:latin typeface="Consolas"/>
              </a:rPr>
              <a:t>  elif racha_dias_estudio &gt;= 3:</a:t>
            </a:r>
          </a:p>
          <a:p>
            <a:pPr algn="l"/>
            <a:r>
              <a:rPr sz="1400" b="0">
                <a:solidFill>
                  <a:srgbClr val="4ADFCB"/>
                </a:solidFill>
                <a:latin typeface="Consolas"/>
              </a:rPr>
              <a:t>      print("Categoría de tu racha:", "Racha en marcha")</a:t>
            </a:r>
          </a:p>
          <a:p>
            <a:pPr algn="l"/>
            <a:r>
              <a:rPr sz="1400" b="0">
                <a:solidFill>
                  <a:srgbClr val="4ADFCB"/>
                </a:solidFill>
                <a:latin typeface="Consolas"/>
              </a:rPr>
              <a:t>  else:</a:t>
            </a:r>
          </a:p>
          <a:p>
            <a:pPr algn="l"/>
            <a:r>
              <a:rPr sz="1400" b="0">
                <a:solidFill>
                  <a:srgbClr val="4ADFCB"/>
                </a:solidFill>
                <a:latin typeface="Consolas"/>
              </a:rPr>
              <a:t>      print("Categoría de tu racha:", "Recién empezando")</a:t>
            </a:r>
          </a:p>
          <a:p>
            <a:pPr algn="l"/>
            <a:r>
              <a:rPr sz="1400" b="0">
                <a:solidFill>
                  <a:srgbClr val="4ADFCB"/>
                </a:solidFill>
                <a:latin typeface="Consolas"/>
              </a:rPr>
              <a:t>  &gt;&gt; Categoría de tu racha: Buena constancia</a:t>
            </a:r>
          </a:p>
        </p:txBody>
      </p:sp>
      <p:sp>
        <p:nvSpPr>
          <p:cNvPr id="15" name="Rectangle 14"/>
          <p:cNvSpPr/>
          <p:nvPr/>
        </p:nvSpPr>
        <p:spPr>
          <a:xfrm>
            <a:off x="548640" y="5650992"/>
            <a:ext cx="11094415" cy="1042416"/>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5650992"/>
            <a:ext cx="73152" cy="104241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5724144"/>
            <a:ext cx="10728655" cy="347472"/>
          </a:xfrm>
          <a:prstGeom prst="rect">
            <a:avLst/>
          </a:prstGeom>
          <a:noFill/>
        </p:spPr>
        <p:txBody>
          <a:bodyPr wrap="square" anchor="t">
            <a:spAutoFit/>
          </a:bodyPr>
          <a:lstStyle/>
          <a:p>
            <a:pPr algn="l"/>
            <a:r>
              <a:rPr sz="1800" b="1">
                <a:solidFill>
                  <a:srgbClr val="F5A623"/>
                </a:solidFill>
                <a:latin typeface="Calibri"/>
              </a:rPr>
              <a:t>💡  Idea clave</a:t>
            </a:r>
          </a:p>
        </p:txBody>
      </p:sp>
      <p:sp>
        <p:nvSpPr>
          <p:cNvPr id="18" name="TextBox 17"/>
          <p:cNvSpPr txBox="1"/>
          <p:nvPr/>
        </p:nvSpPr>
        <p:spPr>
          <a:xfrm>
            <a:off x="777240" y="6044183"/>
            <a:ext cx="10728655" cy="603504"/>
          </a:xfrm>
          <a:prstGeom prst="rect">
            <a:avLst/>
          </a:prstGeom>
          <a:noFill/>
        </p:spPr>
        <p:txBody>
          <a:bodyPr wrap="square" anchor="ctr">
            <a:spAutoFit/>
          </a:bodyPr>
          <a:lstStyle/>
          <a:p>
            <a:pPr algn="l"/>
            <a:r>
              <a:rPr sz="1800" b="0">
                <a:solidFill>
                  <a:srgbClr val="FFFFFF"/>
                </a:solidFill>
                <a:latin typeface="Calibri"/>
              </a:rPr>
              <a:t>La condición más exigente va primero. Si la más amplia va arriba, se lleva el agua de todas las de abajo y esas ramas nunca se alcanzan.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0F1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79" y="118872"/>
            <a:ext cx="5486400" cy="320040"/>
          </a:xfrm>
          <a:prstGeom prst="rect">
            <a:avLst/>
          </a:prstGeom>
          <a:noFill/>
        </p:spPr>
        <p:txBody>
          <a:bodyPr wrap="square" anchor="ctr">
            <a:spAutoFit/>
          </a:bodyPr>
          <a:lstStyle/>
          <a:p>
            <a:pPr algn="l"/>
            <a:r>
              <a:rPr sz="1200" b="0">
                <a:solidFill>
                  <a:srgbClr val="94A3B8"/>
                </a:solidFill>
                <a:latin typeface="Consolas"/>
              </a:rPr>
              <a:t>🐍 Python · Clase 19.5</a:t>
            </a:r>
          </a:p>
        </p:txBody>
      </p:sp>
      <p:sp>
        <p:nvSpPr>
          <p:cNvPr id="5" name="TextBox 4"/>
          <p:cNvSpPr txBox="1"/>
          <p:nvPr/>
        </p:nvSpPr>
        <p:spPr>
          <a:xfrm>
            <a:off x="8534095" y="118872"/>
            <a:ext cx="3200400" cy="320040"/>
          </a:xfrm>
          <a:prstGeom prst="rect">
            <a:avLst/>
          </a:prstGeom>
          <a:noFill/>
        </p:spPr>
        <p:txBody>
          <a:bodyPr wrap="square" anchor="ctr">
            <a:spAutoFit/>
          </a:bodyPr>
          <a:lstStyle/>
          <a:p>
            <a:pPr algn="r"/>
            <a:r>
              <a:rPr sz="1200" b="1">
                <a:solidFill>
                  <a:srgbClr val="0F9B8E"/>
                </a:solidFill>
                <a:latin typeface="Consolas"/>
              </a:rPr>
              <a:t>Contenido nuevo</a:t>
            </a:r>
          </a:p>
        </p:txBody>
      </p:sp>
      <p:sp>
        <p:nvSpPr>
          <p:cNvPr id="6" name="TextBox 5"/>
          <p:cNvSpPr txBox="1"/>
          <p:nvPr/>
        </p:nvSpPr>
        <p:spPr>
          <a:xfrm>
            <a:off x="548640" y="868680"/>
            <a:ext cx="11094415" cy="685800"/>
          </a:xfrm>
          <a:prstGeom prst="rect">
            <a:avLst/>
          </a:prstGeom>
          <a:noFill/>
        </p:spPr>
        <p:txBody>
          <a:bodyPr wrap="square" anchor="t">
            <a:spAutoFit/>
          </a:bodyPr>
          <a:lstStyle/>
          <a:p>
            <a:pPr algn="l"/>
            <a:r>
              <a:rPr sz="3200" b="1">
                <a:solidFill>
                  <a:srgbClr val="FFFFFF"/>
                </a:solidFill>
                <a:latin typeface="Calibri"/>
              </a:rPr>
              <a:t>📘 3. Una depende de la otra — `if` anidado</a:t>
            </a:r>
          </a:p>
        </p:txBody>
      </p:sp>
      <p:sp>
        <p:nvSpPr>
          <p:cNvPr id="7" name="Rectangle 6"/>
          <p:cNvSpPr/>
          <p:nvPr/>
        </p:nvSpPr>
        <p:spPr>
          <a:xfrm>
            <a:off x="548640" y="1444752"/>
            <a:ext cx="11094415" cy="1042416"/>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44752"/>
            <a:ext cx="73152" cy="1042416"/>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36192"/>
            <a:ext cx="10728655" cy="347472"/>
          </a:xfrm>
          <a:prstGeom prst="rect">
            <a:avLst/>
          </a:prstGeom>
          <a:noFill/>
        </p:spPr>
        <p:txBody>
          <a:bodyPr wrap="square" anchor="t">
            <a:spAutoFit/>
          </a:bodyPr>
          <a:lstStyle/>
          <a:p>
            <a:pPr algn="l"/>
            <a:r>
              <a:rPr sz="1800" b="1">
                <a:solidFill>
                  <a:srgbClr val="0F9B8E"/>
                </a:solidFill>
                <a:latin typeface="Calibri"/>
              </a:rPr>
              <a:t>📘  Definición</a:t>
            </a:r>
          </a:p>
        </p:txBody>
      </p:sp>
      <p:sp>
        <p:nvSpPr>
          <p:cNvPr id="10" name="TextBox 9"/>
          <p:cNvSpPr txBox="1"/>
          <p:nvPr/>
        </p:nvSpPr>
        <p:spPr>
          <a:xfrm>
            <a:off x="777240" y="1837943"/>
            <a:ext cx="10728655" cy="557784"/>
          </a:xfrm>
          <a:prstGeom prst="rect">
            <a:avLst/>
          </a:prstGeom>
          <a:noFill/>
        </p:spPr>
        <p:txBody>
          <a:bodyPr wrap="square" anchor="t">
            <a:spAutoFit/>
          </a:bodyPr>
          <a:lstStyle/>
          <a:p>
            <a:pPr algn="l"/>
            <a:r>
              <a:rPr sz="1800" b="0">
                <a:solidFill>
                  <a:srgbClr val="FFFFFF"/>
                </a:solidFill>
                <a:latin typeface="Calibri"/>
              </a:rPr>
              <a:t>Cuando la segunda pregunta solo tiene sentido si la primera resultó de cierta manera, la segunda va escrita dentro de la primera.</a:t>
            </a:r>
          </a:p>
        </p:txBody>
      </p:sp>
      <p:sp>
        <p:nvSpPr>
          <p:cNvPr id="11" name="TextBox 10"/>
          <p:cNvSpPr txBox="1"/>
          <p:nvPr/>
        </p:nvSpPr>
        <p:spPr>
          <a:xfrm>
            <a:off x="548640" y="2596896"/>
            <a:ext cx="4572000" cy="347472"/>
          </a:xfrm>
          <a:prstGeom prst="rect">
            <a:avLst/>
          </a:prstGeom>
          <a:noFill/>
        </p:spPr>
        <p:txBody>
          <a:bodyPr wrap="square" anchor="t">
            <a:spAutoFit/>
          </a:bodyPr>
          <a:lstStyle/>
          <a:p>
            <a:pPr algn="l"/>
            <a:r>
              <a:rPr sz="1800" b="1">
                <a:solidFill>
                  <a:srgbClr val="F5A623"/>
                </a:solidFill>
                <a:latin typeface="Calibri"/>
              </a:rPr>
              <a:t>💻  Ejemplo</a:t>
            </a:r>
          </a:p>
        </p:txBody>
      </p:sp>
      <p:sp>
        <p:nvSpPr>
          <p:cNvPr id="12" name="Rectangle 11"/>
          <p:cNvSpPr/>
          <p:nvPr/>
        </p:nvSpPr>
        <p:spPr>
          <a:xfrm>
            <a:off x="548640" y="2944368"/>
            <a:ext cx="11094415" cy="2596896"/>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944368"/>
            <a:ext cx="11094415" cy="91440"/>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081528"/>
            <a:ext cx="10820095" cy="2368296"/>
          </a:xfrm>
          <a:prstGeom prst="rect">
            <a:avLst/>
          </a:prstGeom>
          <a:noFill/>
        </p:spPr>
        <p:txBody>
          <a:bodyPr wrap="square" anchor="t">
            <a:spAutoFit/>
          </a:bodyPr>
          <a:lstStyle/>
          <a:p>
            <a:pPr algn="l"/>
            <a:r>
              <a:rPr sz="1400" b="0">
                <a:solidFill>
                  <a:srgbClr val="4ADFCB"/>
                </a:solidFill>
                <a:latin typeface="Consolas"/>
              </a:rPr>
              <a:t>  tiene_pase_escolar = "si"</a:t>
            </a:r>
          </a:p>
          <a:p>
            <a:pPr algn="l"/>
            <a:r>
              <a:rPr sz="1400" b="0">
                <a:solidFill>
                  <a:srgbClr val="4ADFCB"/>
                </a:solidFill>
                <a:latin typeface="Consolas"/>
              </a:rPr>
              <a:t>  saldo_tarjeta_bip = 200</a:t>
            </a:r>
          </a:p>
          <a:p>
            <a:pPr algn="l"/>
            <a:endParaRPr sz="1400" b="0">
              <a:solidFill>
                <a:srgbClr val="4ADFCB"/>
              </a:solidFill>
              <a:latin typeface="Consolas"/>
            </a:endParaRPr>
          </a:p>
          <a:p>
            <a:pPr algn="l"/>
            <a:r>
              <a:rPr sz="1400" b="0">
                <a:solidFill>
                  <a:srgbClr val="4ADFCB"/>
                </a:solidFill>
                <a:latin typeface="Consolas"/>
              </a:rPr>
              <a:t>  if tiene_pase_escolar == "si":</a:t>
            </a:r>
          </a:p>
          <a:p>
            <a:pPr algn="l"/>
            <a:r>
              <a:rPr sz="1400" b="0">
                <a:solidFill>
                  <a:srgbClr val="4ADFCB"/>
                </a:solidFill>
                <a:latin typeface="Consolas"/>
              </a:rPr>
              <a:t>      print("Sube gratis con su pase escolar.")</a:t>
            </a:r>
          </a:p>
          <a:p>
            <a:pPr algn="l"/>
            <a:r>
              <a:rPr sz="1400" b="0">
                <a:solidFill>
                  <a:srgbClr val="4ADFCB"/>
                </a:solidFill>
                <a:latin typeface="Consolas"/>
              </a:rPr>
              <a:t>  else:</a:t>
            </a:r>
          </a:p>
          <a:p>
            <a:pPr algn="l"/>
            <a:r>
              <a:rPr sz="1400" b="0">
                <a:solidFill>
                  <a:srgbClr val="4ADFCB"/>
                </a:solidFill>
                <a:latin typeface="Consolas"/>
              </a:rPr>
              <a:t>      if saldo_tarjeta_bip &gt;= 800:</a:t>
            </a:r>
          </a:p>
          <a:p>
            <a:pPr algn="l"/>
            <a:r>
              <a:rPr sz="1400" b="0">
                <a:solidFill>
                  <a:srgbClr val="4ADFCB"/>
                </a:solidFill>
                <a:latin typeface="Consolas"/>
              </a:rPr>
              <a:t>          print("Paga el pasaje con la tarjeta bip.")</a:t>
            </a:r>
          </a:p>
          <a:p>
            <a:pPr algn="l"/>
            <a:r>
              <a:rPr sz="1400" b="0">
                <a:solidFill>
                  <a:srgbClr val="4ADFCB"/>
                </a:solidFill>
                <a:latin typeface="Consolas"/>
              </a:rPr>
              <a:t>      else:</a:t>
            </a:r>
          </a:p>
          <a:p>
            <a:pPr algn="l"/>
            <a:r>
              <a:rPr sz="1400" b="0">
                <a:solidFill>
                  <a:srgbClr val="4ADFCB"/>
                </a:solidFill>
                <a:latin typeface="Consolas"/>
              </a:rPr>
              <a:t>          print("No le alcanza el saldo para el pasaje.")</a:t>
            </a:r>
          </a:p>
          <a:p>
            <a:pPr algn="l"/>
            <a:r>
              <a:rPr sz="1400" b="0">
                <a:solidFill>
                  <a:srgbClr val="4ADFCB"/>
                </a:solidFill>
                <a:latin typeface="Consolas"/>
              </a:rPr>
              <a:t>  &gt;&gt; Sube gratis con su pase escolar.</a:t>
            </a:r>
          </a:p>
        </p:txBody>
      </p:sp>
      <p:sp>
        <p:nvSpPr>
          <p:cNvPr id="15" name="Rectangle 14"/>
          <p:cNvSpPr/>
          <p:nvPr/>
        </p:nvSpPr>
        <p:spPr>
          <a:xfrm>
            <a:off x="548640" y="5650992"/>
            <a:ext cx="11094415" cy="1042416"/>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5650992"/>
            <a:ext cx="73152" cy="104241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5724144"/>
            <a:ext cx="10728655" cy="347472"/>
          </a:xfrm>
          <a:prstGeom prst="rect">
            <a:avLst/>
          </a:prstGeom>
          <a:noFill/>
        </p:spPr>
        <p:txBody>
          <a:bodyPr wrap="square" anchor="t">
            <a:spAutoFit/>
          </a:bodyPr>
          <a:lstStyle/>
          <a:p>
            <a:pPr algn="l"/>
            <a:r>
              <a:rPr sz="1800" b="1">
                <a:solidFill>
                  <a:srgbClr val="F5A623"/>
                </a:solidFill>
                <a:latin typeface="Calibri"/>
              </a:rPr>
              <a:t>💡  Idea clave</a:t>
            </a:r>
          </a:p>
        </p:txBody>
      </p:sp>
      <p:sp>
        <p:nvSpPr>
          <p:cNvPr id="18" name="TextBox 17"/>
          <p:cNvSpPr txBox="1"/>
          <p:nvPr/>
        </p:nvSpPr>
        <p:spPr>
          <a:xfrm>
            <a:off x="777240" y="6044184"/>
            <a:ext cx="10728655" cy="603504"/>
          </a:xfrm>
          <a:prstGeom prst="rect">
            <a:avLst/>
          </a:prstGeom>
          <a:noFill/>
        </p:spPr>
        <p:txBody>
          <a:bodyPr wrap="square" anchor="ctr">
            <a:spAutoFit/>
          </a:bodyPr>
          <a:lstStyle/>
          <a:p>
            <a:pPr algn="l"/>
            <a:r>
              <a:rPr sz="1800" b="0">
                <a:solidFill>
                  <a:srgbClr val="FFFFFF"/>
                </a:solidFill>
                <a:latin typeface="Calibri"/>
              </a:rPr>
              <a:t>Son los mismos datos del Programa 3 del Haz Ahora, y ahora imprime una sola línea. Si escribes las dos preguntas sueltas, la segunda se hace siempre — incluso a quien ya subió con su pase.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0F1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79" y="118872"/>
            <a:ext cx="5486400" cy="320040"/>
          </a:xfrm>
          <a:prstGeom prst="rect">
            <a:avLst/>
          </a:prstGeom>
          <a:noFill/>
        </p:spPr>
        <p:txBody>
          <a:bodyPr wrap="square" anchor="ctr">
            <a:spAutoFit/>
          </a:bodyPr>
          <a:lstStyle/>
          <a:p>
            <a:pPr algn="l"/>
            <a:r>
              <a:rPr sz="1200" b="0">
                <a:solidFill>
                  <a:srgbClr val="94A3B8"/>
                </a:solidFill>
                <a:latin typeface="Consolas"/>
              </a:rPr>
              <a:t>🐍 Python · Clase 19.5</a:t>
            </a:r>
          </a:p>
        </p:txBody>
      </p:sp>
      <p:sp>
        <p:nvSpPr>
          <p:cNvPr id="5" name="TextBox 4"/>
          <p:cNvSpPr txBox="1"/>
          <p:nvPr/>
        </p:nvSpPr>
        <p:spPr>
          <a:xfrm>
            <a:off x="8534095" y="118872"/>
            <a:ext cx="3200400" cy="320040"/>
          </a:xfrm>
          <a:prstGeom prst="rect">
            <a:avLst/>
          </a:prstGeom>
          <a:noFill/>
        </p:spPr>
        <p:txBody>
          <a:bodyPr wrap="square" anchor="ctr">
            <a:spAutoFit/>
          </a:bodyPr>
          <a:lstStyle/>
          <a:p>
            <a:pPr algn="r"/>
            <a:r>
              <a:rPr sz="1200" b="1">
                <a:solidFill>
                  <a:srgbClr val="0F9B8E"/>
                </a:solidFill>
                <a:latin typeface="Consolas"/>
              </a:rPr>
              <a:t>Contenido nuevo</a:t>
            </a:r>
          </a:p>
        </p:txBody>
      </p:sp>
      <p:sp>
        <p:nvSpPr>
          <p:cNvPr id="6" name="TextBox 5"/>
          <p:cNvSpPr txBox="1"/>
          <p:nvPr/>
        </p:nvSpPr>
        <p:spPr>
          <a:xfrm>
            <a:off x="548640" y="868680"/>
            <a:ext cx="11094415" cy="685800"/>
          </a:xfrm>
          <a:prstGeom prst="rect">
            <a:avLst/>
          </a:prstGeom>
          <a:noFill/>
        </p:spPr>
        <p:txBody>
          <a:bodyPr wrap="square" anchor="t">
            <a:spAutoFit/>
          </a:bodyPr>
          <a:lstStyle/>
          <a:p>
            <a:pPr algn="l"/>
            <a:r>
              <a:rPr sz="3200" b="1">
                <a:solidFill>
                  <a:srgbClr val="FFFFFF"/>
                </a:solidFill>
                <a:latin typeface="Calibri"/>
              </a:rPr>
              <a:t>📘 4. Probar el valor del borde</a:t>
            </a:r>
          </a:p>
        </p:txBody>
      </p:sp>
      <p:sp>
        <p:nvSpPr>
          <p:cNvPr id="7" name="Rectangle 6"/>
          <p:cNvSpPr/>
          <p:nvPr/>
        </p:nvSpPr>
        <p:spPr>
          <a:xfrm>
            <a:off x="548640" y="1444752"/>
            <a:ext cx="11094415" cy="1042416"/>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44752"/>
            <a:ext cx="73152" cy="1042416"/>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36192"/>
            <a:ext cx="10728655" cy="347472"/>
          </a:xfrm>
          <a:prstGeom prst="rect">
            <a:avLst/>
          </a:prstGeom>
          <a:noFill/>
        </p:spPr>
        <p:txBody>
          <a:bodyPr wrap="square" anchor="t">
            <a:spAutoFit/>
          </a:bodyPr>
          <a:lstStyle/>
          <a:p>
            <a:pPr algn="l"/>
            <a:r>
              <a:rPr sz="1800" b="1">
                <a:solidFill>
                  <a:srgbClr val="0F9B8E"/>
                </a:solidFill>
                <a:latin typeface="Calibri"/>
              </a:rPr>
              <a:t>📘  Definición</a:t>
            </a:r>
          </a:p>
        </p:txBody>
      </p:sp>
      <p:sp>
        <p:nvSpPr>
          <p:cNvPr id="10" name="TextBox 9"/>
          <p:cNvSpPr txBox="1"/>
          <p:nvPr/>
        </p:nvSpPr>
        <p:spPr>
          <a:xfrm>
            <a:off x="777240" y="1837943"/>
            <a:ext cx="10728655" cy="557784"/>
          </a:xfrm>
          <a:prstGeom prst="rect">
            <a:avLst/>
          </a:prstGeom>
          <a:noFill/>
        </p:spPr>
        <p:txBody>
          <a:bodyPr wrap="square" anchor="t">
            <a:spAutoFit/>
          </a:bodyPr>
          <a:lstStyle/>
          <a:p>
            <a:pPr algn="l"/>
            <a:r>
              <a:rPr sz="1800" b="0">
                <a:solidFill>
                  <a:srgbClr val="FFFFFF"/>
                </a:solidFill>
                <a:latin typeface="Calibri"/>
              </a:rPr>
              <a:t>El borde es el valor exacto donde una condición cambia de resultado. Un programa puede funcionar con todos los ejemplos que le probaste y fallar solo ahí.</a:t>
            </a:r>
          </a:p>
        </p:txBody>
      </p:sp>
      <p:sp>
        <p:nvSpPr>
          <p:cNvPr id="11" name="TextBox 10"/>
          <p:cNvSpPr txBox="1"/>
          <p:nvPr/>
        </p:nvSpPr>
        <p:spPr>
          <a:xfrm>
            <a:off x="548640" y="2596896"/>
            <a:ext cx="4572000" cy="347472"/>
          </a:xfrm>
          <a:prstGeom prst="rect">
            <a:avLst/>
          </a:prstGeom>
          <a:noFill/>
        </p:spPr>
        <p:txBody>
          <a:bodyPr wrap="square" anchor="t">
            <a:spAutoFit/>
          </a:bodyPr>
          <a:lstStyle/>
          <a:p>
            <a:pPr algn="l"/>
            <a:r>
              <a:rPr sz="1800" b="1">
                <a:solidFill>
                  <a:srgbClr val="F5A623"/>
                </a:solidFill>
                <a:latin typeface="Calibri"/>
              </a:rPr>
              <a:t>💻  Ejemplo</a:t>
            </a:r>
          </a:p>
        </p:txBody>
      </p:sp>
      <p:sp>
        <p:nvSpPr>
          <p:cNvPr id="12" name="Rectangle 11"/>
          <p:cNvSpPr/>
          <p:nvPr/>
        </p:nvSpPr>
        <p:spPr>
          <a:xfrm>
            <a:off x="548640" y="2944368"/>
            <a:ext cx="11094415" cy="2534919"/>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944368"/>
            <a:ext cx="11094415" cy="91440"/>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081528"/>
            <a:ext cx="10820095" cy="2306319"/>
          </a:xfrm>
          <a:prstGeom prst="rect">
            <a:avLst/>
          </a:prstGeom>
          <a:noFill/>
        </p:spPr>
        <p:txBody>
          <a:bodyPr wrap="square" anchor="t">
            <a:spAutoFit/>
          </a:bodyPr>
          <a:lstStyle/>
          <a:p>
            <a:pPr algn="l"/>
            <a:r>
              <a:rPr sz="1800" b="0">
                <a:solidFill>
                  <a:srgbClr val="4ADFCB"/>
                </a:solidFill>
                <a:latin typeface="Consolas"/>
              </a:rPr>
              <a:t>  puntaje_equipo = 18</a:t>
            </a:r>
          </a:p>
          <a:p>
            <a:pPr algn="l"/>
            <a:r>
              <a:rPr sz="1800" b="0">
                <a:solidFill>
                  <a:srgbClr val="4ADFCB"/>
                </a:solidFill>
                <a:latin typeface="Consolas"/>
              </a:rPr>
              <a:t>  puntaje_minimo_clasificacion = 18</a:t>
            </a:r>
          </a:p>
          <a:p>
            <a:pPr algn="l"/>
            <a:endParaRPr sz="1800" b="0">
              <a:solidFill>
                <a:srgbClr val="4ADFCB"/>
              </a:solidFill>
              <a:latin typeface="Consolas"/>
            </a:endParaRPr>
          </a:p>
          <a:p>
            <a:pPr algn="l"/>
            <a:r>
              <a:rPr sz="1800" b="0">
                <a:solidFill>
                  <a:srgbClr val="4ADFCB"/>
                </a:solidFill>
                <a:latin typeface="Consolas"/>
              </a:rPr>
              <a:t>  if puntaje_equipo &gt;= puntaje_minimo_clasificacion:</a:t>
            </a:r>
          </a:p>
          <a:p>
            <a:pPr algn="l"/>
            <a:r>
              <a:rPr sz="1800" b="0">
                <a:solidFill>
                  <a:srgbClr val="4ADFCB"/>
                </a:solidFill>
                <a:latin typeface="Consolas"/>
              </a:rPr>
              <a:t>      print("Resultado del torneo:", "El equipo clasifica a semifinales.")</a:t>
            </a:r>
          </a:p>
          <a:p>
            <a:pPr algn="l"/>
            <a:r>
              <a:rPr sz="1800" b="0">
                <a:solidFill>
                  <a:srgbClr val="4ADFCB"/>
                </a:solidFill>
                <a:latin typeface="Consolas"/>
              </a:rPr>
              <a:t>  else:</a:t>
            </a:r>
          </a:p>
          <a:p>
            <a:pPr algn="l"/>
            <a:r>
              <a:rPr sz="1800" b="0">
                <a:solidFill>
                  <a:srgbClr val="4ADFCB"/>
                </a:solidFill>
                <a:latin typeface="Consolas"/>
              </a:rPr>
              <a:t>      print("Resultado del torneo:", "El equipo queda eliminado.")</a:t>
            </a:r>
          </a:p>
          <a:p>
            <a:pPr algn="l"/>
            <a:r>
              <a:rPr sz="1800" b="0">
                <a:solidFill>
                  <a:srgbClr val="4ADFCB"/>
                </a:solidFill>
                <a:latin typeface="Consolas"/>
              </a:rPr>
              <a:t>  &gt;&gt; Resultado del torneo: El equipo clasifica a semifinales.</a:t>
            </a:r>
          </a:p>
        </p:txBody>
      </p:sp>
      <p:sp>
        <p:nvSpPr>
          <p:cNvPr id="15" name="Rectangle 14"/>
          <p:cNvSpPr/>
          <p:nvPr/>
        </p:nvSpPr>
        <p:spPr>
          <a:xfrm>
            <a:off x="548640" y="5589016"/>
            <a:ext cx="11094415" cy="11043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5589016"/>
            <a:ext cx="73152" cy="110439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5662168"/>
            <a:ext cx="10728655" cy="347472"/>
          </a:xfrm>
          <a:prstGeom prst="rect">
            <a:avLst/>
          </a:prstGeom>
          <a:noFill/>
        </p:spPr>
        <p:txBody>
          <a:bodyPr wrap="square" anchor="t">
            <a:spAutoFit/>
          </a:bodyPr>
          <a:lstStyle/>
          <a:p>
            <a:pPr algn="l"/>
            <a:r>
              <a:rPr sz="1800" b="1">
                <a:solidFill>
                  <a:srgbClr val="F5A623"/>
                </a:solidFill>
                <a:latin typeface="Calibri"/>
              </a:rPr>
              <a:t>💡  Idea clave</a:t>
            </a:r>
          </a:p>
        </p:txBody>
      </p:sp>
      <p:sp>
        <p:nvSpPr>
          <p:cNvPr id="18" name="TextBox 17"/>
          <p:cNvSpPr txBox="1"/>
          <p:nvPr/>
        </p:nvSpPr>
        <p:spPr>
          <a:xfrm>
            <a:off x="777240" y="5982208"/>
            <a:ext cx="10728655" cy="665480"/>
          </a:xfrm>
          <a:prstGeom prst="rect">
            <a:avLst/>
          </a:prstGeom>
          <a:noFill/>
        </p:spPr>
        <p:txBody>
          <a:bodyPr wrap="square" anchor="ctr">
            <a:spAutoFit/>
          </a:bodyPr>
          <a:lstStyle/>
          <a:p>
            <a:pPr algn="l"/>
            <a:r>
              <a:rPr sz="2000" b="0">
                <a:solidFill>
                  <a:srgbClr val="FFFFFF"/>
                </a:solidFill>
                <a:latin typeface="Calibri"/>
              </a:rPr>
              <a:t>Cuando termines de escribir, prueba el valor exacto del borde. En estos programas son 14, 7, 3, 18 y 800.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0F1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79" y="118872"/>
            <a:ext cx="5486400" cy="320040"/>
          </a:xfrm>
          <a:prstGeom prst="rect">
            <a:avLst/>
          </a:prstGeom>
          <a:noFill/>
        </p:spPr>
        <p:txBody>
          <a:bodyPr wrap="square" anchor="ctr">
            <a:spAutoFit/>
          </a:bodyPr>
          <a:lstStyle/>
          <a:p>
            <a:pPr algn="l"/>
            <a:r>
              <a:rPr sz="1200" b="0">
                <a:solidFill>
                  <a:srgbClr val="94A3B8"/>
                </a:solidFill>
                <a:latin typeface="Consolas"/>
              </a:rPr>
              <a:t>🐍 Python · Clase 19.5</a:t>
            </a:r>
          </a:p>
        </p:txBody>
      </p:sp>
      <p:sp>
        <p:nvSpPr>
          <p:cNvPr id="5" name="TextBox 4"/>
          <p:cNvSpPr txBox="1"/>
          <p:nvPr/>
        </p:nvSpPr>
        <p:spPr>
          <a:xfrm>
            <a:off x="8534095" y="118872"/>
            <a:ext cx="3200400" cy="320040"/>
          </a:xfrm>
          <a:prstGeom prst="rect">
            <a:avLst/>
          </a:prstGeom>
          <a:noFill/>
        </p:spPr>
        <p:txBody>
          <a:bodyPr wrap="square" anchor="ctr">
            <a:spAutoFit/>
          </a:bodyPr>
          <a:lstStyle/>
          <a:p>
            <a:pPr algn="r"/>
            <a:r>
              <a:rPr sz="1200" b="1">
                <a:solidFill>
                  <a:srgbClr val="0F9B8E"/>
                </a:solidFill>
                <a:latin typeface="Consolas"/>
              </a:rPr>
              <a:t>Contenido nuevo</a:t>
            </a:r>
          </a:p>
        </p:txBody>
      </p:sp>
      <p:sp>
        <p:nvSpPr>
          <p:cNvPr id="6" name="TextBox 5"/>
          <p:cNvSpPr txBox="1"/>
          <p:nvPr/>
        </p:nvSpPr>
        <p:spPr>
          <a:xfrm>
            <a:off x="548640" y="566928"/>
            <a:ext cx="11094415" cy="475488"/>
          </a:xfrm>
          <a:prstGeom prst="rect">
            <a:avLst/>
          </a:prstGeom>
          <a:noFill/>
        </p:spPr>
        <p:txBody>
          <a:bodyPr wrap="square" anchor="t">
            <a:spAutoFit/>
          </a:bodyPr>
          <a:lstStyle/>
          <a:p>
            <a:pPr algn="l"/>
            <a:r>
              <a:rPr sz="2600" b="1">
                <a:solidFill>
                  <a:srgbClr val="FFFFFF"/>
                </a:solidFill>
                <a:latin typeface="Calibri"/>
              </a:rPr>
              <a:t>📘 Conceptos 1–4</a:t>
            </a:r>
          </a:p>
        </p:txBody>
      </p:sp>
      <p:sp>
        <p:nvSpPr>
          <p:cNvPr id="7" name="Rectangle 6"/>
          <p:cNvSpPr/>
          <p:nvPr/>
        </p:nvSpPr>
        <p:spPr>
          <a:xfrm>
            <a:off x="548640" y="1115568"/>
            <a:ext cx="5212080" cy="54864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115568"/>
            <a:ext cx="73152" cy="5486400"/>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298448"/>
            <a:ext cx="4919472" cy="5212080"/>
          </a:xfrm>
          <a:prstGeom prst="rect">
            <a:avLst/>
          </a:prstGeom>
          <a:noFill/>
        </p:spPr>
        <p:txBody>
          <a:bodyPr wrap="square" anchor="t">
            <a:spAutoFit/>
          </a:bodyPr>
          <a:lstStyle/>
          <a:p>
            <a:pPr algn="l"/>
            <a:r>
              <a:rPr sz="1800" b="0">
                <a:solidFill>
                  <a:srgbClr val="FFFFFF"/>
                </a:solidFill>
                <a:latin typeface="Calibri"/>
              </a:rPr>
              <a:t>📘 1. Independientes — varios </a:t>
            </a:r>
            <a:r>
              <a:rPr sz="1800" b="0">
                <a:solidFill>
                  <a:srgbClr val="4ADFCB"/>
                </a:solidFill>
                <a:latin typeface="Consolas"/>
              </a:rPr>
              <a:t>if</a:t>
            </a:r>
            <a:r>
              <a:rPr sz="1800" b="0">
                <a:solidFill>
                  <a:srgbClr val="FFFFFF"/>
                </a:solidFill>
                <a:latin typeface="Calibri"/>
              </a:rPr>
              <a:t> seguidos
    Cuando dos preguntas no tienen nada que ver entre sí, cada una va en su propio </a:t>
            </a:r>
            <a:r>
              <a:rPr sz="1800" b="0">
                <a:solidFill>
                  <a:srgbClr val="4ADFCB"/>
                </a:solidFill>
                <a:latin typeface="Consolas"/>
              </a:rPr>
              <a:t>if</a:t>
            </a:r>
            <a:r>
              <a:rPr sz="1800" b="0">
                <a:solidFill>
                  <a:srgbClr val="FFFFFF"/>
                </a:solidFill>
                <a:latin typeface="Calibri"/>
              </a:rPr>
              <a:t>.
📘 2. Excluyentes — </a:t>
            </a:r>
            <a:r>
              <a:rPr sz="1800" b="0">
                <a:solidFill>
                  <a:srgbClr val="4ADFCB"/>
                </a:solidFill>
                <a:latin typeface="Consolas"/>
              </a:rPr>
              <a:t>if / elif / else</a:t>
            </a:r>
            <a:r>
              <a:rPr sz="1800" b="0">
                <a:solidFill>
                  <a:srgbClr val="FFFFFF"/>
                </a:solidFill>
                <a:latin typeface="Calibri"/>
              </a:rPr>
              <a:t>, y el orden decide
    Cuando las preguntas son distintas versiones de lo mismo y solo una puede ser la respuesta, van encadenadas con </a:t>
            </a:r>
            <a:r>
              <a:rPr sz="1800" b="0">
                <a:solidFill>
                  <a:srgbClr val="4ADFCB"/>
                </a:solidFill>
                <a:latin typeface="Consolas"/>
              </a:rPr>
              <a:t>elif</a:t>
            </a:r>
            <a:r>
              <a:rPr sz="1800" b="0">
                <a:solidFill>
                  <a:srgbClr val="FFFFFF"/>
                </a:solidFill>
                <a:latin typeface="Calibri"/>
              </a:rPr>
              <a:t>.
📘 3. Una depende de la otra — </a:t>
            </a:r>
            <a:r>
              <a:rPr sz="1800" b="0">
                <a:solidFill>
                  <a:srgbClr val="4ADFCB"/>
                </a:solidFill>
                <a:latin typeface="Consolas"/>
              </a:rPr>
              <a:t>if</a:t>
            </a:r>
            <a:r>
              <a:rPr sz="1800" b="0">
                <a:solidFill>
                  <a:srgbClr val="FFFFFF"/>
                </a:solidFill>
                <a:latin typeface="Calibri"/>
              </a:rPr>
              <a:t> anidado
    Cuando la segunda pregunta solo tiene sentido si la primera resultó de cierta manera, la segunda va escrita **dentro** de la primera.
📘 4. Probar el valor del borde
    El borde es el valor exacto donde una condición cambia de resultado.</a:t>
            </a:r>
          </a:p>
        </p:txBody>
      </p:sp>
      <p:sp>
        <p:nvSpPr>
          <p:cNvPr id="10" name="Rectangle 9"/>
          <p:cNvSpPr/>
          <p:nvPr/>
        </p:nvSpPr>
        <p:spPr>
          <a:xfrm>
            <a:off x="5961888" y="1115568"/>
            <a:ext cx="5681167" cy="54864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61888" y="1115568"/>
            <a:ext cx="5681167" cy="91440"/>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79" y="1298448"/>
            <a:ext cx="5425135" cy="5212080"/>
          </a:xfrm>
          <a:prstGeom prst="rect">
            <a:avLst/>
          </a:prstGeom>
          <a:noFill/>
        </p:spPr>
        <p:txBody>
          <a:bodyPr wrap="square" anchor="t">
            <a:spAutoFit/>
          </a:bodyPr>
          <a:lstStyle/>
          <a:p>
            <a:pPr algn="l"/>
            <a:r>
              <a:rPr sz="1800" b="0">
                <a:solidFill>
                  <a:srgbClr val="4ADFCB"/>
                </a:solidFill>
                <a:latin typeface="Consolas"/>
              </a:rPr>
              <a:t>  bateria_baja = True</a:t>
            </a:r>
          </a:p>
          <a:p>
            <a:pPr algn="l"/>
            <a:r>
              <a:rPr sz="1800" b="0">
                <a:solidFill>
                  <a:srgbClr val="4ADFCB"/>
                </a:solidFill>
                <a:latin typeface="Consolas"/>
              </a:rPr>
              <a:t>  hay_wifi_disponible = True</a:t>
            </a:r>
          </a:p>
          <a:p>
            <a:pPr algn="l"/>
            <a:endParaRPr sz="1800" b="0">
              <a:solidFill>
                <a:srgbClr val="4ADFCB"/>
              </a:solidFill>
              <a:latin typeface="Consolas"/>
            </a:endParaRPr>
          </a:p>
          <a:p>
            <a:pPr algn="l"/>
            <a:r>
              <a:rPr sz="1800" b="0">
                <a:solidFill>
                  <a:srgbClr val="4ADFCB"/>
                </a:solidFill>
                <a:latin typeface="Consolas"/>
              </a:rPr>
              <a:t>  if bateria_baja == True:</a:t>
            </a:r>
          </a:p>
          <a:p>
            <a:pPr algn="l"/>
            <a:r>
              <a:rPr sz="1800" b="0">
                <a:solidFill>
                  <a:srgbClr val="4ADFCB"/>
                </a:solidFill>
                <a:latin typeface="Consolas"/>
              </a:rPr>
              <a:t>      print("Queda poca batería.")</a:t>
            </a:r>
          </a:p>
          <a:p>
            <a:pPr algn="l"/>
            <a:r>
              <a:rPr sz="1800" b="0">
                <a:solidFill>
                  <a:srgbClr val="4ADFCB"/>
                </a:solidFill>
                <a:latin typeface="Consolas"/>
              </a:rPr>
              <a:t>  &gt;&gt; Queda poca batería.</a:t>
            </a:r>
          </a:p>
          <a:p>
            <a:pPr algn="l"/>
            <a:endParaRPr sz="1800" b="0">
              <a:solidFill>
                <a:srgbClr val="4ADFCB"/>
              </a:solidFill>
              <a:latin typeface="Consolas"/>
            </a:endParaRPr>
          </a:p>
          <a:p>
            <a:pPr algn="l"/>
            <a:r>
              <a:rPr sz="1800" b="0">
                <a:solidFill>
                  <a:srgbClr val="4ADFCB"/>
                </a:solidFill>
                <a:latin typeface="Consolas"/>
              </a:rPr>
              <a:t>  if hay_wifi_disponible == True:</a:t>
            </a:r>
          </a:p>
          <a:p>
            <a:pPr algn="l"/>
            <a:r>
              <a:rPr sz="1800" b="0">
                <a:solidFill>
                  <a:srgbClr val="4ADFCB"/>
                </a:solidFill>
                <a:latin typeface="Consolas"/>
              </a:rPr>
              <a:t>      print("Hay wifi disponible.")</a:t>
            </a:r>
          </a:p>
          <a:p>
            <a:pPr algn="l"/>
            <a:r>
              <a:rPr sz="1800" b="0">
                <a:solidFill>
                  <a:srgbClr val="4ADFCB"/>
                </a:solidFill>
                <a:latin typeface="Consolas"/>
              </a:rPr>
              <a:t>  &gt;&gt; Hay wifi disponible.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0F1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79" y="118872"/>
            <a:ext cx="5486400" cy="320040"/>
          </a:xfrm>
          <a:prstGeom prst="rect">
            <a:avLst/>
          </a:prstGeom>
          <a:noFill/>
        </p:spPr>
        <p:txBody>
          <a:bodyPr wrap="square" anchor="ctr">
            <a:spAutoFit/>
          </a:bodyPr>
          <a:lstStyle/>
          <a:p>
            <a:pPr algn="l"/>
            <a:r>
              <a:rPr sz="1200" b="0">
                <a:solidFill>
                  <a:srgbClr val="94A3B8"/>
                </a:solidFill>
                <a:latin typeface="Consolas"/>
              </a:rPr>
              <a:t>🐍 Python · Clase 19.5</a:t>
            </a:r>
          </a:p>
        </p:txBody>
      </p:sp>
      <p:sp>
        <p:nvSpPr>
          <p:cNvPr id="5" name="TextBox 4"/>
          <p:cNvSpPr txBox="1"/>
          <p:nvPr/>
        </p:nvSpPr>
        <p:spPr>
          <a:xfrm>
            <a:off x="8534095" y="118872"/>
            <a:ext cx="3200400" cy="320040"/>
          </a:xfrm>
          <a:prstGeom prst="rect">
            <a:avLst/>
          </a:prstGeom>
          <a:noFill/>
        </p:spPr>
        <p:txBody>
          <a:bodyPr wrap="square" anchor="ctr">
            <a:spAutoFit/>
          </a:bodyPr>
          <a:lstStyle/>
          <a:p>
            <a:pPr algn="r"/>
            <a:r>
              <a:rPr sz="1200" b="1">
                <a:solidFill>
                  <a:srgbClr val="0F9B8E"/>
                </a:solidFill>
                <a:latin typeface="Consolas"/>
              </a:rPr>
              <a:t>Errores típicos</a:t>
            </a:r>
          </a:p>
        </p:txBody>
      </p:sp>
      <p:sp>
        <p:nvSpPr>
          <p:cNvPr id="6" name="TextBox 5"/>
          <p:cNvSpPr txBox="1"/>
          <p:nvPr/>
        </p:nvSpPr>
        <p:spPr>
          <a:xfrm>
            <a:off x="548640" y="868680"/>
            <a:ext cx="11094415" cy="685800"/>
          </a:xfrm>
          <a:prstGeom prst="rect">
            <a:avLst/>
          </a:prstGeom>
          <a:noFill/>
        </p:spPr>
        <p:txBody>
          <a:bodyPr wrap="square" anchor="t">
            <a:spAutoFit/>
          </a:bodyPr>
          <a:lstStyle/>
          <a:p>
            <a:pPr algn="l"/>
            <a:r>
              <a:rPr sz="3200" b="1">
                <a:solidFill>
                  <a:srgbClr val="FFFFFF"/>
                </a:solidFill>
                <a:latin typeface="Calibri"/>
              </a:rPr>
              <a:t>⚠️ Errores típicos a evitar</a:t>
            </a:r>
          </a:p>
        </p:txBody>
      </p:sp>
      <p:graphicFrame>
        <p:nvGraphicFramePr>
          <p:cNvPr id="7" name="Table 6"/>
          <p:cNvGraphicFramePr>
            <a:graphicFrameLocks noGrp="1"/>
          </p:cNvGraphicFramePr>
          <p:nvPr/>
        </p:nvGraphicFramePr>
        <p:xfrm>
          <a:off x="548640" y="1600200"/>
          <a:ext cx="11094415" cy="41148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779215">
                  <a:extLst>
                    <a:ext uri="{9D8B030D-6E8A-4147-A177-3AD203B41FA5}">
                      <a16:colId xmlns:a16="http://schemas.microsoft.com/office/drawing/2014/main" val="20002"/>
                    </a:ext>
                  </a:extLst>
                </a:gridCol>
              </a:tblGrid>
              <a:tr h="1028700">
                <a:tc>
                  <a:txBody>
                    <a:bodyPr/>
                    <a:lstStyle/>
                    <a:p>
                      <a:pPr algn="ctr"/>
                      <a:r>
                        <a:rPr sz="1800" b="1">
                          <a:solidFill>
                            <a:srgbClr val="FFFFFF"/>
                          </a:solidFill>
                          <a:latin typeface="Calibri"/>
                        </a:rPr>
                        <a:t>Error</a:t>
                      </a:r>
                    </a:p>
                  </a:txBody>
                  <a:tcPr anchor="ctr">
                    <a:solidFill>
                      <a:srgbClr val="0F162A"/>
                    </a:solidFill>
                  </a:tcPr>
                </a:tc>
                <a:tc>
                  <a:txBody>
                    <a:bodyPr/>
                    <a:lstStyle/>
                    <a:p>
                      <a:pPr algn="ctr"/>
                      <a:r>
                        <a:rPr sz="1800" b="1">
                          <a:solidFill>
                            <a:srgbClr val="FFFFFF"/>
                          </a:solidFill>
                          <a:latin typeface="Calibri"/>
                        </a:rPr>
                        <a:t>Qué ocurre</a:t>
                      </a:r>
                    </a:p>
                  </a:txBody>
                  <a:tcPr anchor="ctr">
                    <a:solidFill>
                      <a:srgbClr val="0F162A"/>
                    </a:solidFill>
                  </a:tcPr>
                </a:tc>
                <a:tc>
                  <a:txBody>
                    <a:bodyPr/>
                    <a:lstStyle/>
                    <a:p>
                      <a:pPr algn="ctr"/>
                      <a:r>
                        <a:rPr sz="1800" b="1">
                          <a:solidFill>
                            <a:srgbClr val="FFFFFF"/>
                          </a:solidFill>
                          <a:latin typeface="Calibri"/>
                        </a:rPr>
                        <a:t>Cómo corregirlo</a:t>
                      </a:r>
                    </a:p>
                  </a:txBody>
                  <a:tcPr anchor="ctr">
                    <a:solidFill>
                      <a:srgbClr val="0F162A"/>
                    </a:solidFill>
                  </a:tcPr>
                </a:tc>
                <a:extLst>
                  <a:ext uri="{0D108BD9-81ED-4DB2-BD59-A6C34878D82A}">
                    <a16:rowId xmlns:a16="http://schemas.microsoft.com/office/drawing/2014/main" val="10000"/>
                  </a:ext>
                </a:extLst>
              </a:tr>
              <a:tr h="1028700">
                <a:tc>
                  <a:txBody>
                    <a:bodyPr/>
                    <a:lstStyle/>
                    <a:p>
                      <a:pPr algn="l"/>
                      <a:r>
                        <a:rPr sz="1600">
                          <a:solidFill>
                            <a:srgbClr val="FFFFFF"/>
                          </a:solidFill>
                          <a:latin typeface="Calibri"/>
                        </a:rPr>
                        <a:t>Cadena de </a:t>
                      </a:r>
                      <a:r>
                        <a:rPr sz="1600">
                          <a:solidFill>
                            <a:srgbClr val="4ADFCB"/>
                          </a:solidFill>
                          <a:latin typeface="Consolas"/>
                        </a:rPr>
                        <a:t>elif</a:t>
                      </a:r>
                      <a:r>
                        <a:rPr sz="1600">
                          <a:solidFill>
                            <a:srgbClr val="FFFFFF"/>
                          </a:solidFill>
                          <a:latin typeface="Calibri"/>
                        </a:rPr>
                        <a:t> ordenada de menor a mayor</a:t>
                      </a:r>
                    </a:p>
                  </a:txBody>
                  <a:tcPr anchor="ctr">
                    <a:solidFill>
                      <a:srgbClr val="1F2944"/>
                    </a:solidFill>
                  </a:tcPr>
                </a:tc>
                <a:tc>
                  <a:txBody>
                    <a:bodyPr/>
                    <a:lstStyle/>
                    <a:p>
                      <a:pPr algn="l"/>
                      <a:r>
                        <a:rPr sz="1600">
                          <a:solidFill>
                            <a:srgbClr val="FFFFFF"/>
                          </a:solidFill>
                          <a:latin typeface="Calibri"/>
                        </a:rPr>
                        <a:t>La condición más amplia se cumple primero y se lleva todos los casos. Las ramas más exigentes nunca se alcanzan.</a:t>
                      </a:r>
                    </a:p>
                  </a:txBody>
                  <a:tcPr anchor="ctr">
                    <a:solidFill>
                      <a:srgbClr val="1F2944"/>
                    </a:solidFill>
                  </a:tcPr>
                </a:tc>
                <a:tc>
                  <a:txBody>
                    <a:bodyPr/>
                    <a:lstStyle/>
                    <a:p>
                      <a:pPr algn="l"/>
                      <a:r>
                        <a:rPr sz="1600">
                          <a:solidFill>
                            <a:srgbClr val="FFFFFF"/>
                          </a:solidFill>
                          <a:latin typeface="Calibri"/>
                        </a:rPr>
                        <a:t>Ordenar de mayor a menor exigencia, y probar un valor de cada franja.</a:t>
                      </a:r>
                    </a:p>
                  </a:txBody>
                  <a:tcPr anchor="ctr">
                    <a:solidFill>
                      <a:srgbClr val="1F2944"/>
                    </a:solidFill>
                  </a:tcPr>
                </a:tc>
                <a:extLst>
                  <a:ext uri="{0D108BD9-81ED-4DB2-BD59-A6C34878D82A}">
                    <a16:rowId xmlns:a16="http://schemas.microsoft.com/office/drawing/2014/main" val="10001"/>
                  </a:ext>
                </a:extLst>
              </a:tr>
              <a:tr h="1028700">
                <a:tc>
                  <a:txBody>
                    <a:bodyPr/>
                    <a:lstStyle/>
                    <a:p>
                      <a:pPr algn="l"/>
                      <a:r>
                        <a:rPr sz="1600">
                          <a:solidFill>
                            <a:srgbClr val="FFFFFF"/>
                          </a:solidFill>
                          <a:latin typeface="Calibri"/>
                        </a:rPr>
                        <a:t>Dos preguntas dependientes escritas como </a:t>
                      </a:r>
                      <a:r>
                        <a:rPr sz="1600">
                          <a:solidFill>
                            <a:srgbClr val="4ADFCB"/>
                          </a:solidFill>
                          <a:latin typeface="Consolas"/>
                        </a:rPr>
                        <a:t>if</a:t>
                      </a:r>
                      <a:r>
                        <a:rPr sz="1600">
                          <a:solidFill>
                            <a:srgbClr val="FFFFFF"/>
                          </a:solidFill>
                          <a:latin typeface="Calibri"/>
                        </a:rPr>
                        <a:t> sueltos</a:t>
                      </a:r>
                    </a:p>
                  </a:txBody>
                  <a:tcPr anchor="ctr">
                    <a:solidFill>
                      <a:srgbClr val="1F2944"/>
                    </a:solidFill>
                  </a:tcPr>
                </a:tc>
                <a:tc>
                  <a:txBody>
                    <a:bodyPr/>
                    <a:lstStyle/>
                    <a:p>
                      <a:pPr algn="l"/>
                      <a:r>
                        <a:rPr sz="1600">
                          <a:solidFill>
                            <a:srgbClr val="FFFFFF"/>
                          </a:solidFill>
                          <a:latin typeface="Calibri"/>
                        </a:rPr>
                        <a:t>La segunda pregunta se hace siempre, aunque la primera ya haya resuelto el caso. Salen dos mensajes que se contradicen.</a:t>
                      </a:r>
                    </a:p>
                  </a:txBody>
                  <a:tcPr anchor="ctr">
                    <a:solidFill>
                      <a:srgbClr val="1F2944"/>
                    </a:solidFill>
                  </a:tcPr>
                </a:tc>
                <a:tc>
                  <a:txBody>
                    <a:bodyPr/>
                    <a:lstStyle/>
                    <a:p>
                      <a:pPr algn="l"/>
                      <a:r>
                        <a:rPr sz="1600">
                          <a:solidFill>
                            <a:srgbClr val="FFFFFF"/>
                          </a:solidFill>
                          <a:latin typeface="Calibri"/>
                        </a:rPr>
                        <a:t>Escribir la segunda pregunta dentro del </a:t>
                      </a:r>
                      <a:r>
                        <a:rPr sz="1600">
                          <a:solidFill>
                            <a:srgbClr val="4ADFCB"/>
                          </a:solidFill>
                          <a:latin typeface="Consolas"/>
                        </a:rPr>
                        <a:t>if</a:t>
                      </a:r>
                      <a:r>
                        <a:rPr sz="1600">
                          <a:solidFill>
                            <a:srgbClr val="FFFFFF"/>
                          </a:solidFill>
                          <a:latin typeface="Calibri"/>
                        </a:rPr>
                        <a:t> o del </a:t>
                      </a:r>
                      <a:r>
                        <a:rPr sz="1600">
                          <a:solidFill>
                            <a:srgbClr val="4ADFCB"/>
                          </a:solidFill>
                          <a:latin typeface="Consolas"/>
                        </a:rPr>
                        <a:t>else</a:t>
                      </a:r>
                      <a:r>
                        <a:rPr sz="1600">
                          <a:solidFill>
                            <a:srgbClr val="FFFFFF"/>
                          </a:solidFill>
                          <a:latin typeface="Calibri"/>
                        </a:rPr>
                        <a:t> de la primera.</a:t>
                      </a:r>
                    </a:p>
                  </a:txBody>
                  <a:tcPr anchor="ctr">
                    <a:solidFill>
                      <a:srgbClr val="1F2944"/>
                    </a:solidFill>
                  </a:tcPr>
                </a:tc>
                <a:extLst>
                  <a:ext uri="{0D108BD9-81ED-4DB2-BD59-A6C34878D82A}">
                    <a16:rowId xmlns:a16="http://schemas.microsoft.com/office/drawing/2014/main" val="10002"/>
                  </a:ext>
                </a:extLst>
              </a:tr>
              <a:tr h="1028700">
                <a:tc>
                  <a:txBody>
                    <a:bodyPr/>
                    <a:lstStyle/>
                    <a:p>
                      <a:pPr algn="l"/>
                      <a:r>
                        <a:rPr sz="1600">
                          <a:solidFill>
                            <a:srgbClr val="FFFFFF"/>
                          </a:solidFill>
                          <a:latin typeface="Calibri"/>
                        </a:rPr>
                        <a:t>Usar </a:t>
                      </a:r>
                      <a:r>
                        <a:rPr sz="1600">
                          <a:solidFill>
                            <a:srgbClr val="4ADFCB"/>
                          </a:solidFill>
                          <a:latin typeface="Consolas"/>
                        </a:rPr>
                        <a:t>&gt;</a:t>
                      </a:r>
                      <a:r>
                        <a:rPr sz="1600">
                          <a:solidFill>
                            <a:srgbClr val="FFFFFF"/>
                          </a:solidFill>
                          <a:latin typeface="Calibri"/>
                        </a:rPr>
                        <a:t> donde correspondía </a:t>
                      </a:r>
                      <a:r>
                        <a:rPr sz="1600">
                          <a:solidFill>
                            <a:srgbClr val="4ADFCB"/>
                          </a:solidFill>
                          <a:latin typeface="Consolas"/>
                        </a:rPr>
                        <a:t>&gt;=</a:t>
                      </a:r>
                      <a:r>
                        <a:rPr sz="1600">
                          <a:solidFill>
                            <a:srgbClr val="FFFFFF"/>
                          </a:solidFill>
                          <a:latin typeface="Calibri"/>
                        </a:rPr>
                        <a:t> (o al revés)</a:t>
                      </a:r>
                    </a:p>
                  </a:txBody>
                  <a:tcPr anchor="ctr">
                    <a:solidFill>
                      <a:srgbClr val="1F2944"/>
                    </a:solidFill>
                  </a:tcPr>
                </a:tc>
                <a:tc>
                  <a:txBody>
                    <a:bodyPr/>
                    <a:lstStyle/>
                    <a:p>
                      <a:pPr algn="l"/>
                      <a:r>
                        <a:rPr sz="1600">
                          <a:solidFill>
                            <a:srgbClr val="FFFFFF"/>
                          </a:solidFill>
                          <a:latin typeface="Calibri"/>
                        </a:rPr>
                        <a:t>El programa funciona con todos los ejemplos menos con el valor exacto del borde.</a:t>
                      </a:r>
                    </a:p>
                  </a:txBody>
                  <a:tcPr anchor="ctr">
                    <a:solidFill>
                      <a:srgbClr val="1F2944"/>
                    </a:solidFill>
                  </a:tcPr>
                </a:tc>
                <a:tc>
                  <a:txBody>
                    <a:bodyPr/>
                    <a:lstStyle/>
                    <a:p>
                      <a:pPr algn="l"/>
                      <a:r>
                        <a:rPr sz="1600">
                          <a:solidFill>
                            <a:srgbClr val="FFFFFF"/>
                          </a:solidFill>
                          <a:latin typeface="Calibri"/>
                        </a:rPr>
                        <a:t>Probar siempre el valor del borde antes de dar el programa por terminado.</a:t>
                      </a:r>
                    </a:p>
                  </a:txBody>
                  <a:tcPr anchor="ctr">
                    <a:solidFill>
                      <a:srgbClr val="1F2944"/>
                    </a:solidFill>
                  </a:tcPr>
                </a:tc>
                <a:extLst>
                  <a:ext uri="{0D108BD9-81ED-4DB2-BD59-A6C34878D82A}">
                    <a16:rowId xmlns:a16="http://schemas.microsoft.com/office/drawing/2014/main" val="10003"/>
                  </a:ext>
                </a:extLst>
              </a:tr>
            </a:tbl>
          </a:graphicData>
        </a:graphic>
      </p:graphicFrame>
      <p:sp>
        <p:nvSpPr>
          <p:cNvPr id="8" name="Rectangle 7"/>
          <p:cNvSpPr/>
          <p:nvPr/>
        </p:nvSpPr>
        <p:spPr>
          <a:xfrm>
            <a:off x="548640" y="5943600"/>
            <a:ext cx="11094415" cy="64008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5943600"/>
            <a:ext cx="73152" cy="640080"/>
          </a:xfrm>
          <a:prstGeom prst="rect">
            <a:avLst/>
          </a:prstGeom>
          <a:solidFill>
            <a:srgbClr val="0F9B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5989320"/>
            <a:ext cx="10820095" cy="548640"/>
          </a:xfrm>
          <a:prstGeom prst="rect">
            <a:avLst/>
          </a:prstGeom>
          <a:noFill/>
        </p:spPr>
        <p:txBody>
          <a:bodyPr wrap="square" anchor="ctr">
            <a:spAutoFit/>
          </a:bodyPr>
          <a:lstStyle/>
          <a:p>
            <a:pPr algn="l"/>
            <a:r>
              <a:rPr sz="2000" b="0">
                <a:solidFill>
                  <a:srgbClr val="FFFFFF"/>
                </a:solidFill>
                <a:latin typeface="Calibri"/>
              </a:rPr>
              <a:t>💡 Si te aparece uno de estos errores, vuelve a esta tabla antes de pedir ayuda.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94415" cy="640080"/>
          </a:xfrm>
          <a:prstGeom prst="rect">
            <a:avLst/>
          </a:prstGeom>
          <a:noFill/>
        </p:spPr>
        <p:txBody>
          <a:bodyPr wrap="square" anchor="t">
            <a:spAutoFit/>
          </a:bodyPr>
          <a:lstStyle/>
          <a:p>
            <a:pPr algn="l"/>
            <a:r>
              <a:rPr sz="3600" b="1">
                <a:solidFill>
                  <a:srgbClr val="FFFFFF"/>
                </a:solidFill>
                <a:latin typeface="Calibri"/>
              </a:rPr>
              <a:t>Cierre</a:t>
            </a:r>
          </a:p>
        </p:txBody>
      </p:sp>
      <p:sp>
        <p:nvSpPr>
          <p:cNvPr id="4" name="Rectangle 3"/>
          <p:cNvSpPr/>
          <p:nvPr/>
        </p:nvSpPr>
        <p:spPr>
          <a:xfrm>
            <a:off x="548640" y="1051560"/>
            <a:ext cx="1188720"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325880"/>
            <a:ext cx="11094415" cy="1417320"/>
          </a:xfrm>
          <a:prstGeom prst="rect">
            <a:avLst/>
          </a:prstGeom>
          <a:solidFill>
            <a:srgbClr val="0F1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463039"/>
            <a:ext cx="1463040" cy="365760"/>
          </a:xfrm>
          <a:prstGeom prst="rect">
            <a:avLst/>
          </a:prstGeom>
          <a:noFill/>
        </p:spPr>
        <p:txBody>
          <a:bodyPr wrap="square" anchor="t">
            <a:spAutoFit/>
          </a:bodyPr>
          <a:lstStyle/>
          <a:p>
            <a:pPr algn="l"/>
            <a:r>
              <a:rPr sz="1600" b="1">
                <a:solidFill>
                  <a:srgbClr val="F5A623"/>
                </a:solidFill>
                <a:latin typeface="Calibri"/>
              </a:rPr>
              <a:t>Objetivo</a:t>
            </a:r>
          </a:p>
        </p:txBody>
      </p:sp>
      <p:sp>
        <p:nvSpPr>
          <p:cNvPr id="7" name="TextBox 6"/>
          <p:cNvSpPr txBox="1"/>
          <p:nvPr/>
        </p:nvSpPr>
        <p:spPr>
          <a:xfrm>
            <a:off x="2331720" y="1463039"/>
            <a:ext cx="9082735" cy="1143000"/>
          </a:xfrm>
          <a:prstGeom prst="rect">
            <a:avLst/>
          </a:prstGeom>
          <a:noFill/>
        </p:spPr>
        <p:txBody>
          <a:bodyPr wrap="square" anchor="t">
            <a:normAutofit lnSpcReduction="10000"/>
          </a:bodyPr>
          <a:lstStyle/>
          <a:p>
            <a:pPr algn="l"/>
            <a:r>
              <a:rPr sz="2400" b="0">
                <a:solidFill>
                  <a:srgbClr val="FFFFFF"/>
                </a:solidFill>
                <a:latin typeface="Calibri"/>
              </a:rPr>
              <a:t>Distinguir si dos condiciones son independientes, excluyentes o dependientes, escribir la forma de </a:t>
            </a:r>
            <a:r>
              <a:rPr sz="2400" b="0">
                <a:solidFill>
                  <a:srgbClr val="4ADFCB"/>
                </a:solidFill>
                <a:latin typeface="Consolas"/>
              </a:rPr>
              <a:t>if</a:t>
            </a:r>
            <a:r>
              <a:rPr sz="2400" b="0">
                <a:solidFill>
                  <a:srgbClr val="FFFFFF"/>
                </a:solidFill>
                <a:latin typeface="Calibri"/>
              </a:rPr>
              <a:t> que corresponde a cada caso y comprobarla en el valor del borde, con rigurosidad.</a:t>
            </a:r>
          </a:p>
        </p:txBody>
      </p:sp>
      <p:sp>
        <p:nvSpPr>
          <p:cNvPr id="8" name="Rectangle 7"/>
          <p:cNvSpPr/>
          <p:nvPr/>
        </p:nvSpPr>
        <p:spPr>
          <a:xfrm>
            <a:off x="548640" y="3017520"/>
            <a:ext cx="5387187" cy="342900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3246120"/>
            <a:ext cx="4838547" cy="411480"/>
          </a:xfrm>
          <a:prstGeom prst="rect">
            <a:avLst/>
          </a:prstGeom>
          <a:noFill/>
        </p:spPr>
        <p:txBody>
          <a:bodyPr wrap="square" anchor="t">
            <a:spAutoFit/>
          </a:bodyPr>
          <a:lstStyle/>
          <a:p>
            <a:pPr algn="ctr"/>
            <a:r>
              <a:rPr sz="1900" b="1">
                <a:solidFill>
                  <a:srgbClr val="38BDF8"/>
                </a:solidFill>
                <a:latin typeface="Calibri"/>
              </a:rPr>
              <a:t>Comprensión 1 a 5</a:t>
            </a:r>
          </a:p>
        </p:txBody>
      </p:sp>
      <p:sp>
        <p:nvSpPr>
          <p:cNvPr id="10" name="TextBox 9"/>
          <p:cNvSpPr txBox="1"/>
          <p:nvPr/>
        </p:nvSpPr>
        <p:spPr>
          <a:xfrm>
            <a:off x="868680" y="3794759"/>
            <a:ext cx="4747107" cy="2423160"/>
          </a:xfrm>
          <a:prstGeom prst="rect">
            <a:avLst/>
          </a:prstGeom>
          <a:noFill/>
        </p:spPr>
        <p:txBody>
          <a:bodyPr wrap="square" anchor="t">
            <a:normAutofit/>
          </a:bodyPr>
          <a:lstStyle/>
          <a:p>
            <a:pPr algn="ctr"/>
            <a:r>
              <a:rPr sz="2400" b="0" dirty="0">
                <a:solidFill>
                  <a:srgbClr val="FFFFFF"/>
                </a:solidFill>
                <a:latin typeface="Calibri"/>
              </a:rPr>
              <a:t>¿</a:t>
            </a:r>
            <a:r>
              <a:rPr sz="2400" b="0" dirty="0" err="1">
                <a:solidFill>
                  <a:srgbClr val="FFFFFF"/>
                </a:solidFill>
                <a:latin typeface="Calibri"/>
              </a:rPr>
              <a:t>Qué</a:t>
            </a:r>
            <a:r>
              <a:rPr sz="2400" b="0" dirty="0">
                <a:solidFill>
                  <a:srgbClr val="FFFFFF"/>
                </a:solidFill>
                <a:latin typeface="Calibri"/>
              </a:rPr>
              <a:t> tan </a:t>
            </a:r>
            <a:r>
              <a:rPr sz="2400" b="0" dirty="0" err="1">
                <a:solidFill>
                  <a:srgbClr val="FFFFFF"/>
                </a:solidFill>
                <a:latin typeface="Calibri"/>
              </a:rPr>
              <a:t>seguro</a:t>
            </a:r>
            <a:r>
              <a:rPr sz="2400" b="0" dirty="0">
                <a:solidFill>
                  <a:srgbClr val="FFFFFF"/>
                </a:solidFill>
                <a:latin typeface="Calibri"/>
              </a:rPr>
              <a:t>/a </a:t>
            </a:r>
            <a:r>
              <a:rPr sz="2400" b="0" dirty="0" err="1">
                <a:solidFill>
                  <a:srgbClr val="FFFFFF"/>
                </a:solidFill>
                <a:latin typeface="Calibri"/>
              </a:rPr>
              <a:t>te</a:t>
            </a:r>
            <a:r>
              <a:rPr sz="2400" b="0" dirty="0">
                <a:solidFill>
                  <a:srgbClr val="FFFFFF"/>
                </a:solidFill>
                <a:latin typeface="Calibri"/>
              </a:rPr>
              <a:t> </a:t>
            </a:r>
            <a:r>
              <a:rPr sz="2400" b="0" dirty="0" err="1">
                <a:solidFill>
                  <a:srgbClr val="FFFFFF"/>
                </a:solidFill>
                <a:latin typeface="Calibri"/>
              </a:rPr>
              <a:t>sientes</a:t>
            </a:r>
            <a:r>
              <a:rPr sz="2400" b="0" dirty="0">
                <a:solidFill>
                  <a:srgbClr val="FFFFFF"/>
                </a:solidFill>
                <a:latin typeface="Calibri"/>
              </a:rPr>
              <a:t> </a:t>
            </a:r>
            <a:r>
              <a:rPr sz="2400" b="0" dirty="0" err="1">
                <a:solidFill>
                  <a:srgbClr val="FFFFFF"/>
                </a:solidFill>
                <a:latin typeface="Calibri"/>
              </a:rPr>
              <a:t>decidiendo</a:t>
            </a:r>
            <a:r>
              <a:rPr sz="2400" b="0" dirty="0">
                <a:solidFill>
                  <a:srgbClr val="FFFFFF"/>
                </a:solidFill>
                <a:latin typeface="Calibri"/>
              </a:rPr>
              <a:t> </a:t>
            </a:r>
            <a:r>
              <a:rPr sz="2400" b="0" dirty="0" err="1">
                <a:solidFill>
                  <a:srgbClr val="FFFFFF"/>
                </a:solidFill>
                <a:latin typeface="Calibri"/>
              </a:rPr>
              <a:t>si</a:t>
            </a:r>
            <a:r>
              <a:rPr sz="2400" b="0" dirty="0">
                <a:solidFill>
                  <a:srgbClr val="FFFFFF"/>
                </a:solidFill>
                <a:latin typeface="Calibri"/>
              </a:rPr>
              <a:t> dos </a:t>
            </a:r>
            <a:r>
              <a:rPr sz="2400" b="0" dirty="0" err="1">
                <a:solidFill>
                  <a:srgbClr val="FFFFFF"/>
                </a:solidFill>
                <a:latin typeface="Calibri"/>
              </a:rPr>
              <a:t>condiciones</a:t>
            </a:r>
            <a:r>
              <a:rPr sz="2400" b="0" dirty="0">
                <a:solidFill>
                  <a:srgbClr val="FFFFFF"/>
                </a:solidFill>
                <a:latin typeface="Calibri"/>
              </a:rPr>
              <a:t> van </a:t>
            </a:r>
            <a:r>
              <a:rPr sz="2400" b="0" dirty="0" err="1">
                <a:solidFill>
                  <a:srgbClr val="FFFFFF"/>
                </a:solidFill>
                <a:latin typeface="Calibri"/>
              </a:rPr>
              <a:t>encadenadas</a:t>
            </a:r>
            <a:r>
              <a:rPr sz="2400" b="0" dirty="0">
                <a:solidFill>
                  <a:srgbClr val="FFFFFF"/>
                </a:solidFill>
                <a:latin typeface="Calibri"/>
              </a:rPr>
              <a:t> con </a:t>
            </a:r>
            <a:r>
              <a:rPr sz="2400" b="0" dirty="0" err="1">
                <a:solidFill>
                  <a:srgbClr val="4ADFCB"/>
                </a:solidFill>
                <a:latin typeface="Consolas"/>
              </a:rPr>
              <a:t>elif</a:t>
            </a:r>
            <a:r>
              <a:rPr sz="2400" b="0" dirty="0">
                <a:solidFill>
                  <a:srgbClr val="FFFFFF"/>
                </a:solidFill>
                <a:latin typeface="Calibri"/>
              </a:rPr>
              <a:t> o </a:t>
            </a:r>
            <a:r>
              <a:rPr sz="2400" b="0" dirty="0" err="1">
                <a:solidFill>
                  <a:srgbClr val="FFFFFF"/>
                </a:solidFill>
                <a:latin typeface="Calibri"/>
              </a:rPr>
              <a:t>en</a:t>
            </a:r>
            <a:r>
              <a:rPr sz="2400" b="0" dirty="0">
                <a:solidFill>
                  <a:srgbClr val="FFFFFF"/>
                </a:solidFill>
                <a:latin typeface="Calibri"/>
              </a:rPr>
              <a:t> </a:t>
            </a:r>
            <a:r>
              <a:rPr sz="2400" b="0" dirty="0">
                <a:solidFill>
                  <a:srgbClr val="4ADFCB"/>
                </a:solidFill>
                <a:latin typeface="Consolas"/>
              </a:rPr>
              <a:t>if</a:t>
            </a:r>
            <a:r>
              <a:rPr sz="2400" b="0" dirty="0">
                <a:solidFill>
                  <a:srgbClr val="FFFFFF"/>
                </a:solidFill>
                <a:latin typeface="Calibri"/>
              </a:rPr>
              <a:t> </a:t>
            </a:r>
            <a:r>
              <a:rPr sz="2400" b="0" dirty="0" err="1">
                <a:solidFill>
                  <a:srgbClr val="FFFFFF"/>
                </a:solidFill>
                <a:latin typeface="Calibri"/>
              </a:rPr>
              <a:t>separados</a:t>
            </a:r>
            <a:r>
              <a:rPr sz="2400" b="0" dirty="0">
                <a:solidFill>
                  <a:srgbClr val="FFFFFF"/>
                </a:solidFill>
                <a:latin typeface="Calibri"/>
              </a:rPr>
              <a:t>?, </a:t>
            </a:r>
            <a:r>
              <a:rPr sz="2400" b="0" dirty="0" err="1">
                <a:solidFill>
                  <a:srgbClr val="FFFFFF"/>
                </a:solidFill>
                <a:latin typeface="Calibri"/>
              </a:rPr>
              <a:t>donde</a:t>
            </a:r>
            <a:r>
              <a:rPr sz="2400" b="0" dirty="0">
                <a:solidFill>
                  <a:srgbClr val="FFFFFF"/>
                </a:solidFill>
                <a:latin typeface="Calibri"/>
              </a:rPr>
              <a:t> 1 es "no </a:t>
            </a:r>
            <a:r>
              <a:rPr sz="2400" b="0" dirty="0" err="1">
                <a:solidFill>
                  <a:srgbClr val="FFFFFF"/>
                </a:solidFill>
                <a:latin typeface="Calibri"/>
              </a:rPr>
              <a:t>entendí</a:t>
            </a:r>
            <a:r>
              <a:rPr sz="2400" b="0" dirty="0">
                <a:solidFill>
                  <a:srgbClr val="FFFFFF"/>
                </a:solidFill>
                <a:latin typeface="Calibri"/>
              </a:rPr>
              <a:t> nada" y 5 es "</a:t>
            </a:r>
            <a:r>
              <a:rPr sz="2400" b="0" dirty="0" err="1">
                <a:solidFill>
                  <a:srgbClr val="FFFFFF"/>
                </a:solidFill>
                <a:latin typeface="Calibri"/>
              </a:rPr>
              <a:t>puedo</a:t>
            </a:r>
            <a:r>
              <a:rPr sz="2400" b="0" dirty="0">
                <a:solidFill>
                  <a:srgbClr val="FFFFFF"/>
                </a:solidFill>
                <a:latin typeface="Calibri"/>
              </a:rPr>
              <a:t> </a:t>
            </a:r>
            <a:r>
              <a:rPr sz="2400" b="0" dirty="0" err="1">
                <a:solidFill>
                  <a:srgbClr val="FFFFFF"/>
                </a:solidFill>
                <a:latin typeface="Calibri"/>
              </a:rPr>
              <a:t>explicárselo</a:t>
            </a:r>
            <a:r>
              <a:rPr sz="2400" b="0" dirty="0">
                <a:solidFill>
                  <a:srgbClr val="FFFFFF"/>
                </a:solidFill>
                <a:latin typeface="Calibri"/>
              </a:rPr>
              <a:t> a </a:t>
            </a:r>
            <a:r>
              <a:rPr sz="2400" b="0" dirty="0" err="1">
                <a:solidFill>
                  <a:srgbClr val="FFFFFF"/>
                </a:solidFill>
                <a:latin typeface="Calibri"/>
              </a:rPr>
              <a:t>otro</a:t>
            </a:r>
            <a:r>
              <a:rPr sz="2400" b="0" dirty="0">
                <a:solidFill>
                  <a:srgbClr val="FFFFFF"/>
                </a:solidFill>
                <a:latin typeface="Calibri"/>
              </a:rPr>
              <a:t>".</a:t>
            </a:r>
          </a:p>
        </p:txBody>
      </p:sp>
      <p:sp>
        <p:nvSpPr>
          <p:cNvPr id="11" name="Rectangle 10"/>
          <p:cNvSpPr/>
          <p:nvPr/>
        </p:nvSpPr>
        <p:spPr>
          <a:xfrm>
            <a:off x="6255867" y="3017520"/>
            <a:ext cx="5387187" cy="3429000"/>
          </a:xfrm>
          <a:prstGeom prst="rect">
            <a:avLst/>
          </a:prstGeom>
          <a:solidFill>
            <a:srgbClr val="102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0187" y="3246120"/>
            <a:ext cx="4838547" cy="411480"/>
          </a:xfrm>
          <a:prstGeom prst="rect">
            <a:avLst/>
          </a:prstGeom>
          <a:noFill/>
        </p:spPr>
        <p:txBody>
          <a:bodyPr wrap="square" anchor="t">
            <a:spAutoFit/>
          </a:bodyPr>
          <a:lstStyle/>
          <a:p>
            <a:pPr algn="ctr"/>
            <a:r>
              <a:rPr sz="1900" b="1">
                <a:solidFill>
                  <a:srgbClr val="4ADE80"/>
                </a:solidFill>
                <a:latin typeface="Calibri"/>
              </a:rPr>
              <a:t>Propósito</a:t>
            </a:r>
          </a:p>
        </p:txBody>
      </p:sp>
      <p:sp>
        <p:nvSpPr>
          <p:cNvPr id="13" name="TextBox 12"/>
          <p:cNvSpPr txBox="1"/>
          <p:nvPr/>
        </p:nvSpPr>
        <p:spPr>
          <a:xfrm>
            <a:off x="6575907" y="3794759"/>
            <a:ext cx="4747107" cy="2423160"/>
          </a:xfrm>
          <a:prstGeom prst="rect">
            <a:avLst/>
          </a:prstGeom>
          <a:noFill/>
        </p:spPr>
        <p:txBody>
          <a:bodyPr wrap="square" anchor="t">
            <a:normAutofit/>
          </a:bodyPr>
          <a:lstStyle/>
          <a:p>
            <a:pPr algn="ctr"/>
            <a:r>
              <a:rPr sz="2400" b="0">
                <a:solidFill>
                  <a:srgbClr val="FFFFFF"/>
                </a:solidFill>
                <a:latin typeface="Calibri"/>
              </a:rPr>
              <a:t>Fuera de la programación, ¿en qué situación revisas siempre el caso del borde antes de dar algo por bueno?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1484</Words>
  <Application>Microsoft Office PowerPoint</Application>
  <PresentationFormat>Panorámica</PresentationFormat>
  <Paragraphs>134</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Diego Ignacio Vargas Palominos</cp:lastModifiedBy>
  <cp:revision>2</cp:revision>
  <dcterms:created xsi:type="dcterms:W3CDTF">2013-01-27T09:14:16Z</dcterms:created>
  <dcterms:modified xsi:type="dcterms:W3CDTF">2026-08-02T16:33:42Z</dcterms:modified>
  <cp:category/>
</cp:coreProperties>
</file>