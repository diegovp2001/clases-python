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8" roundtripDataSignature="AMtx7mgmY9v2LVIhltTYQQxO/h5cG//r/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5C0A791-112F-4430-9A13-FB05382DC230}">
  <a:tblStyle styleId="{35C0A791-112F-4430-9A13-FB05382DC23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8" Type="http://customschemas.google.com/relationships/presentationmetadata" Target="meta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46f2406c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46f2406cc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f46f2406cc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f46f2406cc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578362274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g3f578362274_0_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578362274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g3f578362274_0_6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admision.uc.cl/carreras/licenciatura-en-ingenieria-en-ciencia-de-la-computacion/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hyperlink" Target="https://admision.uc.cl/carreras/licenciatura-en-ingenieria-en-ciencia-de-datos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85800" y="594360"/>
            <a:ext cx="3657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600" u="none" cap="none" strike="noStrike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&gt;&gt;&gt;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685800" y="1554480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 + range()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85800" y="2487168"/>
            <a:ext cx="108200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Hoy: sentencia </a:t>
            </a:r>
            <a:r>
              <a:rPr b="0" i="0" lang="en-US" sz="2000" u="none" cap="none" strike="noStrike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2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, función </a:t>
            </a:r>
            <a:r>
              <a:rPr b="0" i="0" lang="en-US" sz="2000" u="none" cap="none" strike="noStrike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range(inicio, fin, salto)</a:t>
            </a:r>
            <a:r>
              <a:rPr b="0" i="0" lang="en-US" sz="2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con sus valores por defecto, patrón acumulador dentro de un bucle.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3035808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F9B8E"/>
                </a:solidFill>
                <a:latin typeface="Calibri"/>
                <a:ea typeface="Calibri"/>
                <a:cs typeface="Calibri"/>
                <a:sym typeface="Calibri"/>
              </a:rPr>
              <a:t>Clase 16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685800" y="3749039"/>
            <a:ext cx="10820095" cy="1920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685800" y="3749039"/>
            <a:ext cx="73152" cy="1920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914400" y="3822191"/>
            <a:ext cx="103628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Mensaje de hoy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914400" y="4251960"/>
            <a:ext cx="10362895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orden es la capacidad de escribir y organizar el código de manera clara, estructurada y fácil de seguir. Hoy desbloqueas una herramienta nueva ⚡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685800" y="274320"/>
            <a:ext cx="108200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&gt;&gt;&gt; Clase 16 - for + range()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685800" y="914400"/>
            <a:ext cx="534924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85800" y="914400"/>
            <a:ext cx="73152" cy="283464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914400" y="10058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9B8E"/>
                </a:solidFill>
                <a:latin typeface="Calibri"/>
                <a:ea typeface="Calibri"/>
                <a:cs typeface="Calibri"/>
                <a:sym typeface="Calibri"/>
              </a:rPr>
              <a:t>📘  Objetivo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1417320"/>
            <a:ext cx="50292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Construir programas en Python que utilicen la sentencia </a:t>
            </a:r>
            <a:r>
              <a:rPr b="0" i="0" lang="en-US" sz="2200" u="none" cap="none" strike="noStrike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y la función </a:t>
            </a:r>
            <a:r>
              <a:rPr b="0" i="0" lang="en-US" sz="2200" u="none" cap="none" strike="noStrike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range() </a:t>
            </a:r>
            <a:r>
              <a:rPr b="0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para repetir instrucciones y generar secuencias numéricas controladas, con rigurosidad.</a:t>
            </a:r>
            <a:endParaRPr b="0"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6263640" y="914400"/>
            <a:ext cx="534924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263640" y="914400"/>
            <a:ext cx="73152" cy="2834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492240" y="10058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💡  Propósito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6492240" y="1417320"/>
            <a:ext cx="50292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La rigurosidad es trabajar con cuidado y verificar que cada paso sea correcto, ya que pequeños errores pueden cambiar todo el resultado. Hoy la ejercitaremos usando </a:t>
            </a:r>
            <a:r>
              <a:rPr lang="en-US" sz="22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22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range()</a:t>
            </a: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>
              <a:solidFill>
                <a:srgbClr val="4ADFCB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85800" y="3931920"/>
            <a:ext cx="10820095" cy="2651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685800" y="3931920"/>
            <a:ext cx="73152" cy="26517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914400" y="4023359"/>
            <a:ext cx="103628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☝ Reglas de ahora en adelante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914400" y="4480559"/>
            <a:ext cx="10362895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🦻 No ocupen audífonos.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📓 Todo comando nuevo va al cuaderno.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🚫 NO hagan copiar-pegar de los comandos.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✨ En toda evaluación podrán usar sus apuntes.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Haz Ahora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548640" y="566928"/>
            <a:ext cx="11094415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⚡ Haz Ahora</a:t>
            </a: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548640" y="1115568"/>
            <a:ext cx="11094415" cy="5486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8640" y="1115568"/>
            <a:ext cx="73152" cy="5486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49808" y="1252728"/>
            <a:ext cx="10820100" cy="409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(5-8 min)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¿Se acuerdan del bloque que usábamos para contar en programación por bloques?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 ese bloque en mente, respondan acá: si quisiéramos contar, uno por uno, los partidos que faltan del Mundial desde </a:t>
            </a:r>
            <a:r>
              <a:rPr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los cuartos de final sin considerar el de tercer lugar</a:t>
            </a: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¿cuántas veces se repetiría el bloque?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valores debería tomar X, Y, Z?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Char char="•"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¿Cómo queda la secuencia de números en cada vuelta? ¿</a:t>
            </a:r>
            <a:r>
              <a:rPr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1,2,3… o 2,4,6… o de qué manera?</a:t>
            </a:r>
            <a:endParaRPr b="0"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808" y="2209406"/>
            <a:ext cx="10045430" cy="1471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33" name="Google Shape;133;p4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Contenido nuevo</a:t>
            </a:r>
            <a:endParaRPr/>
          </a:p>
        </p:txBody>
      </p:sp>
      <p:sp>
        <p:nvSpPr>
          <p:cNvPr id="134" name="Google Shape;134;p4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📘 1. `for` y `range(inicio, fin, salto)` lado a lado</a:t>
            </a:r>
            <a:endParaRPr/>
          </a:p>
        </p:txBody>
      </p:sp>
      <p:graphicFrame>
        <p:nvGraphicFramePr>
          <p:cNvPr id="135" name="Google Shape;135;p4"/>
          <p:cNvGraphicFramePr/>
          <p:nvPr/>
        </p:nvGraphicFramePr>
        <p:xfrm>
          <a:off x="548640" y="15087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{35C0A791-112F-4430-9A13-FB05382DC230}</a:tableStyleId>
              </a:tblPr>
              <a:tblGrid>
                <a:gridCol w="5547200"/>
                <a:gridCol w="5547200"/>
              </a:tblGrid>
              <a:tr h="518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FFFFFF"/>
                          </a:solidFill>
                        </a:rPr>
                        <a:t>🔁 </a:t>
                      </a:r>
                      <a:r>
                        <a:rPr b="1" lang="en-US" sz="2000" u="none" cap="none" strike="noStrike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rgbClr val="FFFFFF"/>
                          </a:solidFill>
                        </a:rPr>
                        <a:t>🔢 </a:t>
                      </a:r>
                      <a:r>
                        <a:rPr b="1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range(inicio, fin, salto)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</a:tr>
              <a:tr h="1714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El ciclo for repite un bloque de código una vez por cada valor de una secuencia. </a:t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La variable cambia automáticamente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Genera la secuencia de números que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va a recorrer: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empieza en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inicio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termina ANTES de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(el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nunca se incluye),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avanzando de a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salto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f46f2406cc_0_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f46f2406cc_0_0"/>
          <p:cNvSpPr/>
          <p:nvPr/>
        </p:nvSpPr>
        <p:spPr>
          <a:xfrm>
            <a:off x="0" y="0"/>
            <a:ext cx="12191700" cy="50280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f46f2406cc_0_0"/>
          <p:cNvSpPr txBox="1"/>
          <p:nvPr/>
        </p:nvSpPr>
        <p:spPr>
          <a:xfrm>
            <a:off x="411479" y="118872"/>
            <a:ext cx="5486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43" name="Google Shape;143;g3f46f2406cc_0_0"/>
          <p:cNvSpPr txBox="1"/>
          <p:nvPr/>
        </p:nvSpPr>
        <p:spPr>
          <a:xfrm>
            <a:off x="8534095" y="118872"/>
            <a:ext cx="3200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Contenido nuevo</a:t>
            </a:r>
            <a:endParaRPr/>
          </a:p>
        </p:txBody>
      </p:sp>
      <p:sp>
        <p:nvSpPr>
          <p:cNvPr id="144" name="Google Shape;144;g3f46f2406cc_0_0"/>
          <p:cNvSpPr txBox="1"/>
          <p:nvPr/>
        </p:nvSpPr>
        <p:spPr>
          <a:xfrm>
            <a:off x="548640" y="868680"/>
            <a:ext cx="11094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📘 1. `for` y `range(inicio, fin, salto)` lado a lado</a:t>
            </a:r>
            <a:endParaRPr/>
          </a:p>
        </p:txBody>
      </p:sp>
      <p:graphicFrame>
        <p:nvGraphicFramePr>
          <p:cNvPr id="145" name="Google Shape;145;g3f46f2406cc_0_0"/>
          <p:cNvGraphicFramePr/>
          <p:nvPr/>
        </p:nvGraphicFramePr>
        <p:xfrm>
          <a:off x="548640" y="15087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{35C0A791-112F-4430-9A13-FB05382DC230}</a:tableStyleId>
              </a:tblPr>
              <a:tblGrid>
                <a:gridCol w="5547200"/>
                <a:gridCol w="5547200"/>
              </a:tblGrid>
              <a:tr h="518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FFFFFF"/>
                          </a:solidFill>
                        </a:rPr>
                        <a:t>🔁 </a:t>
                      </a:r>
                      <a:r>
                        <a:rPr b="1" lang="en-US" sz="2000" u="none" cap="none" strike="noStrike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rgbClr val="FFFFFF"/>
                          </a:solidFill>
                        </a:rPr>
                        <a:t>🔢 </a:t>
                      </a:r>
                      <a:r>
                        <a:rPr b="1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range(inicio, fin, salto)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</a:tr>
              <a:tr h="1714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El ciclo for repite un bloque de código una vez por cada valor de una secuencia. </a:t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La variable cambia automáticamente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Genera la secuencia de números que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va a recorrer: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empieza en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inicio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termina ANTES de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(el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nunca se incluye),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avanzando de a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salto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</a:tr>
              <a:tr h="1413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for numero_partido in range(1, 8, 1):</a:t>
                      </a:r>
                      <a:endParaRPr sz="2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   print("Partido número", numero_partido)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0A1A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range(1, 8, 1)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inicio = 1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fin    = 8   (no incluido)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salto  = 1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0A1A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46f2406cc_0_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g3f46f2406cc_0_9"/>
          <p:cNvSpPr/>
          <p:nvPr/>
        </p:nvSpPr>
        <p:spPr>
          <a:xfrm>
            <a:off x="0" y="0"/>
            <a:ext cx="12191700" cy="50280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g3f46f2406cc_0_9"/>
          <p:cNvSpPr txBox="1"/>
          <p:nvPr/>
        </p:nvSpPr>
        <p:spPr>
          <a:xfrm>
            <a:off x="411479" y="118872"/>
            <a:ext cx="5486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53" name="Google Shape;153;g3f46f2406cc_0_9"/>
          <p:cNvSpPr txBox="1"/>
          <p:nvPr/>
        </p:nvSpPr>
        <p:spPr>
          <a:xfrm>
            <a:off x="8534095" y="118872"/>
            <a:ext cx="3200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Contenido nuevo</a:t>
            </a:r>
            <a:endParaRPr/>
          </a:p>
        </p:txBody>
      </p:sp>
      <p:sp>
        <p:nvSpPr>
          <p:cNvPr id="154" name="Google Shape;154;g3f46f2406cc_0_9"/>
          <p:cNvSpPr txBox="1"/>
          <p:nvPr/>
        </p:nvSpPr>
        <p:spPr>
          <a:xfrm>
            <a:off x="548640" y="868680"/>
            <a:ext cx="11094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📘 1. `for` y `range(inicio, fin, salto)` lado a lado</a:t>
            </a:r>
            <a:endParaRPr/>
          </a:p>
        </p:txBody>
      </p:sp>
      <p:graphicFrame>
        <p:nvGraphicFramePr>
          <p:cNvPr id="155" name="Google Shape;155;g3f46f2406cc_0_9"/>
          <p:cNvGraphicFramePr/>
          <p:nvPr/>
        </p:nvGraphicFramePr>
        <p:xfrm>
          <a:off x="548640" y="15087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{35C0A791-112F-4430-9A13-FB05382DC230}</a:tableStyleId>
              </a:tblPr>
              <a:tblGrid>
                <a:gridCol w="5547200"/>
                <a:gridCol w="5547200"/>
              </a:tblGrid>
              <a:tr h="518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FFFFFF"/>
                          </a:solidFill>
                        </a:rPr>
                        <a:t>🔁 </a:t>
                      </a:r>
                      <a:r>
                        <a:rPr b="1" lang="en-US" sz="2000" u="none" cap="none" strike="noStrike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rgbClr val="FFFFFF"/>
                          </a:solidFill>
                        </a:rPr>
                        <a:t>🔢 </a:t>
                      </a:r>
                      <a:r>
                        <a:rPr b="1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range(inicio, fin, salto)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0D2B3E"/>
                    </a:solidFill>
                  </a:tcPr>
                </a:tc>
              </a:tr>
              <a:tr h="1714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El ciclo for repite un bloque de código una vez por cada valor de una secuencia. </a:t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>
                        <a:solidFill>
                          <a:srgbClr val="FFFFFF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La variable cambia automáticamente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Genera la secuencia de números que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va a recorrer: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empieza en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inicio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termina ANTES de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(el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nunca se incluye),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avanzando de a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salto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en cada vuelta.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</a:tr>
              <a:tr h="1413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 numero_partido in range(1, 8, 1):</a:t>
                      </a:r>
                      <a:endParaRPr sz="1900">
                        <a:solidFill>
                          <a:srgbClr val="4ADFCB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   print("Partido número", numero_partido)</a:t>
                      </a:r>
                      <a:endParaRPr sz="1800"/>
                    </a:p>
                  </a:txBody>
                  <a:tcPr marT="45725" marB="45725" marR="91450" marL="91450">
                    <a:solidFill>
                      <a:srgbClr val="0A1A2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range(1, 8, 1)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inicio = 1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fin    = 8   (no incluido)</a:t>
                      </a:r>
                      <a:endParaRPr sz="2100"/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salto  = 1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0A1A28"/>
                    </a:solidFill>
                  </a:tcPr>
                </a:tc>
              </a:tr>
              <a:tr h="1413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Idea clave: todo lo que esté indentado bajo el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se repite una vez por cada valor de la variable iteradora.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Idea clave: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nunca se incluye — por eso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range(1, 8)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 se detiene en 7, no en 8.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Si se omite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inicio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, el valor por defecto es 0; </a:t>
                      </a:r>
                      <a:endParaRPr b="0" sz="2000">
                        <a:solidFill>
                          <a:srgbClr val="FFFFFF"/>
                        </a:solidFill>
                      </a:endParaRPr>
                    </a:p>
                    <a:p>
                      <a:pPr indent="-355600" lvl="0" marL="45720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Char char="●"/>
                      </a:pPr>
                      <a:r>
                        <a:rPr lang="en-US" sz="2000">
                          <a:solidFill>
                            <a:srgbClr val="FFFFFF"/>
                          </a:solidFill>
                        </a:rPr>
                        <a:t>S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i se omite </a:t>
                      </a:r>
                      <a:r>
                        <a:rPr b="0" lang="en-US" sz="20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salto</a:t>
                      </a:r>
                      <a:r>
                        <a:rPr b="0" lang="en-US" sz="2000">
                          <a:solidFill>
                            <a:srgbClr val="FFFFFF"/>
                          </a:solidFill>
                        </a:rPr>
                        <a:t>, el valor por defecto es 1. </a:t>
                      </a:r>
                      <a:endParaRPr sz="2100"/>
                    </a:p>
                  </a:txBody>
                  <a:tcPr marT="45725" marB="45725" marR="91450" marL="91450">
                    <a:solidFill>
                      <a:srgbClr val="1222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578362274_0_4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g3f578362274_0_40"/>
          <p:cNvSpPr/>
          <p:nvPr/>
        </p:nvSpPr>
        <p:spPr>
          <a:xfrm>
            <a:off x="0" y="0"/>
            <a:ext cx="12191700" cy="50280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g3f578362274_0_40"/>
          <p:cNvSpPr txBox="1"/>
          <p:nvPr/>
        </p:nvSpPr>
        <p:spPr>
          <a:xfrm>
            <a:off x="411479" y="118872"/>
            <a:ext cx="5486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63" name="Google Shape;163;g3f578362274_0_40"/>
          <p:cNvSpPr txBox="1"/>
          <p:nvPr/>
        </p:nvSpPr>
        <p:spPr>
          <a:xfrm>
            <a:off x="8534095" y="118872"/>
            <a:ext cx="3200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Contenido nuevo</a:t>
            </a:r>
            <a:endParaRPr/>
          </a:p>
        </p:txBody>
      </p:sp>
      <p:sp>
        <p:nvSpPr>
          <p:cNvPr id="164" name="Google Shape;164;g3f578362274_0_40"/>
          <p:cNvSpPr txBox="1"/>
          <p:nvPr/>
        </p:nvSpPr>
        <p:spPr>
          <a:xfrm>
            <a:off x="548640" y="868680"/>
            <a:ext cx="11094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📘 2. Acumulador dentro de un bucle</a:t>
            </a:r>
            <a:endParaRPr/>
          </a:p>
        </p:txBody>
      </p:sp>
      <p:sp>
        <p:nvSpPr>
          <p:cNvPr id="165" name="Google Shape;165;g3f578362274_0_40"/>
          <p:cNvSpPr/>
          <p:nvPr/>
        </p:nvSpPr>
        <p:spPr>
          <a:xfrm>
            <a:off x="548640" y="1508760"/>
            <a:ext cx="11094300" cy="17085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f578362274_0_40"/>
          <p:cNvSpPr/>
          <p:nvPr/>
        </p:nvSpPr>
        <p:spPr>
          <a:xfrm>
            <a:off x="548640" y="1508760"/>
            <a:ext cx="73200" cy="170850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f578362274_0_40"/>
          <p:cNvSpPr txBox="1"/>
          <p:nvPr/>
        </p:nvSpPr>
        <p:spPr>
          <a:xfrm>
            <a:off x="777240" y="1600200"/>
            <a:ext cx="1072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9B8E"/>
                </a:solidFill>
                <a:latin typeface="Calibri"/>
                <a:ea typeface="Calibri"/>
                <a:cs typeface="Calibri"/>
                <a:sym typeface="Calibri"/>
              </a:rPr>
              <a:t>📘  Definición</a:t>
            </a:r>
            <a:endParaRPr/>
          </a:p>
        </p:txBody>
      </p:sp>
      <p:sp>
        <p:nvSpPr>
          <p:cNvPr id="168" name="Google Shape;168;g3f578362274_0_40"/>
          <p:cNvSpPr txBox="1"/>
          <p:nvPr/>
        </p:nvSpPr>
        <p:spPr>
          <a:xfrm>
            <a:off x="777240" y="1901951"/>
            <a:ext cx="10728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una variable "acumuladora" se inicializa en 0 ANTES del </a:t>
            </a:r>
            <a:r>
              <a:rPr b="0" lang="en-US" sz="26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, fuera del bloque indentado, y dentro del bucle se le suma un valor en cada vuelta para ir guardando un total.</a:t>
            </a:r>
            <a:endParaRPr sz="2000"/>
          </a:p>
        </p:txBody>
      </p:sp>
      <p:sp>
        <p:nvSpPr>
          <p:cNvPr id="169" name="Google Shape;169;g3f578362274_0_40"/>
          <p:cNvSpPr txBox="1"/>
          <p:nvPr/>
        </p:nvSpPr>
        <p:spPr>
          <a:xfrm>
            <a:off x="548640" y="3381816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💻  Ejemplo</a:t>
            </a:r>
            <a:endParaRPr/>
          </a:p>
        </p:txBody>
      </p:sp>
      <p:sp>
        <p:nvSpPr>
          <p:cNvPr id="170" name="Google Shape;170;g3f578362274_0_40"/>
          <p:cNvSpPr/>
          <p:nvPr/>
        </p:nvSpPr>
        <p:spPr>
          <a:xfrm>
            <a:off x="548640" y="3729288"/>
            <a:ext cx="11094300" cy="1930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f578362274_0_40"/>
          <p:cNvSpPr/>
          <p:nvPr/>
        </p:nvSpPr>
        <p:spPr>
          <a:xfrm>
            <a:off x="548640" y="3729288"/>
            <a:ext cx="11094300" cy="9150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g3f578362274_0_40"/>
          <p:cNvSpPr txBox="1"/>
          <p:nvPr/>
        </p:nvSpPr>
        <p:spPr>
          <a:xfrm>
            <a:off x="731520" y="3866448"/>
            <a:ext cx="108201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goles_totales = 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for numero_partido in range(1, 5):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    goles_totales = goles_totales + 2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print("Goles totales estimados:", goles_totales)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# &gt;&gt; Goles totales estimados: 8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5"/>
          <p:cNvSpPr/>
          <p:nvPr/>
        </p:nvSpPr>
        <p:spPr>
          <a:xfrm>
            <a:off x="0" y="0"/>
            <a:ext cx="12191700" cy="50280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 txBox="1"/>
          <p:nvPr/>
        </p:nvSpPr>
        <p:spPr>
          <a:xfrm>
            <a:off x="411479" y="118872"/>
            <a:ext cx="5486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180" name="Google Shape;180;p5"/>
          <p:cNvSpPr txBox="1"/>
          <p:nvPr/>
        </p:nvSpPr>
        <p:spPr>
          <a:xfrm>
            <a:off x="8534095" y="118872"/>
            <a:ext cx="3200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Contenido nuevo</a:t>
            </a:r>
            <a:endParaRPr/>
          </a:p>
        </p:txBody>
      </p:sp>
      <p:sp>
        <p:nvSpPr>
          <p:cNvPr id="181" name="Google Shape;181;p5"/>
          <p:cNvSpPr txBox="1"/>
          <p:nvPr/>
        </p:nvSpPr>
        <p:spPr>
          <a:xfrm>
            <a:off x="548640" y="868680"/>
            <a:ext cx="11094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📘 2. Acumulador dentro de un bucle</a:t>
            </a:r>
            <a:endParaRPr/>
          </a:p>
        </p:txBody>
      </p:sp>
      <p:sp>
        <p:nvSpPr>
          <p:cNvPr id="182" name="Google Shape;182;p5"/>
          <p:cNvSpPr/>
          <p:nvPr/>
        </p:nvSpPr>
        <p:spPr>
          <a:xfrm>
            <a:off x="548640" y="1508760"/>
            <a:ext cx="11094300" cy="17085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548640" y="1508760"/>
            <a:ext cx="73200" cy="170850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 txBox="1"/>
          <p:nvPr/>
        </p:nvSpPr>
        <p:spPr>
          <a:xfrm>
            <a:off x="777240" y="1600200"/>
            <a:ext cx="107286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9B8E"/>
                </a:solidFill>
                <a:latin typeface="Calibri"/>
                <a:ea typeface="Calibri"/>
                <a:cs typeface="Calibri"/>
                <a:sym typeface="Calibri"/>
              </a:rPr>
              <a:t>📘  Definición</a:t>
            </a:r>
            <a:endParaRPr/>
          </a:p>
        </p:txBody>
      </p:sp>
      <p:sp>
        <p:nvSpPr>
          <p:cNvPr id="185" name="Google Shape;185;p5"/>
          <p:cNvSpPr txBox="1"/>
          <p:nvPr/>
        </p:nvSpPr>
        <p:spPr>
          <a:xfrm>
            <a:off x="777240" y="1901951"/>
            <a:ext cx="10728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una variable "acumuladora" se inicializa en 0 ANTES del </a:t>
            </a:r>
            <a:r>
              <a:rPr b="0" lang="en-US" sz="26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, fuera del bloque indentado, y dentro del bucle se le suma un valor en cada vuelta para ir guardando un total.</a:t>
            </a:r>
            <a:endParaRPr sz="2000"/>
          </a:p>
        </p:txBody>
      </p:sp>
      <p:sp>
        <p:nvSpPr>
          <p:cNvPr id="186" name="Google Shape;186;p5"/>
          <p:cNvSpPr txBox="1"/>
          <p:nvPr/>
        </p:nvSpPr>
        <p:spPr>
          <a:xfrm>
            <a:off x="548640" y="3381816"/>
            <a:ext cx="45720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💻  Ejemplo</a:t>
            </a:r>
            <a:endParaRPr/>
          </a:p>
        </p:txBody>
      </p:sp>
      <p:sp>
        <p:nvSpPr>
          <p:cNvPr id="187" name="Google Shape;187;p5"/>
          <p:cNvSpPr/>
          <p:nvPr/>
        </p:nvSpPr>
        <p:spPr>
          <a:xfrm>
            <a:off x="548640" y="3729288"/>
            <a:ext cx="11094300" cy="1930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548640" y="3729288"/>
            <a:ext cx="11094300" cy="9150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731520" y="3866448"/>
            <a:ext cx="108201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for numero_partido in range(1, 5):</a:t>
            </a:r>
            <a:endParaRPr b="0" sz="2000">
              <a:solidFill>
                <a:srgbClr val="4ADFCB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1" lang="en-US" sz="2000">
                <a:solidFill>
                  <a:srgbClr val="F5A623"/>
                </a:solidFill>
                <a:latin typeface="Consolas"/>
                <a:ea typeface="Consolas"/>
                <a:cs typeface="Consolas"/>
                <a:sym typeface="Consolas"/>
              </a:rPr>
              <a:t>goles_totales = 0</a:t>
            </a:r>
            <a:endParaRPr b="1" sz="2000">
              <a:solidFill>
                <a:srgbClr val="F5A62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    goles_totales = goles_totales + 2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print("Goles totales estimados:", goles_totales)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  # &gt;&gt; Goles totales estimados: 8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548640" y="5824362"/>
            <a:ext cx="11094300" cy="7593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548640" y="5824362"/>
            <a:ext cx="73200" cy="7593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 txBox="1"/>
          <p:nvPr/>
        </p:nvSpPr>
        <p:spPr>
          <a:xfrm>
            <a:off x="777240" y="5764927"/>
            <a:ext cx="1072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💡  Idea clave</a:t>
            </a:r>
            <a:endParaRPr/>
          </a:p>
        </p:txBody>
      </p:sp>
      <p:sp>
        <p:nvSpPr>
          <p:cNvPr id="193" name="Google Shape;193;p5"/>
          <p:cNvSpPr txBox="1"/>
          <p:nvPr/>
        </p:nvSpPr>
        <p:spPr>
          <a:xfrm>
            <a:off x="777240" y="5995629"/>
            <a:ext cx="107286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 la variable acumuladora se inicializa </a:t>
            </a:r>
            <a:r>
              <a:rPr b="1" lang="en-US" sz="22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DENTRO del bucle, se reinicia</a:t>
            </a: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en cada vuelta y nunca acumula de verdad.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411479" y="118872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🐍 Python · Clase 16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8534095" y="118872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9B8E"/>
                </a:solidFill>
                <a:latin typeface="Consolas"/>
                <a:ea typeface="Consolas"/>
                <a:cs typeface="Consolas"/>
                <a:sym typeface="Consolas"/>
              </a:rPr>
              <a:t>Errores típicos</a:t>
            </a:r>
            <a:endParaRPr/>
          </a:p>
        </p:txBody>
      </p:sp>
      <p:sp>
        <p:nvSpPr>
          <p:cNvPr id="202" name="Google Shape;202;p6"/>
          <p:cNvSpPr txBox="1"/>
          <p:nvPr/>
        </p:nvSpPr>
        <p:spPr>
          <a:xfrm>
            <a:off x="548640" y="868680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⚠️ Errores típicos a evitar</a:t>
            </a:r>
            <a:endParaRPr/>
          </a:p>
        </p:txBody>
      </p:sp>
      <p:graphicFrame>
        <p:nvGraphicFramePr>
          <p:cNvPr id="203" name="Google Shape;203;p6"/>
          <p:cNvGraphicFramePr/>
          <p:nvPr/>
        </p:nvGraphicFramePr>
        <p:xfrm>
          <a:off x="548640" y="16002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{35C0A791-112F-4430-9A13-FB05382DC230}</a:tableStyleId>
              </a:tblPr>
              <a:tblGrid>
                <a:gridCol w="3200400"/>
                <a:gridCol w="4114800"/>
                <a:gridCol w="3779225"/>
              </a:tblGrid>
              <a:tr h="10287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Error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F16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ocurre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F16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Cómo corregirlo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F162A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Esperar que el 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range()</a:t>
                      </a: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se incluya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bucle se detiene un valor antes de lo esperado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Recordar: 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fin</a:t>
                      </a: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nunca se incluye, igual que la Y del bloque no se contaba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Olvidar la indentación del bloque bajo 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código no se repite, se ejecuta solo una vez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Verificar que todo lo que debe repetirse esté indentado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Inicializar el acumulador dentro del bucle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total se reinicia en cada vuelta, nunca acumula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Mover la inicialización (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= 0</a:t>
                      </a:r>
                      <a:r>
                        <a:rPr lang="en-US" sz="16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 antes del </a:t>
                      </a:r>
                      <a:r>
                        <a:rPr lang="en-US" sz="1600">
                          <a:solidFill>
                            <a:srgbClr val="4ADFCB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F2944"/>
                    </a:solidFill>
                  </a:tcPr>
                </a:tc>
              </a:tr>
            </a:tbl>
          </a:graphicData>
        </a:graphic>
      </p:graphicFrame>
      <p:sp>
        <p:nvSpPr>
          <p:cNvPr id="204" name="Google Shape;204;p6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548640" y="5943600"/>
            <a:ext cx="73152" cy="640080"/>
          </a:xfrm>
          <a:prstGeom prst="rect">
            <a:avLst/>
          </a:prstGeom>
          <a:solidFill>
            <a:srgbClr val="0F9B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731520" y="5989320"/>
            <a:ext cx="10820095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💡 Si te aparece uno de estos errores, vuelve a esta tabla antes de pedir ayuda.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f578362274_0_6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g3f578362274_0_60"/>
          <p:cNvSpPr txBox="1"/>
          <p:nvPr/>
        </p:nvSpPr>
        <p:spPr>
          <a:xfrm>
            <a:off x="548640" y="411480"/>
            <a:ext cx="11094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¿Dónde podría estudiar?</a:t>
            </a:r>
            <a:endParaRPr/>
          </a:p>
        </p:txBody>
      </p:sp>
      <p:sp>
        <p:nvSpPr>
          <p:cNvPr id="213" name="Google Shape;213;g3f578362274_0_60"/>
          <p:cNvSpPr/>
          <p:nvPr/>
        </p:nvSpPr>
        <p:spPr>
          <a:xfrm>
            <a:off x="548680" y="1051552"/>
            <a:ext cx="4768500" cy="43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g3f578362274_0_60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0025" y="1394450"/>
            <a:ext cx="10531951" cy="2266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g3f578362274_0_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9825" y="4129775"/>
            <a:ext cx="10531950" cy="2068445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g3f578362274_0_60"/>
          <p:cNvSpPr txBox="1"/>
          <p:nvPr/>
        </p:nvSpPr>
        <p:spPr>
          <a:xfrm>
            <a:off x="830025" y="4398450"/>
            <a:ext cx="97479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uFill>
                  <a:noFill/>
                </a:u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https://admision.uc.cl/carreras/licenciatura-en-ingenieria-en-ciencia-de-datos/</a:t>
            </a:r>
            <a:r>
              <a:rPr b="1" lang="en-US" sz="3600">
                <a:solidFill>
                  <a:schemeClr val="lt1"/>
                </a:solidFill>
              </a:rPr>
              <a:t> 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</p:txBody>
      </p:sp>
      <p:sp>
        <p:nvSpPr>
          <p:cNvPr id="223" name="Google Shape;223;p7"/>
          <p:cNvSpPr/>
          <p:nvPr/>
        </p:nvSpPr>
        <p:spPr>
          <a:xfrm>
            <a:off x="548640" y="1051560"/>
            <a:ext cx="118872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solidFill>
            <a:srgbClr val="0F16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 txBox="1"/>
          <p:nvPr/>
        </p:nvSpPr>
        <p:spPr>
          <a:xfrm>
            <a:off x="777240" y="1463039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5A623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/>
          </a:p>
        </p:txBody>
      </p:sp>
      <p:sp>
        <p:nvSpPr>
          <p:cNvPr id="226" name="Google Shape;226;p7"/>
          <p:cNvSpPr txBox="1"/>
          <p:nvPr/>
        </p:nvSpPr>
        <p:spPr>
          <a:xfrm>
            <a:off x="2331720" y="1463039"/>
            <a:ext cx="9082735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Construir programas en Python que utilicen la sentencia </a:t>
            </a:r>
            <a:r>
              <a:rPr b="0" lang="en-US" sz="22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y la función </a:t>
            </a:r>
            <a:r>
              <a:rPr b="0" lang="en-US" sz="22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range()</a:t>
            </a: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para repetir instrucciones y generar secuencias numéricas controladas, con orden.</a:t>
            </a:r>
            <a:endParaRPr sz="1900"/>
          </a:p>
        </p:txBody>
      </p:sp>
      <p:sp>
        <p:nvSpPr>
          <p:cNvPr id="227" name="Google Shape;227;p7"/>
          <p:cNvSpPr/>
          <p:nvPr/>
        </p:nvSpPr>
        <p:spPr>
          <a:xfrm>
            <a:off x="548640" y="3017520"/>
            <a:ext cx="5387187" cy="3429000"/>
          </a:xfrm>
          <a:prstGeom prst="rect">
            <a:avLst/>
          </a:prstGeom>
          <a:solidFill>
            <a:srgbClr val="0F2A4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7"/>
          <p:cNvSpPr txBox="1"/>
          <p:nvPr/>
        </p:nvSpPr>
        <p:spPr>
          <a:xfrm>
            <a:off x="822959" y="3246120"/>
            <a:ext cx="4838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Comprensión 1 a 5</a:t>
            </a:r>
            <a:endParaRPr/>
          </a:p>
        </p:txBody>
      </p:sp>
      <p:sp>
        <p:nvSpPr>
          <p:cNvPr id="229" name="Google Shape;229;p7"/>
          <p:cNvSpPr txBox="1"/>
          <p:nvPr/>
        </p:nvSpPr>
        <p:spPr>
          <a:xfrm>
            <a:off x="868680" y="3794759"/>
            <a:ext cx="4747107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tan seguro/a te sientes usando </a:t>
            </a:r>
            <a:r>
              <a:rPr b="0" lang="en-US" sz="22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0" lang="en-US" sz="2200">
                <a:solidFill>
                  <a:srgbClr val="4ADFCB"/>
                </a:solidFill>
                <a:latin typeface="Consolas"/>
                <a:ea typeface="Consolas"/>
                <a:cs typeface="Consolas"/>
                <a:sym typeface="Consolas"/>
              </a:rPr>
              <a:t>range()</a:t>
            </a: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para repetir tareas, donde 1 es "no entendí nada" y 5 es "puedo explicárselo a otro"?</a:t>
            </a:r>
            <a:endParaRPr sz="1900"/>
          </a:p>
        </p:txBody>
      </p:sp>
      <p:sp>
        <p:nvSpPr>
          <p:cNvPr id="230" name="Google Shape;230;p7"/>
          <p:cNvSpPr/>
          <p:nvPr/>
        </p:nvSpPr>
        <p:spPr>
          <a:xfrm>
            <a:off x="6255867" y="3017520"/>
            <a:ext cx="5387187" cy="3429000"/>
          </a:xfrm>
          <a:prstGeom prst="rect">
            <a:avLst/>
          </a:prstGeom>
          <a:solidFill>
            <a:srgbClr val="102A1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7"/>
          <p:cNvSpPr txBox="1"/>
          <p:nvPr/>
        </p:nvSpPr>
        <p:spPr>
          <a:xfrm>
            <a:off x="6530187" y="3246120"/>
            <a:ext cx="483854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4ADE80"/>
                </a:solidFill>
                <a:latin typeface="Calibri"/>
                <a:ea typeface="Calibri"/>
                <a:cs typeface="Calibri"/>
                <a:sym typeface="Calibri"/>
              </a:rPr>
              <a:t>Propósito</a:t>
            </a:r>
            <a:endParaRPr/>
          </a:p>
        </p:txBody>
      </p:sp>
      <p:sp>
        <p:nvSpPr>
          <p:cNvPr id="232" name="Google Shape;232;p7"/>
          <p:cNvSpPr txBox="1"/>
          <p:nvPr/>
        </p:nvSpPr>
        <p:spPr>
          <a:xfrm>
            <a:off x="6575907" y="3794759"/>
            <a:ext cx="4747107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¿En qué proceso de tu vida diaria u otro ramo el orden al organizar pasos repetidos evitaría errores?</a:t>
            </a:r>
            <a:endParaRPr sz="1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