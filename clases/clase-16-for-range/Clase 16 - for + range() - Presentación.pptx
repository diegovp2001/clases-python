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mY9v2LVIhltTYQQxO/h5cG//r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E275E9-B3DF-4A07-940A-6F7083ACD9C3}">
  <a:tblStyle styleId="{1EE275E9-B3DF-4A07-940A-6F7083ACD9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6f2406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46f2406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46f2406c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46f2406c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783622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57836227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7836227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57836227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dmision.uc.cl/carreras/licenciatura-en-ingenieria-en-ciencia-de-la-computacion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hyperlink" Target="https://admision.uc.cl/carreras/licenciatura-en-ingenieria-en-ciencia-de-datos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+ range()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Hoy: sentencia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función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range(inicio, fin, salto)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con sus valores por defecto, patrón acumulador dentro de un bucle.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16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orden es la capacidad de escribir y organizar el código de manera clara, estructurada y fácil de seguir. Hoy desbloqueas una herramienta nueva 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16 - for + range()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Construir programas en Python que utilicen la sentencia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la función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 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repetir instrucciones y generar secuencias numéricas controladas, con rigurosidad.</a:t>
            </a:r>
            <a:endParaRPr b="0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rigurosidad es la capacidad de trabajar con cuidado, revisar los pasos y comprobar que el resultado sea correcto. Esta habilidad es clave en cualquier proceso real que se repite muchas veces, porque un pequeño error en el inicio, el término o el salto de una secuencia puede cambiar todo el resultado. Hoy la vamos a ejercitar con</a:t>
            </a:r>
            <a:r>
              <a:rPr lang="en-US" sz="24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for , range()</a:t>
            </a:r>
            <a:endParaRPr sz="24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🦻 No ocupen audífonos.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Haz Ahora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48640" y="1115568"/>
            <a:ext cx="11094415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9808" y="1252728"/>
            <a:ext cx="108201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(5-8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¿Se acuerdan del bloque que usábamos para contar en programación por bloques?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ese bloque en mente, respondan acá: si quisiéramos contar, uno por uno, los partidos que faltan del Mundial desde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cuartos de final sin considerar el de tercer lugar</a:t>
            </a: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¿cuántas veces se repetiría el bloque?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valores debería tomar X, Y, Z?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queda la secuencia de números en cada vuelta? ¿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1,2,3… o 2,4,6… o de qué manera?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209406"/>
            <a:ext cx="10045430" cy="1471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`for` y `range(inicio, fin, salto)` lado a lado</a:t>
            </a:r>
            <a:endParaRPr/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{1EE275E9-B3DF-4A07-940A-6F7083ACD9C3}</a:tableStyleId>
              </a:tblPr>
              <a:tblGrid>
                <a:gridCol w="5547200"/>
                <a:gridCol w="5547200"/>
              </a:tblGrid>
              <a:tr h="51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🔁 </a:t>
                      </a:r>
                      <a:r>
                        <a:rPr b="1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🔢 </a:t>
                      </a: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range(inicio, fin, salto)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1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El ciclo for repite un bloque de código una vez por cada valor de una secuencia. 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La variable cambia automáticamente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Genera la secuencia de números que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va a recorrer: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empieza en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termina ANTES de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(el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incluye),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avanzando de a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46f2406cc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46f2406cc_0_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46f2406cc_0_0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43" name="Google Shape;143;g3f46f2406cc_0_0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44" name="Google Shape;144;g3f46f2406cc_0_0"/>
          <p:cNvSpPr txBox="1"/>
          <p:nvPr/>
        </p:nvSpPr>
        <p:spPr>
          <a:xfrm>
            <a:off x="548640" y="868680"/>
            <a:ext cx="1109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`for` y `range(inicio, fin, salto)` lado a lado</a:t>
            </a:r>
            <a:endParaRPr/>
          </a:p>
        </p:txBody>
      </p:sp>
      <p:graphicFrame>
        <p:nvGraphicFramePr>
          <p:cNvPr id="145" name="Google Shape;145;g3f46f2406cc_0_0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{1EE275E9-B3DF-4A07-940A-6F7083ACD9C3}</a:tableStyleId>
              </a:tblPr>
              <a:tblGrid>
                <a:gridCol w="5547200"/>
                <a:gridCol w="5547200"/>
              </a:tblGrid>
              <a:tr h="51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🔁 </a:t>
                      </a:r>
                      <a:r>
                        <a:rPr b="1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🔢 </a:t>
                      </a: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range(inicio, fin, salto)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1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El ciclo for repite un bloque de código una vez por cada valor de una secuencia. 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La variable cambia automáticamente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Genera la secuencia de números que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va a recorrer: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empieza en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termina ANTES de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(el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incluye),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avanzando de a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  <a:tr h="14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for numero_partido in range(1, 8, 1):</a:t>
                      </a:r>
                      <a:endParaRPr sz="2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   print("Partido número", numero_partido)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range(1, 8, 1)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inicio = 1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fin    = 8   (no incluido)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salto  = 1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46f2406cc_0_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46f2406cc_0_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46f2406cc_0_9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53" name="Google Shape;153;g3f46f2406cc_0_9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4" name="Google Shape;154;g3f46f2406cc_0_9"/>
          <p:cNvSpPr txBox="1"/>
          <p:nvPr/>
        </p:nvSpPr>
        <p:spPr>
          <a:xfrm>
            <a:off x="548640" y="868680"/>
            <a:ext cx="1109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`for` y `range(inicio, fin, salto)` lado a lado</a:t>
            </a:r>
            <a:endParaRPr/>
          </a:p>
        </p:txBody>
      </p:sp>
      <p:graphicFrame>
        <p:nvGraphicFramePr>
          <p:cNvPr id="155" name="Google Shape;155;g3f46f2406cc_0_9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{1EE275E9-B3DF-4A07-940A-6F7083ACD9C3}</a:tableStyleId>
              </a:tblPr>
              <a:tblGrid>
                <a:gridCol w="5547200"/>
                <a:gridCol w="5547200"/>
              </a:tblGrid>
              <a:tr h="51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🔁 </a:t>
                      </a:r>
                      <a:r>
                        <a:rPr b="1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🔢 </a:t>
                      </a: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range(inicio, fin, salto)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1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El ciclo for repite un bloque de código una vez por cada valor de una secuencia. 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La variable cambia automáticamente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Genera la secuencia de números que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va a recorrer: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empieza en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termina ANTES de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(el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incluye),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avanzando de a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  <a:tr h="14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 numero_partido in range(1, 8, 1):</a:t>
                      </a:r>
                      <a:endParaRPr sz="1900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print("Partido número", numero_partido)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range(1, 8, 1)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inicio = 1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fin    = 8   (no incluido)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salto  = 1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</a:tr>
              <a:tr h="14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Idea clave: todo lo que esté indentado bajo 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se repite una vez por cada valor de la variable iteradora.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Idea clave: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 — por eso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range(1, 8)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se detiene en 7, no en 8.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Si se omite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el valor por defecto es 0;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S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 se omite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el valor por defecto es 1. 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78362274_0_4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578362274_0_4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578362274_0_40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63" name="Google Shape;163;g3f578362274_0_40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64" name="Google Shape;164;g3f578362274_0_40"/>
          <p:cNvSpPr txBox="1"/>
          <p:nvPr/>
        </p:nvSpPr>
        <p:spPr>
          <a:xfrm>
            <a:off x="548640" y="868680"/>
            <a:ext cx="1109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Acumulador dentro de un bucle</a:t>
            </a:r>
            <a:endParaRPr/>
          </a:p>
        </p:txBody>
      </p:sp>
      <p:sp>
        <p:nvSpPr>
          <p:cNvPr id="165" name="Google Shape;165;g3f578362274_0_40"/>
          <p:cNvSpPr/>
          <p:nvPr/>
        </p:nvSpPr>
        <p:spPr>
          <a:xfrm>
            <a:off x="548640" y="1508760"/>
            <a:ext cx="11094300" cy="1708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578362274_0_40"/>
          <p:cNvSpPr/>
          <p:nvPr/>
        </p:nvSpPr>
        <p:spPr>
          <a:xfrm>
            <a:off x="548640" y="1508760"/>
            <a:ext cx="73200" cy="1708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578362274_0_40"/>
          <p:cNvSpPr txBox="1"/>
          <p:nvPr/>
        </p:nvSpPr>
        <p:spPr>
          <a:xfrm>
            <a:off x="777240" y="1600200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68" name="Google Shape;168;g3f578362274_0_40"/>
          <p:cNvSpPr txBox="1"/>
          <p:nvPr/>
        </p:nvSpPr>
        <p:spPr>
          <a:xfrm>
            <a:off x="777240" y="1901951"/>
            <a:ext cx="10728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variable "acumuladora" se inicializa en 0 ANTES del </a:t>
            </a: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fuera del bloque indentado, y dentro del bucle se le suma un valor en cada vuelta para ir guardando un total.</a:t>
            </a:r>
            <a:endParaRPr sz="2000"/>
          </a:p>
        </p:txBody>
      </p:sp>
      <p:sp>
        <p:nvSpPr>
          <p:cNvPr id="169" name="Google Shape;169;g3f578362274_0_40"/>
          <p:cNvSpPr txBox="1"/>
          <p:nvPr/>
        </p:nvSpPr>
        <p:spPr>
          <a:xfrm>
            <a:off x="548640" y="3381816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70" name="Google Shape;170;g3f578362274_0_40"/>
          <p:cNvSpPr/>
          <p:nvPr/>
        </p:nvSpPr>
        <p:spPr>
          <a:xfrm>
            <a:off x="548640" y="3729288"/>
            <a:ext cx="11094300" cy="1930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578362274_0_40"/>
          <p:cNvSpPr/>
          <p:nvPr/>
        </p:nvSpPr>
        <p:spPr>
          <a:xfrm>
            <a:off x="548640" y="3729288"/>
            <a:ext cx="11094300" cy="91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578362274_0_40"/>
          <p:cNvSpPr txBox="1"/>
          <p:nvPr/>
        </p:nvSpPr>
        <p:spPr>
          <a:xfrm>
            <a:off x="731520" y="3866448"/>
            <a:ext cx="10820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goles_totales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for numero_partido in range(1, 5):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goles_totales = goles_totales + 2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print("Goles totales estimados:", goles_totales)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&gt;&gt; Goles totales estimados: 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11479" y="118872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8534095" y="118872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548640" y="868680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Acumulador dentro de un bucle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548640" y="1508760"/>
            <a:ext cx="11094300" cy="1708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48640" y="1508760"/>
            <a:ext cx="73200" cy="1708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777240" y="1600200"/>
            <a:ext cx="10728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777240" y="1901951"/>
            <a:ext cx="10728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variable "acumuladora" se inicializa en 0 ANTES del </a:t>
            </a: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fuera del bloque indentado, y dentro del bucle se le suma un valor en cada vuelta para ir guardando un total.</a:t>
            </a:r>
            <a:endParaRPr sz="2000"/>
          </a:p>
        </p:txBody>
      </p:sp>
      <p:sp>
        <p:nvSpPr>
          <p:cNvPr id="186" name="Google Shape;186;p5"/>
          <p:cNvSpPr txBox="1"/>
          <p:nvPr/>
        </p:nvSpPr>
        <p:spPr>
          <a:xfrm>
            <a:off x="548640" y="3381816"/>
            <a:ext cx="457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548640" y="3729288"/>
            <a:ext cx="11094300" cy="1930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48640" y="3729288"/>
            <a:ext cx="11094300" cy="91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31520" y="3866448"/>
            <a:ext cx="10820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for numero_partido in range(1, 5):</a:t>
            </a:r>
            <a:endParaRPr b="0" sz="20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US" sz="20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goles_totales = 0</a:t>
            </a:r>
            <a:endParaRPr b="1" sz="2000">
              <a:solidFill>
                <a:srgbClr val="F5A6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goles_totales = goles_totales + 2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print("Goles totales estimados:", goles_totales)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&gt;&gt; Goles totales estimados: 8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5824362"/>
            <a:ext cx="11094300" cy="759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5824362"/>
            <a:ext cx="73200" cy="759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77240" y="5764927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Idea clave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777240" y="5995629"/>
            <a:ext cx="10728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la variable acumuladora se inicializa </a:t>
            </a:r>
            <a:r>
              <a:rPr b="1" lang="en-US" sz="2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DENTRO del bucle, se reinicia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cada vuelta y nunca acumula de verdad.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Errores típicos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Errores típicos a evitar</a:t>
            </a:r>
            <a:endParaRPr/>
          </a:p>
        </p:txBody>
      </p:sp>
      <p:graphicFrame>
        <p:nvGraphicFramePr>
          <p:cNvPr id="203" name="Google Shape;203;p6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{1EE275E9-B3DF-4A07-940A-6F7083ACD9C3}</a:tableStyleId>
              </a:tblPr>
              <a:tblGrid>
                <a:gridCol w="3200400"/>
                <a:gridCol w="4114800"/>
                <a:gridCol w="3779225"/>
              </a:tblGrid>
              <a:tr h="10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Esperar que el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range()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 incluya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bucle se detiene un valor antes de lo esperado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Recordar: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nunca se incluye, igual que la Y del bloque no se contaba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Olvidar la indentación del bloque bajo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código no se repite, se ejecuta solo una vez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Verificar que todo lo que debe repetirse esté indentado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Inicializar el acumulador dentro del bucle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total se reinicia en cada vuelta, nunca acumula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Mover la inicialización (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 0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antes del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6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Si te aparece uno de estos errores, vuelve a esta tabla antes de pedir ayuda.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78362274_0_6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578362274_0_60"/>
          <p:cNvSpPr txBox="1"/>
          <p:nvPr/>
        </p:nvSpPr>
        <p:spPr>
          <a:xfrm>
            <a:off x="548640" y="411480"/>
            <a:ext cx="1109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¿Dónde podría estudiar?</a:t>
            </a:r>
            <a:endParaRPr/>
          </a:p>
        </p:txBody>
      </p:sp>
      <p:sp>
        <p:nvSpPr>
          <p:cNvPr id="213" name="Google Shape;213;g3f578362274_0_60"/>
          <p:cNvSpPr/>
          <p:nvPr/>
        </p:nvSpPr>
        <p:spPr>
          <a:xfrm>
            <a:off x="548680" y="1051552"/>
            <a:ext cx="4768500" cy="43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3f578362274_0_6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025" y="1394450"/>
            <a:ext cx="10531951" cy="2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f578362274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825" y="4129775"/>
            <a:ext cx="10531950" cy="206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f578362274_0_60"/>
          <p:cNvSpPr txBox="1"/>
          <p:nvPr/>
        </p:nvSpPr>
        <p:spPr>
          <a:xfrm>
            <a:off x="830025" y="4398450"/>
            <a:ext cx="974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https://admision.uc.cl/carreras/licenciatura-en-ingenieria-en-ciencia-de-datos/</a:t>
            </a:r>
            <a:r>
              <a:rPr b="1" lang="en-US" sz="36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48640" y="1325880"/>
            <a:ext cx="11094415" cy="14173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777240" y="1463039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2331720" y="1463039"/>
            <a:ext cx="90827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Construir programas en Python que utilicen la sentencia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la función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repetir instrucciones y generar secuencias numéricas controladas, con orden.</a:t>
            </a:r>
            <a:endParaRPr sz="1900"/>
          </a:p>
        </p:txBody>
      </p:sp>
      <p:sp>
        <p:nvSpPr>
          <p:cNvPr id="227" name="Google Shape;227;p7"/>
          <p:cNvSpPr/>
          <p:nvPr/>
        </p:nvSpPr>
        <p:spPr>
          <a:xfrm>
            <a:off x="548640" y="3017520"/>
            <a:ext cx="5387187" cy="3429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22959" y="3246120"/>
            <a:ext cx="4838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Comprensión 1 a 5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868680" y="3794759"/>
            <a:ext cx="4747107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tan seguro/a te sientes usando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repetir tareas, donde 1 es "no entendí nada" y 5 es "puedo explicárselo a otro"?</a:t>
            </a:r>
            <a:endParaRPr sz="1900"/>
          </a:p>
        </p:txBody>
      </p:sp>
      <p:sp>
        <p:nvSpPr>
          <p:cNvPr id="230" name="Google Shape;230;p7"/>
          <p:cNvSpPr/>
          <p:nvPr/>
        </p:nvSpPr>
        <p:spPr>
          <a:xfrm>
            <a:off x="6255867" y="3017520"/>
            <a:ext cx="5387187" cy="3429000"/>
          </a:xfrm>
          <a:prstGeom prst="rect">
            <a:avLst/>
          </a:prstGeom>
          <a:solidFill>
            <a:srgbClr val="102A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6530187" y="3246120"/>
            <a:ext cx="483854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6575907" y="3794759"/>
            <a:ext cx="4747107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¿En qué proceso de tu vida diaria u otro ramo el orden al organizar pasos repetidos evitaría errores?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