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6" roundtripDataSignature="AMtx7mifmBHZMd6jVJHAk1Oljj/o219r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3F2A8C-4A7E-457A-9F59-DACFF1834618}">
  <a:tblStyle styleId="{3E3F2A8C-4A7E-457A-9F59-DACFF183461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6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46f2406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46f2406c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46f2406c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f46f2406cc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85800" y="594360"/>
            <a:ext cx="3657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600" u="none" cap="none" strike="noStrike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&gt;&gt;&gt;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85800" y="155448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+ range()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85800" y="2487168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Hoy: sentencia </a:t>
            </a:r>
            <a:r>
              <a:rPr b="0" i="0" lang="en-US" sz="20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, función </a:t>
            </a:r>
            <a:r>
              <a:rPr b="0" i="0" lang="en-US" sz="20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range(inicio, fin, salto)</a:t>
            </a: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con sus valores por defecto, patrón acumulador dentro de un bucle.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3035808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Clase 16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685800" y="3749039"/>
            <a:ext cx="10820095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685800" y="3749039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3822191"/>
            <a:ext cx="103628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Mensaje de hoy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914400" y="4251960"/>
            <a:ext cx="10362895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orden es la capacidad de escribir y organizar el código de manera clara, estructurada y fácil de seguir. Hoy desbloqueas una herramienta nueva ⚡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685800" y="274320"/>
            <a:ext cx="108200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&gt;&gt;&gt; Clase 16 - for + range()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68580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85800" y="914400"/>
            <a:ext cx="73152" cy="283464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914400" y="10058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📘  Objetivo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1417320"/>
            <a:ext cx="50292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Construir programas en Python que utilicen la sentencia </a:t>
            </a:r>
            <a:r>
              <a:rPr b="0" i="0" lang="en-US" sz="22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y la función </a:t>
            </a:r>
            <a:r>
              <a:rPr b="0" i="0" lang="en-US" sz="22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 </a:t>
            </a: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para repetir instrucciones y generar secuencias numéricas controladas, con rigurosidad.</a:t>
            </a:r>
            <a:endParaRPr b="0"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26364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263640" y="914400"/>
            <a:ext cx="73152" cy="2834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492240" y="10058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💡  Propósito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492240" y="1417320"/>
            <a:ext cx="50292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 rigurosidad es la capacidad de trabajar con cuidado, revisar los pasos y comprobar que el resultado sea correcto. Esta habilidad es clave en cualquier proceso real que se repite muchas veces, porque un pequeño error en el inicio, el término o el salto de una secuencia puede cambiar todo el resultado. Hoy la vamos a ejercitar con</a:t>
            </a:r>
            <a:r>
              <a:rPr lang="en-US" sz="24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for , range()</a:t>
            </a:r>
            <a:endParaRPr sz="2400">
              <a:solidFill>
                <a:srgbClr val="4ADFCB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85800" y="3931920"/>
            <a:ext cx="10820095" cy="2651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685800" y="3931920"/>
            <a:ext cx="73152" cy="2651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14400" y="4023359"/>
            <a:ext cx="103628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☝ Reglas de ahora en adelante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914400" y="4480559"/>
            <a:ext cx="10362895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🦻 No ocupen audífonos.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📓 Todo comando nuevo va al cuaderno.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🚫 NO hagan copiar-pegar de los comandos.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✨ En toda evaluación podrán usar sus apuntes.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Haz Ahora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548640" y="566928"/>
            <a:ext cx="11094415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⚡ Haz Ahora</a:t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548640" y="1115568"/>
            <a:ext cx="11094415" cy="5486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8640" y="1115568"/>
            <a:ext cx="73152" cy="5486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49808" y="1252728"/>
            <a:ext cx="10820095" cy="4093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(5-8 min)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¿Se acuerdan del bloque que usábamos para contar en programación por bloques?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 ese bloque en mente, respondan acá: si quisiéramos contar, uno por uno, los partidos que faltan del Mundial,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¿cuántas veces se repetiría el bloque?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valores debería tomar X, Y, Z?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¿Cómo queda la secuencia de números en cada vuelta?</a:t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2209406"/>
            <a:ext cx="10045430" cy="1471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35" name="Google Shape;135;p4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{3E3F2A8C-4A7E-457A-9F59-DACFF1834618}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46f2406cc_0_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f46f2406cc_0_0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f46f2406cc_0_0"/>
          <p:cNvSpPr txBox="1"/>
          <p:nvPr/>
        </p:nvSpPr>
        <p:spPr>
          <a:xfrm>
            <a:off x="411479" y="118872"/>
            <a:ext cx="548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43" name="Google Shape;143;g3f46f2406cc_0_0"/>
          <p:cNvSpPr txBox="1"/>
          <p:nvPr/>
        </p:nvSpPr>
        <p:spPr>
          <a:xfrm>
            <a:off x="8534095" y="118872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44" name="Google Shape;144;g3f46f2406cc_0_0"/>
          <p:cNvSpPr txBox="1"/>
          <p:nvPr/>
        </p:nvSpPr>
        <p:spPr>
          <a:xfrm>
            <a:off x="548640" y="868680"/>
            <a:ext cx="11094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45" name="Google Shape;145;g3f46f2406cc_0_0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{3E3F2A8C-4A7E-457A-9F59-DACFF1834618}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for numero_partido in range(1, 8, 1):</a:t>
                      </a:r>
                      <a:endParaRPr sz="2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   print("Partido número", numero_partido)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range(1, 8, 1)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inicio = 1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fin    = 8   (no incluido)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salto  = 1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46f2406cc_0_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g3f46f2406cc_0_9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f46f2406cc_0_9"/>
          <p:cNvSpPr txBox="1"/>
          <p:nvPr/>
        </p:nvSpPr>
        <p:spPr>
          <a:xfrm>
            <a:off x="411479" y="118872"/>
            <a:ext cx="548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53" name="Google Shape;153;g3f46f2406cc_0_9"/>
          <p:cNvSpPr txBox="1"/>
          <p:nvPr/>
        </p:nvSpPr>
        <p:spPr>
          <a:xfrm>
            <a:off x="8534095" y="118872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54" name="Google Shape;154;g3f46f2406cc_0_9"/>
          <p:cNvSpPr txBox="1"/>
          <p:nvPr/>
        </p:nvSpPr>
        <p:spPr>
          <a:xfrm>
            <a:off x="548640" y="868680"/>
            <a:ext cx="11094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55" name="Google Shape;155;g3f46f2406cc_0_9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{3E3F2A8C-4A7E-457A-9F59-DACFF1834618}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for numero_partido in range(1, 8, 1):</a:t>
                      </a:r>
                      <a:endParaRPr sz="2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   print("Partido número", numero_partido)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range(1, 8, 1)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inicio = 1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fin    = 8   (no incluido)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salto  = 1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Idea clave: todo lo que esté indentado bajo 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se repite una vez por cada valor de la variable iteradora.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Idea clave: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 — por eso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range(1, 8)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se detiene en 7, no en 8.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Si se omite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el valor por defecto es 0;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S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 se omite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el valor por defecto es 1. 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2. Acumulador dentro de un bucle</a:t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548640" y="1508760"/>
            <a:ext cx="11094415" cy="170846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548640" y="1508760"/>
            <a:ext cx="73152" cy="1708464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777240" y="1600200"/>
            <a:ext cx="10728655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📘  Definición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777240" y="1901951"/>
            <a:ext cx="10728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variable "acumuladora" se inicializa en 0 ANTES del </a:t>
            </a:r>
            <a:r>
              <a:rPr b="0" lang="en-US" sz="26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fuera del bloque indentado, y dentro del bucle se le suma un valor en cada vuelta para ir guardando un total.</a:t>
            </a:r>
            <a:endParaRPr sz="2000"/>
          </a:p>
        </p:txBody>
      </p:sp>
      <p:sp>
        <p:nvSpPr>
          <p:cNvPr id="169" name="Google Shape;169;p5"/>
          <p:cNvSpPr txBox="1"/>
          <p:nvPr/>
        </p:nvSpPr>
        <p:spPr>
          <a:xfrm>
            <a:off x="548640" y="3381816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💻  Ejemplo</a:t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548640" y="3729288"/>
            <a:ext cx="11094415" cy="1930481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548640" y="3729288"/>
            <a:ext cx="11094415" cy="9144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731520" y="3866448"/>
            <a:ext cx="10820095" cy="17018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goles_totales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for numero_partido in range(1, 5):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    goles_totales = goles_totales + 2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print("Goles totales estimados:", goles_totales)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# &gt;&gt; Goles totales estimados: 8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548640" y="5824362"/>
            <a:ext cx="11094415" cy="759317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548640" y="5824362"/>
            <a:ext cx="73152" cy="759317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777240" y="5897514"/>
            <a:ext cx="10728655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💡  Idea clave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777240" y="6217554"/>
            <a:ext cx="10728655" cy="3204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 la variable acumuladora se inicializa DENTRO del bucle, se reinicia en cada vuelta y nunca acumula de verdad.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Errores típicos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⚠️ Errores típicos a evitar</a:t>
            </a:r>
            <a:endParaRPr/>
          </a:p>
        </p:txBody>
      </p:sp>
      <p:graphicFrame>
        <p:nvGraphicFramePr>
          <p:cNvPr id="186" name="Google Shape;186;p6"/>
          <p:cNvGraphicFramePr/>
          <p:nvPr/>
        </p:nvGraphicFramePr>
        <p:xfrm>
          <a:off x="548640" y="1600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{3E3F2A8C-4A7E-457A-9F59-DACFF1834618}</a:tableStyleId>
              </a:tblPr>
              <a:tblGrid>
                <a:gridCol w="3200400"/>
                <a:gridCol w="4114800"/>
                <a:gridCol w="3779225"/>
              </a:tblGrid>
              <a:tr h="10287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Error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ocurre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 corregirlo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Esperar que el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range()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incluya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bucle se detiene un valor antes de lo esperado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Recordar: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nunca se incluye, igual que la Y del bloque no se contaba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Olvidar la indentación del bloque bajo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código no se repite, se ejecuta solo una vez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Verificar que todo lo que debe repetirse esté indentado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Inicializar el acumulador dentro del bucle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total se reinicia en cada vuelta, nunca acumula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Mover la inicialización (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 0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 antes del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6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💡 Si te aparece uno de estos errores, vuelve a esta tabla antes de pedir ayuda.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548640" y="1051560"/>
            <a:ext cx="118872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 txBox="1"/>
          <p:nvPr/>
        </p:nvSpPr>
        <p:spPr>
          <a:xfrm>
            <a:off x="777240" y="1463039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/>
          </a:p>
        </p:txBody>
      </p:sp>
      <p:sp>
        <p:nvSpPr>
          <p:cNvPr id="199" name="Google Shape;199;p7"/>
          <p:cNvSpPr txBox="1"/>
          <p:nvPr/>
        </p:nvSpPr>
        <p:spPr>
          <a:xfrm>
            <a:off x="2331720" y="1463039"/>
            <a:ext cx="9082735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Construir programas en Python que utilicen la sentencia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la función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para repetir instrucciones y generar secuencias numéricas controladas, con orden.</a:t>
            </a:r>
            <a:endParaRPr sz="1900"/>
          </a:p>
        </p:txBody>
      </p:sp>
      <p:sp>
        <p:nvSpPr>
          <p:cNvPr id="200" name="Google Shape;200;p7"/>
          <p:cNvSpPr/>
          <p:nvPr/>
        </p:nvSpPr>
        <p:spPr>
          <a:xfrm>
            <a:off x="548640" y="3017520"/>
            <a:ext cx="5387187" cy="3429000"/>
          </a:xfrm>
          <a:prstGeom prst="rect">
            <a:avLst/>
          </a:prstGeom>
          <a:solidFill>
            <a:srgbClr val="0F2A4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822959" y="3246120"/>
            <a:ext cx="4838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Comprensión 1 a 5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868680" y="3794759"/>
            <a:ext cx="4747107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tan seguro/a te sientes usando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para repetir tareas, donde 1 es "no entendí nada" y 5 es "puedo explicárselo a otro"?</a:t>
            </a:r>
            <a:endParaRPr sz="1900"/>
          </a:p>
        </p:txBody>
      </p:sp>
      <p:sp>
        <p:nvSpPr>
          <p:cNvPr id="203" name="Google Shape;203;p7"/>
          <p:cNvSpPr/>
          <p:nvPr/>
        </p:nvSpPr>
        <p:spPr>
          <a:xfrm>
            <a:off x="6255867" y="3017520"/>
            <a:ext cx="5387187" cy="3429000"/>
          </a:xfrm>
          <a:prstGeom prst="rect">
            <a:avLst/>
          </a:prstGeom>
          <a:solidFill>
            <a:srgbClr val="102A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 txBox="1"/>
          <p:nvPr/>
        </p:nvSpPr>
        <p:spPr>
          <a:xfrm>
            <a:off x="6530187" y="3246120"/>
            <a:ext cx="483854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4ADE80"/>
                </a:solidFill>
                <a:latin typeface="Calibri"/>
                <a:ea typeface="Calibri"/>
                <a:cs typeface="Calibri"/>
                <a:sym typeface="Calibri"/>
              </a:rPr>
              <a:t>Propósito</a:t>
            </a:r>
            <a:endParaRPr/>
          </a:p>
        </p:txBody>
      </p:sp>
      <p:sp>
        <p:nvSpPr>
          <p:cNvPr id="205" name="Google Shape;205;p7"/>
          <p:cNvSpPr txBox="1"/>
          <p:nvPr/>
        </p:nvSpPr>
        <p:spPr>
          <a:xfrm>
            <a:off x="6575907" y="3794759"/>
            <a:ext cx="4747107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¿En qué proceso de tu vida diaria u otro ramo el orden al organizar pasos repetidos evitaría errores?</a:t>
            </a:r>
            <a:endParaRPr sz="1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