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Clase 22 — While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💡  Cómo lo vamos 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1.  Son 3 preguntas. Las vemos </a:t>
            </a:r>
            <a:r>
              <a:rPr b="1" sz="2200">
                <a:solidFill>
                  <a:srgbClr val="FFFFFF"/>
                </a:solidFill>
                <a:latin typeface="Calibri"/>
              </a:rPr>
              <a:t>una por una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2.  Decide tu respuesta </a:t>
            </a:r>
            <a:r>
              <a:rPr b="1" sz="2200">
                <a:solidFill>
                  <a:srgbClr val="FFFFFF"/>
                </a:solidFill>
                <a:latin typeface="Calibri"/>
              </a:rPr>
              <a:t>en silencio</a:t>
            </a:r>
            <a:r>
              <a:rPr sz="2200">
                <a:solidFill>
                  <a:srgbClr val="FFFFFF"/>
                </a:solidFill>
                <a:latin typeface="Calibri"/>
              </a:rPr>
              <a:t>: no la digas ni la comentes.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3.  Anota la letra que elegiste (</a:t>
            </a:r>
            <a:r>
              <a:rPr b="1" sz="2200">
                <a:solidFill>
                  <a:srgbClr val="FFFFFF"/>
                </a:solidFill>
                <a:latin typeface="Calibri"/>
              </a:rPr>
              <a:t>A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B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C</a:t>
            </a:r>
            <a:r>
              <a:rPr sz="2200">
                <a:solidFill>
                  <a:srgbClr val="FFFFFF"/>
                </a:solidFill>
                <a:latin typeface="Calibri"/>
              </a:rPr>
              <a:t> o </a:t>
            </a:r>
            <a:r>
              <a:rPr b="1" sz="2200">
                <a:solidFill>
                  <a:srgbClr val="FFFFFF"/>
                </a:solidFill>
                <a:latin typeface="Calibri"/>
              </a:rPr>
              <a:t>D</a:t>
            </a:r>
            <a:r>
              <a:rPr sz="220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4.  Recién al terminar la pregunta 3 completamos el Formulario.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5.  Después de enviarlo, revisamos juntos las respuestas.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Nadie responde el Formulario antes de tiempo: primero te comprometes con tu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1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292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contador = 0
while contador &lt; 3:
    print("Vuelta", contador)
    contador = contador + 1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301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892295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7033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Vuelta 0</a:t>
            </a:r>
            <a:r>
              <a:rPr sz="2400">
                <a:solidFill>
                  <a:srgbClr val="FFFFFF"/>
                </a:solidFill>
                <a:latin typeface="Calibri"/>
              </a:rPr>
              <a:t> / </a:t>
            </a:r>
            <a:r>
              <a:rPr sz="2300">
                <a:solidFill>
                  <a:srgbClr val="4ADFCB"/>
                </a:solidFill>
                <a:latin typeface="Consolas"/>
              </a:rPr>
              <a:t>Vuelta 1</a:t>
            </a:r>
            <a:r>
              <a:rPr sz="2400">
                <a:solidFill>
                  <a:srgbClr val="FFFFFF"/>
                </a:solidFill>
                <a:latin typeface="Calibri"/>
              </a:rPr>
              <a:t> / </a:t>
            </a:r>
            <a:r>
              <a:rPr sz="2300">
                <a:solidFill>
                  <a:srgbClr val="4ADFCB"/>
                </a:solidFill>
                <a:latin typeface="Consolas"/>
              </a:rPr>
              <a:t>Vuelta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6301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892295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7033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Vuelta 1</a:t>
            </a:r>
            <a:r>
              <a:rPr sz="2400">
                <a:solidFill>
                  <a:srgbClr val="FFFFFF"/>
                </a:solidFill>
                <a:latin typeface="Calibri"/>
              </a:rPr>
              <a:t> / </a:t>
            </a:r>
            <a:r>
              <a:rPr sz="2300">
                <a:solidFill>
                  <a:srgbClr val="4ADFCB"/>
                </a:solidFill>
                <a:latin typeface="Consolas"/>
              </a:rPr>
              <a:t>Vuelta 2</a:t>
            </a:r>
            <a:r>
              <a:rPr sz="2400">
                <a:solidFill>
                  <a:srgbClr val="FFFFFF"/>
                </a:solidFill>
                <a:latin typeface="Calibri"/>
              </a:rPr>
              <a:t> / </a:t>
            </a:r>
            <a:r>
              <a:rPr sz="2300">
                <a:solidFill>
                  <a:srgbClr val="4ADFCB"/>
                </a:solidFill>
                <a:latin typeface="Consolas"/>
              </a:rPr>
              <a:t>Vuelta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792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02005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83108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Vuelta 0</a:t>
            </a:r>
            <a:r>
              <a:rPr sz="2400">
                <a:solidFill>
                  <a:srgbClr val="FFFFFF"/>
                </a:solidFill>
                <a:latin typeface="Calibri"/>
              </a:rPr>
              <a:t> / </a:t>
            </a:r>
            <a:r>
              <a:rPr sz="2300">
                <a:solidFill>
                  <a:srgbClr val="4ADFCB"/>
                </a:solidFill>
                <a:latin typeface="Consolas"/>
              </a:rPr>
              <a:t>Vuelta 1</a:t>
            </a:r>
            <a:r>
              <a:rPr sz="2400">
                <a:solidFill>
                  <a:srgbClr val="FFFFFF"/>
                </a:solidFill>
                <a:latin typeface="Calibri"/>
              </a:rPr>
              <a:t> / </a:t>
            </a:r>
            <a:r>
              <a:rPr sz="2300">
                <a:solidFill>
                  <a:srgbClr val="4ADFCB"/>
                </a:solidFill>
                <a:latin typeface="Consolas"/>
              </a:rPr>
              <a:t>Vuelta 2</a:t>
            </a:r>
            <a:r>
              <a:rPr sz="2400">
                <a:solidFill>
                  <a:srgbClr val="FFFFFF"/>
                </a:solidFill>
                <a:latin typeface="Calibri"/>
              </a:rPr>
              <a:t> / </a:t>
            </a:r>
            <a:r>
              <a:rPr sz="2300">
                <a:solidFill>
                  <a:srgbClr val="4ADFCB"/>
                </a:solidFill>
                <a:latin typeface="Consolas"/>
              </a:rPr>
              <a:t>Vuelta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75792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02005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83108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Vuelta 3</a:t>
            </a:r>
            <a:r>
              <a:rPr sz="2400">
                <a:solidFill>
                  <a:srgbClr val="FFFFFF"/>
                </a:solidFill>
                <a:latin typeface="Calibri"/>
              </a:rPr>
              <a:t> (una sola vez)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2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pasa al ejecutar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intentos = 0
while intentos &lt; 5:
    print("Intentando...")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53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5874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3985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Imprime "Intentando..." 5 veces y termina.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3253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5874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3985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Imprime "Intentando..." una vez y termina.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5312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71525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52628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Nunca termina — se repite para siempre.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45312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71525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52628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Muestra un error porque falta el </a:t>
            </a:r>
            <a:r>
              <a:rPr sz="2300">
                <a:solidFill>
                  <a:srgbClr val="4ADFCB"/>
                </a:solidFill>
                <a:latin typeface="Consolas"/>
              </a:rPr>
              <a:t>break</a:t>
            </a:r>
            <a:r>
              <a:rPr sz="24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3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¿Cuándo se ejecuta la línea marcada?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21214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while True:
    clave = input("Ingresa la clave: ")
    if clave == "1234":
        break  # &lt;- esta línea
    print("Clave incorrecta, intenta de nuevo")
print("Acceso concedido")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397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5018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3129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Cada vez que se pide la clave, sin excepción.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42397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5018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3129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Solo cuando la clave ingresada es igual a "1234".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6752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62965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44068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Solo la primera vez que se ejecuta el programa.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536752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62965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544068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Nunca, porque está dentro de un </a:t>
            </a:r>
            <a:r>
              <a:rPr sz="2300">
                <a:solidFill>
                  <a:srgbClr val="4ADFCB"/>
                </a:solidFill>
                <a:latin typeface="Consolas"/>
              </a:rPr>
              <a:t>if</a:t>
            </a:r>
            <a:r>
              <a:rPr sz="24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2C39A"/>
                </a:solidFill>
                <a:latin typeface="Calibri"/>
              </a:rPr>
              <a:t>📝  Ahora sí: completa el Formulario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4ADFCB"/>
                </a:solidFill>
                <a:latin typeface="Consolas"/>
              </a:rPr>
              <a:t>https://forms.gle/sjRpbgmQzrpkEBsH9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Qué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200">
                <a:solidFill>
                  <a:srgbClr val="FFFFFF"/>
                </a:solidFill>
                <a:latin typeface="Calibri"/>
              </a:rPr>
              <a:t>Nombre:</a:t>
            </a:r>
            <a:r>
              <a:rPr sz="2200">
                <a:solidFill>
                  <a:srgbClr val="FFFFFF"/>
                </a:solidFill>
                <a:latin typeface="Calibri"/>
              </a:rPr>
              <a:t> tu nombre completo.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Tema de la clase de hoy:</a:t>
            </a:r>
            <a:r>
              <a:rPr sz="2200">
                <a:solidFill>
                  <a:srgbClr val="FFFFFF"/>
                </a:solidFill>
                <a:latin typeface="Calibri"/>
              </a:rPr>
              <a:t> </a:t>
            </a:r>
            <a:r>
              <a:rPr sz="2100">
                <a:solidFill>
                  <a:srgbClr val="4ADFCB"/>
                </a:solidFill>
                <a:latin typeface="Consolas"/>
              </a:rPr>
              <a:t>While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Respuestas:</a:t>
            </a:r>
            <a:r>
              <a:rPr sz="2200">
                <a:solidFill>
                  <a:srgbClr val="FFFFFF"/>
                </a:solidFill>
                <a:latin typeface="Calibri"/>
              </a:rPr>
              <a:t> marca la letra que anotaste en cada una de las 3 preguntas.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Envía. Cuando estén todos, revisamos las respuestas juntos.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1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>
                <a:solidFill>
                  <a:srgbClr val="4ADFCB"/>
                </a:solidFill>
                <a:latin typeface="Consolas"/>
              </a:rPr>
              <a:t>Vuelta 0</a:t>
            </a:r>
            <a:r>
              <a:rPr sz="2400">
                <a:solidFill>
                  <a:srgbClr val="FFFFFF"/>
                </a:solidFill>
                <a:latin typeface="Calibri"/>
              </a:rPr>
              <a:t> / </a:t>
            </a:r>
            <a:r>
              <a:rPr sz="2300">
                <a:solidFill>
                  <a:srgbClr val="4ADFCB"/>
                </a:solidFill>
                <a:latin typeface="Consolas"/>
              </a:rPr>
              <a:t>Vuelta 1</a:t>
            </a:r>
            <a:r>
              <a:rPr sz="2400">
                <a:solidFill>
                  <a:srgbClr val="FFFFFF"/>
                </a:solidFill>
                <a:latin typeface="Calibri"/>
              </a:rPr>
              <a:t> / </a:t>
            </a:r>
            <a:r>
              <a:rPr sz="2300">
                <a:solidFill>
                  <a:srgbClr val="4ADFCB"/>
                </a:solidFill>
                <a:latin typeface="Consolas"/>
              </a:rPr>
              <a:t>Vuelta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contador</a:t>
            </a:r>
            <a:r>
              <a:rPr sz="2200">
                <a:solidFill>
                  <a:srgbClr val="FFFFFF"/>
                </a:solidFill>
                <a:latin typeface="Calibri"/>
              </a:rPr>
              <a:t> parte en 0 y la condición </a:t>
            </a:r>
            <a:r>
              <a:rPr sz="2100">
                <a:solidFill>
                  <a:srgbClr val="4ADFCB"/>
                </a:solidFill>
                <a:latin typeface="Consolas"/>
              </a:rPr>
              <a:t>contador &lt; 3</a:t>
            </a:r>
            <a:r>
              <a:rPr sz="2200">
                <a:solidFill>
                  <a:srgbClr val="FFFFFF"/>
                </a:solidFill>
                <a:latin typeface="Calibri"/>
              </a:rPr>
              <a:t> se cumple para 0, 1 y 2; se hace falsa recién cuando </a:t>
            </a:r>
            <a:r>
              <a:rPr sz="2100">
                <a:solidFill>
                  <a:srgbClr val="4ADFCB"/>
                </a:solidFill>
                <a:latin typeface="Consolas"/>
              </a:rPr>
              <a:t>contador</a:t>
            </a:r>
            <a:r>
              <a:rPr sz="2200">
                <a:solidFill>
                  <a:srgbClr val="FFFFFF"/>
                </a:solidFill>
                <a:latin typeface="Calibri"/>
              </a:rPr>
              <a:t> llega a 3, así que se imprime 3 veces empezando en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2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pasa al ejecutar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Nunca termina — se repite para siempre.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intentos</a:t>
            </a:r>
            <a:r>
              <a:rPr sz="2200">
                <a:solidFill>
                  <a:srgbClr val="FFFFFF"/>
                </a:solidFill>
                <a:latin typeface="Calibri"/>
              </a:rPr>
              <a:t> nunca se actualiza dentro del ciclo, así que la condición </a:t>
            </a:r>
            <a:r>
              <a:rPr sz="2100">
                <a:solidFill>
                  <a:srgbClr val="4ADFCB"/>
                </a:solidFill>
                <a:latin typeface="Consolas"/>
              </a:rPr>
              <a:t>intentos &lt; 5</a:t>
            </a:r>
            <a:r>
              <a:rPr sz="2200">
                <a:solidFill>
                  <a:srgbClr val="FFFFFF"/>
                </a:solidFill>
                <a:latin typeface="Calibri"/>
              </a:rPr>
              <a:t> siempre es verdadera — bucle infinito.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3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¿Cuándo se ejecuta la línea marcada?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Solo cuando la clave ingresada es igual a "1234".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break</a:t>
            </a:r>
            <a:r>
              <a:rPr sz="2200">
                <a:solidFill>
                  <a:srgbClr val="FFFFFF"/>
                </a:solidFill>
                <a:latin typeface="Calibri"/>
              </a:rPr>
              <a:t> solo se ejecuta cuando se cumple la condición del </a:t>
            </a:r>
            <a:r>
              <a:rPr sz="2100">
                <a:solidFill>
                  <a:srgbClr val="4ADFCB"/>
                </a:solidFill>
                <a:latin typeface="Consolas"/>
              </a:rPr>
              <a:t>if</a:t>
            </a:r>
            <a:r>
              <a:rPr sz="2200">
                <a:solidFill>
                  <a:srgbClr val="FFFFFF"/>
                </a:solidFill>
                <a:latin typeface="Calibri"/>
              </a:rPr>
              <a:t> (clave correcta); mientras la clave sea incorrecta, el ciclo sigue pidiendo.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