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1. Tipo booleano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2572076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2572076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01951"/>
            <a:ext cx="10728655" cy="2087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En Python existe un tipo especial llamado </a:t>
            </a:r>
            <a:r>
              <a:rPr sz="2000" b="0">
                <a:solidFill>
                  <a:srgbClr val="4ADFCB"/>
                </a:solidFill>
                <a:latin typeface="Consolas"/>
              </a:rPr>
              <a:t>bool</a:t>
            </a:r>
            <a:r>
              <a:rPr sz="2000" b="0">
                <a:solidFill>
                  <a:srgbClr val="FFFFFF"/>
                </a:solidFill>
                <a:latin typeface="Calibri"/>
              </a:rPr>
              <a:t> que solo puede tener dos valores: </a:t>
            </a:r>
            <a:r>
              <a:rPr sz="2000" b="0">
                <a:solidFill>
                  <a:srgbClr val="4ADFCB"/>
                </a:solidFill>
                <a:latin typeface="Consolas"/>
              </a:rPr>
              <a:t>True</a:t>
            </a:r>
            <a:r>
              <a:rPr sz="2000" b="0">
                <a:solidFill>
                  <a:srgbClr val="FFFFFF"/>
                </a:solidFill>
                <a:latin typeface="Calibri"/>
              </a:rPr>
              <a:t> (verdadero) o </a:t>
            </a:r>
            <a:r>
              <a:rPr sz="2000" b="0">
                <a:solidFill>
                  <a:srgbClr val="4ADFCB"/>
                </a:solidFill>
                <a:latin typeface="Consolas"/>
              </a:rPr>
              <a:t>False</a:t>
            </a:r>
            <a:r>
              <a:rPr sz="2000" b="0">
                <a:solidFill>
                  <a:srgbClr val="FFFFFF"/>
                </a:solidFill>
                <a:latin typeface="Calibri"/>
              </a:rPr>
              <a:t> (falso). Se escribe con la primera letra en mayúscula. Usa </a:t>
            </a:r>
            <a:r>
              <a:rPr sz="2000" b="0">
                <a:solidFill>
                  <a:srgbClr val="4ADFCB"/>
                </a:solidFill>
                <a:latin typeface="Consolas"/>
              </a:rPr>
              <a:t>type()</a:t>
            </a:r>
            <a:r>
              <a:rPr sz="2000" b="0">
                <a:solidFill>
                  <a:srgbClr val="FFFFFF"/>
                </a:solidFill>
                <a:latin typeface="Calibri"/>
              </a:rPr>
              <a:t> para confirmar el tipo.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45428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92900"/>
            <a:ext cx="11094415" cy="1990779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59290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730060"/>
            <a:ext cx="10820095" cy="17621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tiene_stock = True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esta_agotado = False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print(tiene_stock)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print(type(tiene_stock))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2. Operadores de comparación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11094415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19072"/>
            <a:ext cx="10637215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0">
                <a:solidFill>
                  <a:srgbClr val="4ADFCB"/>
                </a:solidFill>
                <a:latin typeface="Consolas"/>
              </a:rPr>
              <a:t>saldo_cuenta_rut &gt;= precio_audifono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5410047" cy="12801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73152" cy="128016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24912"/>
            <a:ext cx="513572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Calibri"/>
              </a:rPr>
              <a:t>PARTE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99232"/>
            <a:ext cx="513572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ADFCB"/>
                </a:solidFill>
                <a:latin typeface="Consolas"/>
              </a:rPr>
              <a:t>saldo_cuenta_rut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5135727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el dinero disponible en la Cuenta RUT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2651760"/>
            <a:ext cx="5410047" cy="12801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2651760"/>
            <a:ext cx="73152" cy="12801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2724912"/>
            <a:ext cx="513572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Calibri"/>
              </a:rPr>
              <a:t>PARTE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2999232"/>
            <a:ext cx="513572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ADFCB"/>
                </a:solidFill>
                <a:latin typeface="Consolas"/>
              </a:rPr>
              <a:t>&gt;=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887" y="3383280"/>
            <a:ext cx="5135727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el operador — define qué tipo de comparación se hace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14800"/>
            <a:ext cx="5410047" cy="12801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14800"/>
            <a:ext cx="73152" cy="1280160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87952"/>
            <a:ext cx="513572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Calibri"/>
              </a:rPr>
              <a:t>PARTE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62272"/>
            <a:ext cx="513572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ADFCB"/>
                </a:solidFill>
                <a:latin typeface="Consolas"/>
              </a:rPr>
              <a:t>precio_audifono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46320"/>
            <a:ext cx="5135727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el precio del artículo que queremos comprar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3007" y="4114800"/>
            <a:ext cx="5410047" cy="12801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3007" y="4114800"/>
            <a:ext cx="73152" cy="12801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5887" y="4187952"/>
            <a:ext cx="513572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Calibri"/>
              </a:rPr>
              <a:t>PARTE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5887" y="4462272"/>
            <a:ext cx="513572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ADFCB"/>
                </a:solidFill>
                <a:latin typeface="Consolas"/>
              </a:rPr>
              <a:t>Resultado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5887" y="4846320"/>
            <a:ext cx="5135727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siempre </a:t>
            </a:r>
            <a:r>
              <a:rPr sz="1500" b="0">
                <a:solidFill>
                  <a:srgbClr val="4ADFCB"/>
                </a:solidFill>
                <a:latin typeface="Consolas"/>
              </a:rPr>
              <a:t>True</a:t>
            </a:r>
            <a:r>
              <a:rPr sz="1500" b="0">
                <a:solidFill>
                  <a:srgbClr val="FFFFFF"/>
                </a:solidFill>
                <a:latin typeface="Calibri"/>
              </a:rPr>
              <a:t> o </a:t>
            </a:r>
            <a:r>
              <a:rPr sz="1500" b="0">
                <a:solidFill>
                  <a:srgbClr val="4ADFCB"/>
                </a:solidFill>
                <a:latin typeface="Consolas"/>
              </a:rPr>
              <a:t>False</a:t>
            </a:r>
            <a:r>
              <a:rPr sz="1500" b="0">
                <a:solidFill>
                  <a:srgbClr val="FFFFFF"/>
                </a:solidFill>
                <a:latin typeface="Calibri"/>
              </a:rPr>
              <a:t> — nunca otro valor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080760"/>
            <a:ext cx="11094415" cy="59436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080760"/>
            <a:ext cx="73152" cy="5943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6126480"/>
            <a:ext cx="1072865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💡  Una comparación siempre devuelve </a:t>
            </a:r>
            <a:r>
              <a:rPr sz="1600" b="0">
                <a:solidFill>
                  <a:srgbClr val="4ADFCB"/>
                </a:solidFill>
                <a:latin typeface="Consolas"/>
              </a:rPr>
              <a:t>True</a:t>
            </a:r>
            <a:r>
              <a:rPr sz="1600" b="0">
                <a:solidFill>
                  <a:srgbClr val="FFFFFF"/>
                </a:solidFill>
                <a:latin typeface="Calibri"/>
              </a:rPr>
              <a:t> o </a:t>
            </a:r>
            <a:r>
              <a:rPr sz="1600" b="0">
                <a:solidFill>
                  <a:srgbClr val="4ADFCB"/>
                </a:solidFill>
                <a:latin typeface="Consolas"/>
              </a:rPr>
              <a:t>False</a:t>
            </a:r>
            <a:r>
              <a:rPr sz="1600" b="0">
                <a:solidFill>
                  <a:srgbClr val="FFFFFF"/>
                </a:solidFill>
                <a:latin typeface="Calibri"/>
              </a:rPr>
              <a:t> — nunca otro valor.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3. La función `bool()`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11094415" cy="2644022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73152" cy="264402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072865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📘  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01951"/>
            <a:ext cx="10728655" cy="21593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4ADFCB"/>
                </a:solidFill>
                <a:latin typeface="Consolas"/>
              </a:rPr>
              <a:t>bool()</a:t>
            </a:r>
            <a:r>
              <a:rPr sz="2200" b="0">
                <a:solidFill>
                  <a:srgbClr val="FFFFFF"/>
                </a:solidFill>
                <a:latin typeface="Calibri"/>
              </a:rPr>
              <a:t> convierte un número en su valor booleano. El </a:t>
            </a:r>
            <a:r>
              <a:rPr sz="2200" b="0">
                <a:solidFill>
                  <a:srgbClr val="4ADFCB"/>
                </a:solidFill>
                <a:latin typeface="Consolas"/>
              </a:rPr>
              <a:t>0</a:t>
            </a:r>
            <a:r>
              <a:rPr sz="2200" b="0">
                <a:solidFill>
                  <a:srgbClr val="FFFFFF"/>
                </a:solidFill>
                <a:latin typeface="Calibri"/>
              </a:rPr>
              <a:t> se convierte en </a:t>
            </a:r>
            <a:r>
              <a:rPr sz="2200" b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>
                <a:solidFill>
                  <a:srgbClr val="FFFFFF"/>
                </a:solidFill>
                <a:latin typeface="Calibri"/>
              </a:rPr>
              <a:t>; cualquier otro número se convierte en </a:t>
            </a:r>
            <a:r>
              <a:rPr sz="2200" b="0">
                <a:solidFill>
                  <a:srgbClr val="4ADFCB"/>
                </a:solidFill>
                <a:latin typeface="Consolas"/>
              </a:rPr>
              <a:t>True</a:t>
            </a:r>
            <a:r>
              <a:rPr sz="2200" b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17374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💻  Ejemplo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4846"/>
            <a:ext cx="11094415" cy="1918833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664846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802006"/>
            <a:ext cx="10820095" cy="16902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print(bool(0))    # False — cero es siempre False</a:t>
            </a:r>
          </a:p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print(bool(150))  # True — cualquier otro número es True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📘 4. Booleanos en la vida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Lo que te preguntas tú, Python lo resuelve con </a:t>
            </a:r>
            <a:r>
              <a:rPr sz="2200" b="0">
                <a:solidFill>
                  <a:srgbClr val="4ADFCB"/>
                </a:solidFill>
                <a:latin typeface="Consolas"/>
              </a:rPr>
              <a:t>True</a:t>
            </a:r>
            <a:r>
              <a:rPr sz="2200" b="0">
                <a:solidFill>
                  <a:srgbClr val="FFFFFF"/>
                </a:solidFill>
                <a:latin typeface="Calibri"/>
              </a:rPr>
              <a:t> o </a:t>
            </a:r>
            <a:r>
              <a:rPr sz="2200" b="0">
                <a:solidFill>
                  <a:srgbClr val="4ADFCB"/>
                </a:solidFill>
                <a:latin typeface="Consolas"/>
              </a:rPr>
              <a:t>False</a:t>
            </a:r>
            <a:r>
              <a:rPr sz="2200" b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🌍  Vida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011680"/>
            <a:ext cx="5470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9B8E"/>
                </a:solidFill>
                <a:latin typeface="Calibri"/>
              </a:rPr>
              <a:t>🐍  En 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5166360" cy="777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54864" cy="777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496312"/>
            <a:ext cx="489204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¿Te alcanza el saldo para el artículo?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423160"/>
            <a:ext cx="457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F9B8E"/>
                </a:solidFill>
                <a:latin typeface="Calibri"/>
              </a:rPr>
              <a:t>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423160"/>
            <a:ext cx="5470855" cy="77724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423160"/>
            <a:ext cx="54864" cy="7772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496312"/>
            <a:ext cx="5196535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4ADFCB"/>
                </a:solidFill>
                <a:latin typeface="Consolas"/>
              </a:rPr>
              <a:t>saldo &gt;= precio</a:t>
            </a:r>
            <a:r>
              <a:rPr sz="1600" b="0">
                <a:solidFill>
                  <a:srgbClr val="4ADFCB"/>
                </a:solidFill>
                <a:latin typeface="Consolas"/>
              </a:rPr>
              <a:t> → </a:t>
            </a:r>
            <a:r>
              <a:rPr sz="1600" b="0">
                <a:solidFill>
                  <a:srgbClr val="4ADFCB"/>
                </a:solidFill>
                <a:latin typeface="Consolas"/>
              </a:rPr>
              <a:t>True</a:t>
            </a:r>
            <a:r>
              <a:rPr sz="1600" b="0">
                <a:solidFill>
                  <a:srgbClr val="4ADFCB"/>
                </a:solidFill>
                <a:latin typeface="Consolas"/>
              </a:rPr>
              <a:t> o </a:t>
            </a:r>
            <a:r>
              <a:rPr sz="1600" b="0">
                <a:solidFill>
                  <a:srgbClr val="4ADFCB"/>
                </a:solidFill>
                <a:latin typeface="Consolas"/>
              </a:rPr>
              <a:t>False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10128"/>
            <a:ext cx="5166360" cy="777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310128"/>
            <a:ext cx="54864" cy="777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383280"/>
            <a:ext cx="489204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¿Hay unidades disponibles en la tienda?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3310128"/>
            <a:ext cx="457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F9B8E"/>
                </a:solidFill>
                <a:latin typeface="Calibri"/>
              </a:rPr>
              <a:t>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310128"/>
            <a:ext cx="5470855" cy="77724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310128"/>
            <a:ext cx="54864" cy="7772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3383280"/>
            <a:ext cx="5196535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4ADFCB"/>
                </a:solidFill>
                <a:latin typeface="Consolas"/>
              </a:rPr>
              <a:t>unidades != 0</a:t>
            </a:r>
            <a:r>
              <a:rPr sz="1600" b="0">
                <a:solidFill>
                  <a:srgbClr val="4ADFCB"/>
                </a:solidFill>
                <a:latin typeface="Consolas"/>
              </a:rPr>
              <a:t> → </a:t>
            </a:r>
            <a:r>
              <a:rPr sz="1600" b="0">
                <a:solidFill>
                  <a:srgbClr val="4ADFCB"/>
                </a:solidFill>
                <a:latin typeface="Consolas"/>
              </a:rPr>
              <a:t>True</a:t>
            </a:r>
            <a:r>
              <a:rPr sz="1600" b="0">
                <a:solidFill>
                  <a:srgbClr val="4ADFCB"/>
                </a:solidFill>
                <a:latin typeface="Consolas"/>
              </a:rPr>
              <a:t> o </a:t>
            </a:r>
            <a:r>
              <a:rPr sz="1600" b="0">
                <a:solidFill>
                  <a:srgbClr val="4ADFCB"/>
                </a:solidFill>
                <a:latin typeface="Consolas"/>
              </a:rPr>
              <a:t>False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197096"/>
            <a:ext cx="5166360" cy="77724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197096"/>
            <a:ext cx="54864" cy="777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270248"/>
            <a:ext cx="489204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¿El envío llega en 5 días o menos?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4197096"/>
            <a:ext cx="457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0F9B8E"/>
                </a:solidFill>
                <a:latin typeface="Calibri"/>
              </a:rPr>
              <a:t>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197096"/>
            <a:ext cx="5470855" cy="77724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4197096"/>
            <a:ext cx="54864" cy="777240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4270248"/>
            <a:ext cx="5196535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4ADFCB"/>
                </a:solidFill>
                <a:latin typeface="Consolas"/>
              </a:rPr>
              <a:t>dias_envio &lt;= 5</a:t>
            </a:r>
            <a:r>
              <a:rPr sz="1600" b="0">
                <a:solidFill>
                  <a:srgbClr val="4ADFCB"/>
                </a:solidFill>
                <a:latin typeface="Consolas"/>
              </a:rPr>
              <a:t> → </a:t>
            </a:r>
            <a:r>
              <a:rPr sz="1600" b="0">
                <a:solidFill>
                  <a:srgbClr val="4ADFCB"/>
                </a:solidFill>
                <a:latin typeface="Consolas"/>
              </a:rPr>
              <a:t>True</a:t>
            </a:r>
            <a:r>
              <a:rPr sz="1600" b="0">
                <a:solidFill>
                  <a:srgbClr val="4ADFCB"/>
                </a:solidFill>
                <a:latin typeface="Consolas"/>
              </a:rPr>
              <a:t> o </a:t>
            </a:r>
            <a:r>
              <a:rPr sz="1600" b="0">
                <a:solidFill>
                  <a:srgbClr val="4ADFCB"/>
                </a:solidFill>
                <a:latin typeface="Consolas"/>
              </a:rPr>
              <a:t>False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Operadores == != 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Comparando saldo_cuenta_rut = 45000 con precio = 60000.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==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68296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68296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96312"/>
            <a:ext cx="5989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45000 == 60000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599" y="2368296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599" y="2368296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59" y="2496312"/>
            <a:ext cx="42821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False — no son iguales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38728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!=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49624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49624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977639"/>
            <a:ext cx="5989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45000 != 60000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599" y="3849624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86599" y="3849624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59" y="3977639"/>
            <a:ext cx="42821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True — sí son distintos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20056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30952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330952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458968"/>
            <a:ext cx="5989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45000 &gt; 60000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599" y="5330952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86599" y="5330952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59" y="5458968"/>
            <a:ext cx="42821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False — el saldo no supera el precio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onsolas"/>
              </a:rPr>
              <a:t>🐍 Python · Clase 8a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095" y="118872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0F9B8E"/>
                </a:solidFill>
                <a:latin typeface="Consolas"/>
              </a:rPr>
              <a:t>Contenido nuevo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9441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Operadores &lt; &gt;= &lt;=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Comparando saldo_cuenta_rut = 45000 con precio = 60000.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&lt;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68296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68296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96312"/>
            <a:ext cx="5989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45000 &lt; 60000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599" y="2368296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599" y="2368296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59" y="2496312"/>
            <a:ext cx="42821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True — el saldo es menor al precio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38728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&gt;=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49624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49624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977639"/>
            <a:ext cx="5989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45000 &gt;= 60000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599" y="3849624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86599" y="3849624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59" y="3977639"/>
            <a:ext cx="42821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False — el saldo no alcanza el precio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20056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Calibri"/>
              </a:rPr>
              <a:t>&lt;=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30952"/>
            <a:ext cx="6263640" cy="1298448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330952"/>
            <a:ext cx="6263640" cy="73152"/>
          </a:xfrm>
          <a:prstGeom prst="rect">
            <a:avLst/>
          </a:prstGeom>
          <a:solidFill>
            <a:srgbClr val="0F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458968"/>
            <a:ext cx="5989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4ADFCB"/>
                </a:solidFill>
                <a:latin typeface="Consolas"/>
              </a:rPr>
              <a:t>45000 &lt;= 60000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599" y="5330952"/>
            <a:ext cx="4556455" cy="1298448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86599" y="5330952"/>
            <a:ext cx="4556455" cy="7315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59" y="5458968"/>
            <a:ext cx="42821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True — el saldo está bajo o igual al precio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