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Tipo Booleano y Comparaciones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Tipo booleano (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94A3B8"/>
                </a:solidFill>
                <a:latin typeface="Calibri"/>
              </a:rPr>
              <a:t>/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94A3B8"/>
                </a:solidFill>
                <a:latin typeface="Calibri"/>
              </a:rPr>
              <a:t>), operadores de comparación (</a:t>
            </a:r>
            <a:r>
              <a:rPr sz="2000" b="0">
                <a:solidFill>
                  <a:srgbClr val="4ADFCB"/>
                </a:solidFill>
                <a:latin typeface="Consolas"/>
              </a:rPr>
              <a:t>==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!=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&gt;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&lt;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&gt;=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&lt;=</a:t>
            </a:r>
            <a:r>
              <a:rPr sz="2000" b="0">
                <a:solidFill>
                  <a:srgbClr val="94A3B8"/>
                </a:solidFill>
                <a:latin typeface="Calibri"/>
              </a:rPr>
              <a:t>), </a:t>
            </a:r>
            <a:r>
              <a:rPr sz="2000" b="0">
                <a:solidFill>
                  <a:srgbClr val="4ADFCB"/>
                </a:solidFill>
                <a:latin typeface="Consolas"/>
              </a:rPr>
              <a:t>bool()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8a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Los programas necesitan evaluar condiciones todo el tiempo. Hoy desbloqueas una herramienta nueva 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8a - Tipo Booleano y Comparaciones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Demostrar el uso de valores booleanos y operadores de comparación en Python mediante la evaluación de condiciones con datos cotidianos, para identificar cuándo una expresión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Los programas necesitan evaluar condiciones todo el tiempo. Hoy aprenderás a escribir esas condiciones en Python y a entender qué responde el programa — verdadero o falso. Es la base de toda lógica en programación.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⚡ Haz Ahora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Activa lo que ya sabes antes de empezar.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4415" cy="1417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14173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728655" cy="2788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Actividad desconectada: lee cada situación y decide si es verdadera (V) o falsa (F). Escribe tu respuesta en la celda de abajo sin abrir el computador.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1. El PIN guardado es 4821. Ingresaste 4821. ¿Son iguales?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2. Tu contraseña es "Gato99". Escribiste "gato99". ¿Son distintas?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3. Tu app pesa 450 MB. Tienes 380 MB libres. ¿Cabe la app?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4. Llevas 2 intentos fallidos. El límite es 5. ¿Estás bajo el límite?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5. Tienes 16 años. La app exige 16 o más. ¿Puedes entrar?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6. Tu usuario tiene 12 caracteres. El máximo es 15. ¿Es válido?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En unos minutos revisaremos en conjunto las respuestas y veremos cómo Python evalúa cada una de estas situaciones.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11094415" cy="17373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Idea clave: lo que ya sabes te ayuda a entender lo nuevo.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Tipo booleano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En Python existe un tipo de dato especial que solo puede tener dos valores: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(verdadero)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 (falso). Se escribe siempre con la primera letra en mayúscula. Puedes usar </a:t>
            </a:r>
            <a:r>
              <a:rPr sz="2200" b="0">
                <a:solidFill>
                  <a:srgbClr val="4ADFCB"/>
                </a:solidFill>
                <a:latin typeface="Consolas"/>
              </a:rPr>
              <a:t>type()</a:t>
            </a:r>
            <a:r>
              <a:rPr sz="2200" b="0">
                <a:solidFill>
                  <a:srgbClr val="FFFFFF"/>
                </a:solidFill>
                <a:latin typeface="Calibri"/>
              </a:rPr>
              <a:t> para confirmar que el tipo es </a:t>
            </a:r>
            <a:r>
              <a:rPr sz="2200" b="0">
                <a:solidFill>
                  <a:srgbClr val="4ADFCB"/>
                </a:solidFill>
                <a:latin typeface="Consolas"/>
              </a:rPr>
              <a:t>bool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tiene_stock = True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esta_agotado = False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print(tiene_stock)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print(type(tiene_stock))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 son valores de datos, igual que los números.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Operadores de comparación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Son símbolos que comparan dos valores y devuelven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 según si la comparación se cumple o no.
    |---|---|
  | </a:t>
            </a:r>
            <a:r>
              <a:rPr sz="2200" b="0">
                <a:solidFill>
                  <a:srgbClr val="4ADFCB"/>
                </a:solidFill>
                <a:latin typeface="Consolas"/>
              </a:rPr>
              <a:t>==</a:t>
            </a:r>
            <a:r>
              <a:rPr sz="2200" b="0">
                <a:solidFill>
                  <a:srgbClr val="FFFFFF"/>
                </a:solidFill>
                <a:latin typeface="Calibri"/>
              </a:rPr>
              <a:t> | Igual a |
  | </a:t>
            </a:r>
            <a:r>
              <a:rPr sz="2200" b="0">
                <a:solidFill>
                  <a:srgbClr val="4ADFCB"/>
                </a:solidFill>
                <a:latin typeface="Consolas"/>
              </a:rPr>
              <a:t>!=</a:t>
            </a:r>
            <a:r>
              <a:rPr sz="2200" b="0">
                <a:solidFill>
                  <a:srgbClr val="FFFFFF"/>
                </a:solidFill>
                <a:latin typeface="Calibri"/>
              </a:rPr>
              <a:t> | Distinto de |
  | </a:t>
            </a:r>
            <a:r>
              <a:rPr sz="2200" b="0">
                <a:solidFill>
                  <a:srgbClr val="4ADFCB"/>
                </a:solidFill>
                <a:latin typeface="Consolas"/>
              </a:rPr>
              <a:t>&gt;</a:t>
            </a:r>
            <a:r>
              <a:rPr sz="2200" b="0">
                <a:solidFill>
                  <a:srgbClr val="FFFFFF"/>
                </a:solidFill>
                <a:latin typeface="Calibri"/>
              </a:rPr>
              <a:t> | Mayor que |
  | </a:t>
            </a:r>
            <a:r>
              <a:rPr sz="2200" b="0">
                <a:solidFill>
                  <a:srgbClr val="4ADFCB"/>
                </a:solidFill>
                <a:latin typeface="Consolas"/>
              </a:rPr>
              <a:t>&lt;</a:t>
            </a:r>
            <a:r>
              <a:rPr sz="2200" b="0">
                <a:solidFill>
                  <a:srgbClr val="FFFFFF"/>
                </a:solidFill>
                <a:latin typeface="Calibri"/>
              </a:rPr>
              <a:t> | Menor que |
  | </a:t>
            </a:r>
            <a:r>
              <a:rPr sz="2200" b="0">
                <a:solidFill>
                  <a:srgbClr val="4ADFCB"/>
                </a:solidFill>
                <a:latin typeface="Consolas"/>
              </a:rPr>
              <a:t>&gt;=</a:t>
            </a:r>
            <a:r>
              <a:rPr sz="2200" b="0">
                <a:solidFill>
                  <a:srgbClr val="FFFFFF"/>
                </a:solidFill>
                <a:latin typeface="Calibri"/>
              </a:rPr>
              <a:t> | Mayor o igual que |
  | </a:t>
            </a:r>
            <a:r>
              <a:rPr sz="2200" b="0">
                <a:solidFill>
                  <a:srgbClr val="4ADFCB"/>
                </a:solidFill>
                <a:latin typeface="Consolas"/>
              </a:rPr>
              <a:t>&lt;=</a:t>
            </a:r>
            <a:r>
              <a:rPr sz="2200" b="0">
                <a:solidFill>
                  <a:srgbClr val="FFFFFF"/>
                </a:solidFill>
                <a:latin typeface="Calibri"/>
              </a:rPr>
              <a:t> | Menor o igual que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Una comparación siempre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 — nunca otro valor.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840480"/>
          <a:ext cx="10820095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82295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Operador</a:t>
                      </a:r>
                    </a:p>
                  </a:txBody>
                  <a:tcPr marL="91440" marR="91440" marT="45720" marB="45720">
                    <a:solidFill>
                      <a:srgbClr val="0D2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Significado</a:t>
                      </a:r>
                    </a:p>
                  </a:txBody>
                  <a:tcPr marL="91440" marR="91440" marT="45720" marB="45720">
                    <a:solidFill>
                      <a:srgbClr val="0D2B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La función </a:t>
            </a:r>
            <a:r>
              <a:rPr sz="3200" b="1">
                <a:solidFill>
                  <a:srgbClr val="4ADFCB"/>
                </a:solidFill>
                <a:latin typeface="Consolas"/>
              </a:rPr>
              <a:t>bool()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bool()</a:t>
            </a:r>
            <a:r>
              <a:rPr sz="2200" b="0">
                <a:solidFill>
                  <a:srgbClr val="FFFFFF"/>
                </a:solidFill>
                <a:latin typeface="Calibri"/>
              </a:rPr>
              <a:t> convierte un número en su valor booleano. El número </a:t>
            </a:r>
            <a:r>
              <a:rPr sz="2200" b="0">
                <a:solidFill>
                  <a:srgbClr val="4ADFCB"/>
                </a:solidFill>
                <a:latin typeface="Consolas"/>
              </a:rPr>
              <a:t>0</a:t>
            </a:r>
            <a:r>
              <a:rPr sz="2200" b="0">
                <a:solidFill>
                  <a:srgbClr val="FFFFFF"/>
                </a:solidFill>
                <a:latin typeface="Calibri"/>
              </a:rPr>
              <a:t> se convierte en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; cualquier otro número se convierte en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ventas_realizadas = 0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print(bool(ventas_realizadas))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ventas_realizadas = 150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print(bool(ventas_realizadas))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0</a:t>
            </a:r>
            <a:r>
              <a:rPr sz="2200" b="0">
                <a:solidFill>
                  <a:srgbClr val="FFFFFF"/>
                </a:solidFill>
                <a:latin typeface="Calibri"/>
              </a:rPr>
              <a:t> siempre es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. Cualquier otro número es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79215"/>
              </a:tblGrid>
              <a:tr h="1028700"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Escribir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o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en minúscula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NameError: name 'true' is not defined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Siempre con mayúscula: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,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Usar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=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en vez de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==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para comparar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Asigna un valor en vez de comparar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Para comparar, usar doble igual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Comparar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"60000" &gt;= 60000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TypeError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— texto vs número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Convertir con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int()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antes de comparar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Operadores == != 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Comparando saldo_cuenta_rut = 45000 con precio = 60000.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==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== 60000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False — no son iguales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!=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!= 60000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True — sí son distintos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&gt; 60000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False — el saldo no supera el precio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Operadores &lt; &gt;= &lt;=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Comparando saldo_cuenta_rut = 45000 con precio = 60000.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&lt;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&lt; 60000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True — el saldo es menor al precio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&gt;=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&gt;= 60000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False — el saldo no alcanza el precio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&lt;=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&lt;= 60000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True — el saldo está bajo o igual al precio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guiada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🛠️ Práctica guiada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usuario quiere comprar unos audífonos de $60.000 en Mercado Libre y paga con Cuenta RUT.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852160" cy="2286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852160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10712"/>
            <a:ext cx="5577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834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324612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59" y="3246120"/>
            <a:ext cx="548640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10712"/>
            <a:ext cx="52120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¿Te alcanza para el audífono? True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¿Hay unidades disponibles? True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¿Llega en 5 días o menos? True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¿El vendedor tiene historial de ventas?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👥 Construyan el programa paso a paso junto al profe.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💻 Ejercicio 1 — Validar compra con Cuenta RUT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Pide el saldo de la Cuenta RUT del usuario y el precio de un teclado inalámbrico. Imprime si el saldo alcanza para comprarlo, si el precio supera los $20.000, y si el saldo y el precio son exactamente iguales.
Ejemplo: si alguien ingresa un saldo de Cuenta RUT de $80.000 y un precio de teclado de $35.000, el programa imprime:
``</a:t>
            </a:r>
            <a:r>
              <a:rPr sz="2200" b="0">
                <a:solidFill>
                  <a:srgbClr val="4ADFCB"/>
                </a:solidFill>
                <a:latin typeface="Consolas"/>
              </a:rPr>
              <a:t>
¿Te alcanza para el teclado? True
¿El teclado vale más de $20.000? True
¿Tu saldo es exactamente igual al precio? False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  <a:r>
              <a:rPr sz="2200" b="0">
                <a:solidFill>
                  <a:srgbClr val="4ADFCB"/>
                </a:solidFill>
                <a:latin typeface="Consolas"/>
              </a:rPr>
              <a:t>
- Solución: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  <a:r>
              <a:rPr sz="2200" b="0">
                <a:solidFill>
                  <a:srgbClr val="4ADFCB"/>
                </a:solidFill>
                <a:latin typeface="Consolas"/>
              </a:rPr>
              <a:t>python
saldo_cuenta_rut = int(input("¿Cuánto tienes en tu Cuenta RUT? "))
precio_teclado = int(input("¿Cuánto cuesta el teclado? "))
print("¿Te alcanza para el teclado?", saldo_cuenta_rut &gt;= precio_teclado)
print("¿El teclado vale más de $20.000?", precio_teclado &gt; 20000)
print("¿Tu saldo es exactamente igual al precio?", saldo_cuenta_rut == precio_teclado)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⏱️ Si te atascas más de 10 minutos, pregunta al profe.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💻 Ejercicio 2 — Comparar ofertas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Pide el precio del mismo producto en dos tiendas distintas de Mercado Libre. Imprime si la primera tienda es más barata, si los precios son iguales, y si la diferencia entre ambos precios supera los $5.000.
Ejemplo: si alguien ingresa un precio de $45.000 en la primera tienda y $55.000 en la segunda, el programa imprime:
``</a:t>
            </a:r>
            <a:r>
              <a:rPr sz="2200" b="0">
                <a:solidFill>
                  <a:srgbClr val="4ADFCB"/>
                </a:solidFill>
                <a:latin typeface="Consolas"/>
              </a:rPr>
              <a:t>
¿La tienda 1 es más barata? True
¿Tienen el mismo precio? False
¿La diferencia supera los $5.000? True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  <a:r>
              <a:rPr sz="2200" b="0">
                <a:solidFill>
                  <a:srgbClr val="4ADFCB"/>
                </a:solidFill>
                <a:latin typeface="Consolas"/>
              </a:rPr>
              <a:t>
- Solución: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  <a:r>
              <a:rPr sz="2200" b="0">
                <a:solidFill>
                  <a:srgbClr val="4ADFCB"/>
                </a:solidFill>
                <a:latin typeface="Consolas"/>
              </a:rPr>
              <a:t>python
precio_tienda_1 = int(input("¿Cuánto cuesta en la tienda 1? "))
precio_tienda_2 = int(input("¿Cuánto cuesta en la tienda 2? "))
print("¿La tienda 1 es más barata?", precio_tienda_1 &lt; precio_tienda_2)
print("¿Tienen el mismo precio?", precio_tienda_1 == precio_tienda_2)
diferencia = precio_tienda_2 - precio_tienda_1
print("¿La diferencia supera los $5.000?", diferencia &gt; 5000)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⏱️ Si te atascas más de 10 minutos, pregunta al profe.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💻 Ejercicio 3 — Historial del vendedor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Pide la calificación del vendedor en estrellas (del 1 al 5) y la cantidad de ventas que ha realizado. Imprime si la calificación es de 4 estrellas o más, si tiene más de 10 ventas, y si tiene historial de ventas.
Ejemplo: si alguien ingresa una calificación de 5 estrellas y 20 ventas realizadas, el programa imprime:
``</a:t>
            </a:r>
            <a:r>
              <a:rPr sz="2200" b="0">
                <a:solidFill>
                  <a:srgbClr val="4ADFCB"/>
                </a:solidFill>
                <a:latin typeface="Consolas"/>
              </a:rPr>
              <a:t>
¿El vendedor tiene 4 estrellas o más? True
¿Tiene más de 10 ventas? True
¿Tiene historial de ventas? True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  <a:r>
              <a:rPr sz="2200" b="0">
                <a:solidFill>
                  <a:srgbClr val="4ADFCB"/>
                </a:solidFill>
                <a:latin typeface="Consolas"/>
              </a:rPr>
              <a:t>
- Solución: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  <a:r>
              <a:rPr sz="2200" b="0">
                <a:solidFill>
                  <a:srgbClr val="4ADFCB"/>
                </a:solidFill>
                <a:latin typeface="Consolas"/>
              </a:rPr>
              <a:t>python
calificacion_vendedor = int(input("¿Cuántas estrellas tiene el vendedor (1-5)? "))
ventas_realizadas = int(input("¿Cuántas ventas tiene el vendedor? "))
print("¿El vendedor tiene 4 estrellas o más?", calificacion_vendedor &gt;= 4)
print("¿Tiene más de 10 ventas?", ventas_realizadas &gt; 10)
print("¿Tiene historial de ventas?", bool(ventas_realizadas))
</a:t>
            </a:r>
            <a:r>
              <a:rPr sz="2200" b="0">
                <a:solidFill>
                  <a:srgbClr val="4ADFCB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⏱️ Si te atascas más de 10 minutos, pregunta al profe.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