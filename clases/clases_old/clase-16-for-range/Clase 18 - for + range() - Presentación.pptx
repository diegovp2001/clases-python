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mY9v2LVIhltTYQQxO/h5cG//r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3131C1-F7A7-4612-AAC8-9866DBFD4F4D}">
  <a:tblStyle styleId="{433131C1-F7A7-4612-AAC8-9866DBFD4F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6f2406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46f2406c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6f2406c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46f2406c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7836227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578362274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7836227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f57836227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dmision.uc.cl/carreras/licenciatura-en-ingenieria-en-ciencia-de-la-computacion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admision.uc.cl/carreras/licenciatura-en-ingenieria-en-ciencia-de-datos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+ range()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Hoy: sentencia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función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range(inicio, fin, salto)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con sus valores por defecto, patrón acumulador dentro de un bucle.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16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orden es la capacidad de escribir y organizar el código de manera clara, estructurada y fácil de seguir. Hoy desbloqueas una herramienta nueva 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16 - for + range()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Construir programas en Python que utilicen la sentencia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la función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 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repetir instrucciones y generar secuencias numéricas controladas, con rigurosidad.</a:t>
            </a:r>
            <a:endParaRPr b="0"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263640" y="914400"/>
            <a:ext cx="5349240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63640" y="914400"/>
            <a:ext cx="73152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49224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6492240" y="1417320"/>
            <a:ext cx="50292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rigurosidad es trabajar con cuidado y verificar que cada paso sea correcto, ya que pequeños errores pueden cambiar todo el resultado. Hoy la ejercitaremos usando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5800" y="3931920"/>
            <a:ext cx="10820095" cy="26517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3931920"/>
            <a:ext cx="73152" cy="2651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02335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480559"/>
            <a:ext cx="1036289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40" y="1115568"/>
            <a:ext cx="11094415" cy="5486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115568"/>
            <a:ext cx="73152" cy="5486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252728"/>
            <a:ext cx="108201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(5-8 min)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¿Se acuerdan del bloque que usábamos para contar en programación por bloques?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ese bloque en mente, respondan acá: si quisiéramos contar, uno por uno, los partidos que faltan del Mundial desde 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cuartos de final sin considerar el de tercer lugar</a:t>
            </a: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¿cuántas veces se repetiría el bloque?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valores debería tomar X, Y, Z?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queda la secuencia de números en cada vuelta? ¿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1,2,3… o 2,4,6… o de qué manera?</a:t>
            </a:r>
            <a:endParaRPr b="0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" y="2209406"/>
            <a:ext cx="10045430" cy="1471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{433131C1-F7A7-4612-AAC8-9866DBFD4F4D}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46f2406cc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46f2406cc_0_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46f2406cc_0_0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43" name="Google Shape;143;g3f46f2406cc_0_0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44" name="Google Shape;144;g3f46f2406cc_0_0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45" name="Google Shape;145;g3f46f2406cc_0_0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{433131C1-F7A7-4612-AAC8-9866DBFD4F4D}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2232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 numero_partido in range(1, 8, 1):</a:t>
                      </a:r>
                      <a:endParaRPr sz="1900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print("Partido número", numero_partido)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range(1, 8, 1)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inicio = 1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fin    = 8   (no incluido)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salto  = 1</a:t>
                      </a:r>
                      <a:endParaRPr sz="21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46f2406cc_0_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46f2406cc_0_9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46f2406cc_0_9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53" name="Google Shape;153;g3f46f2406cc_0_9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4" name="Google Shape;154;g3f46f2406cc_0_9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`for` y `range(inicio, fin, salto)` lado a lado</a:t>
            </a:r>
            <a:endParaRPr/>
          </a:p>
        </p:txBody>
      </p:sp>
      <p:graphicFrame>
        <p:nvGraphicFramePr>
          <p:cNvPr id="155" name="Google Shape;155;g3f46f2406cc_0_9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{433131C1-F7A7-4612-AAC8-9866DBFD4F4D}</a:tableStyleId>
              </a:tblPr>
              <a:tblGrid>
                <a:gridCol w="5547200"/>
                <a:gridCol w="5547200"/>
              </a:tblGrid>
              <a:tr h="51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</a:rPr>
                        <a:t>🔁 </a:t>
                      </a:r>
                      <a:r>
                        <a:rPr b="1" lang="en-US" sz="20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FFFFFF"/>
                          </a:solidFill>
                        </a:rPr>
                        <a:t>🔢 </a:t>
                      </a: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range(inicio, fin, salto)</a:t>
                      </a:r>
                      <a:endParaRPr sz="2000"/>
                    </a:p>
                  </a:txBody>
                  <a:tcPr marT="45725" marB="45725" marR="91450" marL="91450">
                    <a:solidFill>
                      <a:srgbClr val="0D2B3E"/>
                    </a:solidFill>
                  </a:tcPr>
                </a:tc>
              </a:tr>
              <a:tr h="1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El ciclo for repite un bloque de código una vez por cada valor de una secuencia. </a:t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La variable cambia automáticamente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Genera la secuencia de números que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va a recorrer: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empieza en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termina ANTES de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(el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incluye),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avanzando de a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en cada vuelta.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 numero_partido in range(1, 8, 1):</a:t>
                      </a:r>
                      <a:endParaRPr sz="1900">
                        <a:solidFill>
                          <a:srgbClr val="4ADFCB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print("Partido número", numero_partido)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range(1, 8, 1)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inicio = 1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fin    = 8   (no incluido)</a:t>
                      </a:r>
                      <a:endParaRPr sz="2100"/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salto  = 1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0A1A28"/>
                    </a:solidFill>
                  </a:tcPr>
                </a:tc>
              </a:tr>
              <a:tr h="14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Idea clave: todo lo que esté indentado bajo el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se repite una vez por cada valor de la variable iteradora.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Idea clave: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nunca se incluye — por eso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range(1, 8)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 se detiene en 7, no en 8.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Si se omite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inicio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el valor por defecto es 0; </a:t>
                      </a:r>
                      <a:endParaRPr b="0" sz="2000">
                        <a:solidFill>
                          <a:srgbClr val="FFFFFF"/>
                        </a:solidFill>
                      </a:endParaRPr>
                    </a:p>
                    <a:p>
                      <a:pPr indent="-3556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n-US" sz="2000">
                          <a:solidFill>
                            <a:srgbClr val="FFFFFF"/>
                          </a:solidFill>
                        </a:rPr>
                        <a:t>S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i se omite </a:t>
                      </a:r>
                      <a:r>
                        <a:rPr b="0" lang="en-US" sz="20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salto</a:t>
                      </a:r>
                      <a:r>
                        <a:rPr b="0" lang="en-US" sz="2000">
                          <a:solidFill>
                            <a:srgbClr val="FFFFFF"/>
                          </a:solidFill>
                        </a:rPr>
                        <a:t>, el valor por defecto es 1. </a:t>
                      </a:r>
                      <a:endParaRPr sz="2100"/>
                    </a:p>
                  </a:txBody>
                  <a:tcPr marT="45725" marB="45725" marR="91450" marL="91450">
                    <a:solidFill>
                      <a:srgbClr val="1222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578362274_0_4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578362274_0_40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578362274_0_40"/>
          <p:cNvSpPr txBox="1"/>
          <p:nvPr/>
        </p:nvSpPr>
        <p:spPr>
          <a:xfrm>
            <a:off x="411479" y="118872"/>
            <a:ext cx="548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63" name="Google Shape;163;g3f578362274_0_40"/>
          <p:cNvSpPr txBox="1"/>
          <p:nvPr/>
        </p:nvSpPr>
        <p:spPr>
          <a:xfrm>
            <a:off x="8534095" y="118872"/>
            <a:ext cx="3200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64" name="Google Shape;164;g3f578362274_0_40"/>
          <p:cNvSpPr txBox="1"/>
          <p:nvPr/>
        </p:nvSpPr>
        <p:spPr>
          <a:xfrm>
            <a:off x="548640" y="868680"/>
            <a:ext cx="11094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Acumulador dentro de un bucle</a:t>
            </a:r>
            <a:endParaRPr/>
          </a:p>
        </p:txBody>
      </p:sp>
      <p:sp>
        <p:nvSpPr>
          <p:cNvPr id="165" name="Google Shape;165;g3f578362274_0_40"/>
          <p:cNvSpPr/>
          <p:nvPr/>
        </p:nvSpPr>
        <p:spPr>
          <a:xfrm>
            <a:off x="548640" y="1508760"/>
            <a:ext cx="11094300" cy="1708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578362274_0_40"/>
          <p:cNvSpPr/>
          <p:nvPr/>
        </p:nvSpPr>
        <p:spPr>
          <a:xfrm>
            <a:off x="548640" y="1508760"/>
            <a:ext cx="73200" cy="1708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578362274_0_40"/>
          <p:cNvSpPr txBox="1"/>
          <p:nvPr/>
        </p:nvSpPr>
        <p:spPr>
          <a:xfrm>
            <a:off x="777240" y="1600200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68" name="Google Shape;168;g3f578362274_0_40"/>
          <p:cNvSpPr txBox="1"/>
          <p:nvPr/>
        </p:nvSpPr>
        <p:spPr>
          <a:xfrm>
            <a:off x="777240" y="1901951"/>
            <a:ext cx="10728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variable "acumuladora" se inicializa en 0 ANTES del </a:t>
            </a: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fuera del bloque indentado, y dentro del bucle se le suma un valor en cada vuelta para ir guardando un total.</a:t>
            </a:r>
            <a:endParaRPr sz="2000"/>
          </a:p>
        </p:txBody>
      </p:sp>
      <p:sp>
        <p:nvSpPr>
          <p:cNvPr id="169" name="Google Shape;169;g3f578362274_0_40"/>
          <p:cNvSpPr txBox="1"/>
          <p:nvPr/>
        </p:nvSpPr>
        <p:spPr>
          <a:xfrm>
            <a:off x="548640" y="3381816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70" name="Google Shape;170;g3f578362274_0_40"/>
          <p:cNvSpPr/>
          <p:nvPr/>
        </p:nvSpPr>
        <p:spPr>
          <a:xfrm>
            <a:off x="548640" y="3729288"/>
            <a:ext cx="11094300" cy="1930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578362274_0_40"/>
          <p:cNvSpPr/>
          <p:nvPr/>
        </p:nvSpPr>
        <p:spPr>
          <a:xfrm>
            <a:off x="548640" y="3729288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578362274_0_40"/>
          <p:cNvSpPr txBox="1"/>
          <p:nvPr/>
        </p:nvSpPr>
        <p:spPr>
          <a:xfrm>
            <a:off x="731520" y="3866448"/>
            <a:ext cx="10820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goles_totales 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for numero_partido in range(1, 5):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goles_totales = goles_totales + 2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print("Goles totales estimados:", goles_totales)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Goles totales estimados: 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0" y="0"/>
            <a:ext cx="12191700" cy="50280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11479" y="118872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534095" y="118872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548640" y="868680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Acumulador dentro de un bucle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48640" y="1508760"/>
            <a:ext cx="11094300" cy="17085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48640" y="1508760"/>
            <a:ext cx="73200" cy="1708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777240" y="1600200"/>
            <a:ext cx="10728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777240" y="1901951"/>
            <a:ext cx="10728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variable "acumuladora" se inicializa en 0 ANTES del </a:t>
            </a:r>
            <a:r>
              <a:rPr b="0" lang="en-US" sz="26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fuera del bloque indentado, y dentro del bucle se le suma un valor en cada vuelta para ir guardando un total.</a:t>
            </a:r>
            <a:endParaRPr sz="2000"/>
          </a:p>
        </p:txBody>
      </p:sp>
      <p:sp>
        <p:nvSpPr>
          <p:cNvPr id="186" name="Google Shape;186;p5"/>
          <p:cNvSpPr txBox="1"/>
          <p:nvPr/>
        </p:nvSpPr>
        <p:spPr>
          <a:xfrm>
            <a:off x="548640" y="3381816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548640" y="3729288"/>
            <a:ext cx="11094300" cy="19305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8640" y="3729288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731520" y="3866448"/>
            <a:ext cx="10820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for numero_partido in range(1, 5):</a:t>
            </a:r>
            <a:endParaRPr b="0" sz="20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US" sz="20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goles_totales = 0</a:t>
            </a:r>
            <a:endParaRPr b="1" sz="2000">
              <a:solidFill>
                <a:srgbClr val="F5A6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goles_totales = goles_totales + 2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print("Goles totales estimados:", goles_totales)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# &gt;&gt; Goles totales estimados: 8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5824362"/>
            <a:ext cx="11094300" cy="7593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5824362"/>
            <a:ext cx="73200" cy="759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77240" y="5764927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777240" y="5995629"/>
            <a:ext cx="10728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la variable acumuladora se inicializa </a:t>
            </a:r>
            <a:r>
              <a:rPr b="1" lang="en-US" sz="22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DENTRO del bucle, se reinicia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en cada vuelta y nunca acumula de verdad.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16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203" name="Google Shape;203;p6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{433131C1-F7A7-4612-AAC8-9866DBFD4F4D}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Esperar que el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range()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se incluya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bucle se detiene un valor antes de lo esperado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Recordar: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fin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nunca se incluye, igual que la Y del bloque no se contaba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Olvidar la indentación del bloque bajo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código no se repite, se ejecuta solo una vez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que todo lo que debe repetirse esté indentado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Inicializar el acumulador dentro del bucle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total se reinicia en cada vuelta, nunca acumula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Mover la inicialización (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 0</a:t>
                      </a:r>
                      <a:r>
                        <a:rPr lang="en-US"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antes del </a:t>
                      </a:r>
                      <a:r>
                        <a:rPr lang="en-US" sz="1600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204" name="Google Shape;204;p6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 antes de pedir ayuda.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78362274_0_6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578362274_0_60"/>
          <p:cNvSpPr txBox="1"/>
          <p:nvPr/>
        </p:nvSpPr>
        <p:spPr>
          <a:xfrm>
            <a:off x="548640" y="411480"/>
            <a:ext cx="1109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¿Dónde podría estudiar?</a:t>
            </a:r>
            <a:endParaRPr/>
          </a:p>
        </p:txBody>
      </p:sp>
      <p:sp>
        <p:nvSpPr>
          <p:cNvPr id="213" name="Google Shape;213;g3f578362274_0_60"/>
          <p:cNvSpPr/>
          <p:nvPr/>
        </p:nvSpPr>
        <p:spPr>
          <a:xfrm>
            <a:off x="548680" y="1051552"/>
            <a:ext cx="4768500" cy="43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g3f578362274_0_6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025" y="1394450"/>
            <a:ext cx="10531951" cy="226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f578362274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825" y="4129775"/>
            <a:ext cx="10531950" cy="20684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f578362274_0_60"/>
          <p:cNvSpPr txBox="1"/>
          <p:nvPr/>
        </p:nvSpPr>
        <p:spPr>
          <a:xfrm>
            <a:off x="830025" y="4398450"/>
            <a:ext cx="974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https://admision.uc.cl/carreras/licenciatura-en-ingenieria-en-ciencia-de-datos/</a:t>
            </a:r>
            <a:r>
              <a:rPr b="1" lang="en-US" sz="3600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48640" y="1051560"/>
            <a:ext cx="11887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48640" y="1325880"/>
            <a:ext cx="11094415" cy="14173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777240" y="1463039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2331720" y="1463039"/>
            <a:ext cx="90827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Construir programas en Python que utilicen la sentencia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la función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repetir instrucciones y generar secuencias numéricas controladas, con orden.</a:t>
            </a:r>
            <a:endParaRPr sz="1900"/>
          </a:p>
        </p:txBody>
      </p:sp>
      <p:sp>
        <p:nvSpPr>
          <p:cNvPr id="227" name="Google Shape;227;p7"/>
          <p:cNvSpPr/>
          <p:nvPr/>
        </p:nvSpPr>
        <p:spPr>
          <a:xfrm>
            <a:off x="548640" y="3017520"/>
            <a:ext cx="5387187" cy="3429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22959" y="3246120"/>
            <a:ext cx="4838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Comprensión 1 a 5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868680" y="3794759"/>
            <a:ext cx="4747107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tan seguro/a te sientes usando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range()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repetir tareas, donde 1 es "no entendí nada" y 5 es "puedo explicárselo a otro"?</a:t>
            </a:r>
            <a:endParaRPr sz="1900"/>
          </a:p>
        </p:txBody>
      </p:sp>
      <p:sp>
        <p:nvSpPr>
          <p:cNvPr id="230" name="Google Shape;230;p7"/>
          <p:cNvSpPr/>
          <p:nvPr/>
        </p:nvSpPr>
        <p:spPr>
          <a:xfrm>
            <a:off x="6255867" y="3017520"/>
            <a:ext cx="5387187" cy="3429000"/>
          </a:xfrm>
          <a:prstGeom prst="rect">
            <a:avLst/>
          </a:prstGeom>
          <a:solidFill>
            <a:srgbClr val="102A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6530187" y="3246120"/>
            <a:ext cx="4838547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575907" y="3794759"/>
            <a:ext cx="4747107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¿En qué proceso de tu vida diaria u otro ramo el orden al organizar pasos repetidos evitaría errores?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