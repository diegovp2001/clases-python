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109441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5A623"/>
                </a:solidFill>
                <a:latin typeface="Calibri"/>
              </a:rPr>
              <a:t>🎫  Ticket de Salida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Clase 26 — Simulacro Ciclos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60320"/>
            <a:ext cx="11094415" cy="30632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560320"/>
            <a:ext cx="73152" cy="30632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688336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💡  Cómo lo vamos a hacer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154680"/>
            <a:ext cx="10545775" cy="2331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>
                <a:solidFill>
                  <a:srgbClr val="FFFFFF"/>
                </a:solidFill>
                <a:latin typeface="Calibri"/>
              </a:rPr>
              <a:t>1.  Son 3 preguntas. Las vemos </a:t>
            </a:r>
            <a:r>
              <a:rPr b="1" sz="2200">
                <a:solidFill>
                  <a:srgbClr val="FFFFFF"/>
                </a:solidFill>
                <a:latin typeface="Calibri"/>
              </a:rPr>
              <a:t>una por una</a:t>
            </a:r>
            <a:r>
              <a:rPr sz="220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2.  Decide tu respuesta </a:t>
            </a:r>
            <a:r>
              <a:rPr b="1" sz="2200">
                <a:solidFill>
                  <a:srgbClr val="FFFFFF"/>
                </a:solidFill>
                <a:latin typeface="Calibri"/>
              </a:rPr>
              <a:t>en silencio</a:t>
            </a:r>
            <a:r>
              <a:rPr sz="2200">
                <a:solidFill>
                  <a:srgbClr val="FFFFFF"/>
                </a:solidFill>
                <a:latin typeface="Calibri"/>
              </a:rPr>
              <a:t>: no la digas ni la comentes.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3.  Anota la letra que elegiste (</a:t>
            </a:r>
            <a:r>
              <a:rPr b="1" sz="2200">
                <a:solidFill>
                  <a:srgbClr val="FFFFFF"/>
                </a:solidFill>
                <a:latin typeface="Calibri"/>
              </a:rPr>
              <a:t>A</a:t>
            </a:r>
            <a:r>
              <a:rPr sz="2200">
                <a:solidFill>
                  <a:srgbClr val="FFFFFF"/>
                </a:solidFill>
                <a:latin typeface="Calibri"/>
              </a:rPr>
              <a:t>, </a:t>
            </a:r>
            <a:r>
              <a:rPr b="1" sz="2200">
                <a:solidFill>
                  <a:srgbClr val="FFFFFF"/>
                </a:solidFill>
                <a:latin typeface="Calibri"/>
              </a:rPr>
              <a:t>B</a:t>
            </a:r>
            <a:r>
              <a:rPr sz="2200">
                <a:solidFill>
                  <a:srgbClr val="FFFFFF"/>
                </a:solidFill>
                <a:latin typeface="Calibri"/>
              </a:rPr>
              <a:t>, </a:t>
            </a:r>
            <a:r>
              <a:rPr b="1" sz="2200">
                <a:solidFill>
                  <a:srgbClr val="FFFFFF"/>
                </a:solidFill>
                <a:latin typeface="Calibri"/>
              </a:rPr>
              <a:t>C</a:t>
            </a:r>
            <a:r>
              <a:rPr sz="2200">
                <a:solidFill>
                  <a:srgbClr val="FFFFFF"/>
                </a:solidFill>
                <a:latin typeface="Calibri"/>
              </a:rPr>
              <a:t> o </a:t>
            </a:r>
            <a:r>
              <a:rPr b="1" sz="2200">
                <a:solidFill>
                  <a:srgbClr val="FFFFFF"/>
                </a:solidFill>
                <a:latin typeface="Calibri"/>
              </a:rPr>
              <a:t>D</a:t>
            </a:r>
            <a:r>
              <a:rPr sz="2200">
                <a:solidFill>
                  <a:srgbClr val="FFFFFF"/>
                </a:solidFill>
                <a:latin typeface="Calibri"/>
              </a:rPr>
              <a:t>).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4.  Recién al terminar la pregunta 3 completamos el Formulario.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5.  Después de enviarlo, revisamos juntos las respuestas.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43600"/>
            <a:ext cx="1109441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Calibri"/>
              </a:rPr>
              <a:t>Nadie responde el Formulario antes de tiempo: primero te comprometes con tu respuesta.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A623"/>
                </a:solidFill>
                <a:latin typeface="Calibri"/>
              </a:rPr>
              <a:t>🎫  Pregunta 1 de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58216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70432"/>
            <a:ext cx="73152" cy="582168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280160"/>
            <a:ext cx="10637215" cy="39928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¿Qué imprime este programa?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35480"/>
            <a:ext cx="11094415" cy="902207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3548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81784"/>
            <a:ext cx="10820095" cy="6827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for numero in range(2, 10, 2):
    print(numero)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20568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3096768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3093720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2, 4, 6, 8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3020568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97599" y="3096768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9391" y="3093720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2, 4, 6, 8, 10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776472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3852671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849624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2, 3, 4, 5, 6, 7, 8, 9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3007" y="3776472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97599" y="3852671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9391" y="3849624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10, 8, 6, 4, 2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A623"/>
                </a:solidFill>
                <a:latin typeface="Calibri"/>
              </a:rPr>
              <a:t>🎫  Pregunta 2 de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58216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70432"/>
            <a:ext cx="73152" cy="582168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280160"/>
            <a:ext cx="10637215" cy="39928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¿Qué imprime este programa?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35480"/>
            <a:ext cx="11094415" cy="181660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3548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81784"/>
            <a:ext cx="10820095" cy="1597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total = 0
for fila in range(1, 4):
    for columna in range(1, 3):
        total = total + 1
print("Total:", total)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34967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4011167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4008119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Total: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3934967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97599" y="4011167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9391" y="4008119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Total: 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690872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4767072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4764024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Total: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3007" y="4690872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97599" y="4767072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9391" y="4764024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Total: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A623"/>
                </a:solidFill>
                <a:latin typeface="Calibri"/>
              </a:rPr>
              <a:t>🎫  Pregunta 3 de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58216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70432"/>
            <a:ext cx="73152" cy="582168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280160"/>
            <a:ext cx="10637215" cy="39928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¿Qué imprime este programa? ---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35480"/>
            <a:ext cx="11094415" cy="2731007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3548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81784"/>
            <a:ext cx="10820095" cy="2511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numero = 0
while numero &lt; 6:
    numero = numero + 1
    if numero % 2 == 0:
        continue
    if numero == 5:
        break
    print(numero)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849367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4925567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4922520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1, 3, 5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4849367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97599" y="4925567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9391" y="4922520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1, 2, 3, 4, 5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605272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5681472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5678424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1, 3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3007" y="5605272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97599" y="5681472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9391" y="5678424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2C39A"/>
                </a:solidFill>
                <a:latin typeface="Calibri"/>
              </a:rPr>
              <a:t>📝  Ahora sí: completa el Formulario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11094415" cy="109728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11094415" cy="914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solidFill>
                  <a:srgbClr val="4ADFCB"/>
                </a:solidFill>
                <a:latin typeface="Consolas"/>
              </a:rPr>
              <a:t>https://forms.gle/sjRpbgmQzrpkEBsH9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34640"/>
            <a:ext cx="11094415" cy="32461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834640"/>
            <a:ext cx="73152" cy="324612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962656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C39A"/>
                </a:solidFill>
                <a:latin typeface="Calibri"/>
              </a:rPr>
              <a:t>💡  Qué escribir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456432"/>
            <a:ext cx="10545775" cy="2468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b="1" sz="2200">
                <a:solidFill>
                  <a:srgbClr val="FFFFFF"/>
                </a:solidFill>
                <a:latin typeface="Calibri"/>
              </a:rPr>
              <a:t>Nombre:</a:t>
            </a:r>
            <a:r>
              <a:rPr sz="2200">
                <a:solidFill>
                  <a:srgbClr val="FFFFFF"/>
                </a:solidFill>
                <a:latin typeface="Calibri"/>
              </a:rPr>
              <a:t> tu nombre completo.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b="1" sz="2200">
                <a:solidFill>
                  <a:srgbClr val="FFFFFF"/>
                </a:solidFill>
                <a:latin typeface="Calibri"/>
              </a:rPr>
              <a:t>Tema de la clase de hoy:</a:t>
            </a:r>
            <a:r>
              <a:rPr sz="2200">
                <a:solidFill>
                  <a:srgbClr val="FFFFFF"/>
                </a:solidFill>
                <a:latin typeface="Calibri"/>
              </a:rPr>
              <a:t> </a:t>
            </a:r>
            <a:r>
              <a:rPr sz="2100">
                <a:solidFill>
                  <a:srgbClr val="4ADFCB"/>
                </a:solidFill>
                <a:latin typeface="Consolas"/>
              </a:rPr>
              <a:t>N/A — este simulacro no tiene Ticket de Salida vía Google Form con nota asociada al curso, pero sí proyecta 3 preguntas de alternativas con el mismo mecanismo (ver sección 4)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b="1" sz="2200">
                <a:solidFill>
                  <a:srgbClr val="FFFFFF"/>
                </a:solidFill>
                <a:latin typeface="Calibri"/>
              </a:rPr>
              <a:t>Respuestas:</a:t>
            </a:r>
            <a:r>
              <a:rPr sz="2200">
                <a:solidFill>
                  <a:srgbClr val="FFFFFF"/>
                </a:solidFill>
                <a:latin typeface="Calibri"/>
              </a:rPr>
              <a:t> marca la letra que anotaste en cada una de las 3 preguntas.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Envía. Cuando estén todos, revisamos las respuestas juntos.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REVISIÓN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2C39A"/>
                </a:solidFill>
                <a:latin typeface="Calibri"/>
              </a:rPr>
              <a:t>✅  Pregunta 1 — 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>
                <a:solidFill>
                  <a:srgbClr val="CBD5E1"/>
                </a:solidFill>
                <a:latin typeface="Calibri"/>
              </a:rPr>
              <a:t>¿Qué imprime este programa?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1094415" cy="868680"/>
          </a:xfrm>
          <a:prstGeom prst="rect">
            <a:avLst/>
          </a:prstGeom>
          <a:solidFill>
            <a:srgbClr val="102A1C"/>
          </a:solidFill>
          <a:ln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034539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600">
                <a:solidFill>
                  <a:srgbClr val="1A1A2E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65960"/>
            <a:ext cx="9859975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2, 4, 6, 8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11094415" cy="36576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73152" cy="36576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145536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Por qué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639312"/>
            <a:ext cx="10545775" cy="2907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>
                <a:solidFill>
                  <a:srgbClr val="4ADFCB"/>
                </a:solidFill>
                <a:latin typeface="Consolas"/>
              </a:rPr>
              <a:t>range(2, 10, 2)</a:t>
            </a:r>
            <a:r>
              <a:rPr sz="2200">
                <a:solidFill>
                  <a:srgbClr val="FFFFFF"/>
                </a:solidFill>
                <a:latin typeface="Calibri"/>
              </a:rPr>
              <a:t> empieza en 2, avanza de 2 en 2, y se detiene antes de llegar a 10 — el límite superior queda excluido.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REVISIÓN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2C39A"/>
                </a:solidFill>
                <a:latin typeface="Calibri"/>
              </a:rPr>
              <a:t>✅  Pregunta 2 — 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>
                <a:solidFill>
                  <a:srgbClr val="CBD5E1"/>
                </a:solidFill>
                <a:latin typeface="Calibri"/>
              </a:rPr>
              <a:t>¿Qué imprime este programa?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1094415" cy="868680"/>
          </a:xfrm>
          <a:prstGeom prst="rect">
            <a:avLst/>
          </a:prstGeom>
          <a:solidFill>
            <a:srgbClr val="102A1C"/>
          </a:solidFill>
          <a:ln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034539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600">
                <a:solidFill>
                  <a:srgbClr val="1A1A2E"/>
                </a:solidFill>
                <a:latin typeface="Calibr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65960"/>
            <a:ext cx="9859975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Total: 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11094415" cy="36576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73152" cy="36576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145536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Por qué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639312"/>
            <a:ext cx="10545775" cy="2907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>
                <a:solidFill>
                  <a:srgbClr val="FFFFFF"/>
                </a:solidFill>
                <a:latin typeface="Calibri"/>
              </a:rPr>
              <a:t>el ciclo interno se ejecuta 2 veces por cada una de las 3 vueltas del ciclo externo, así que el contador suma 1 un total de 3×2 = 6 veces.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REVISIÓN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2C39A"/>
                </a:solidFill>
                <a:latin typeface="Calibri"/>
              </a:rPr>
              <a:t>✅  Pregunta 3 — 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>
                <a:solidFill>
                  <a:srgbClr val="CBD5E1"/>
                </a:solidFill>
                <a:latin typeface="Calibri"/>
              </a:rPr>
              <a:t>¿Qué imprime este programa? ---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1094415" cy="868680"/>
          </a:xfrm>
          <a:prstGeom prst="rect">
            <a:avLst/>
          </a:prstGeom>
          <a:solidFill>
            <a:srgbClr val="102A1C"/>
          </a:solidFill>
          <a:ln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034539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600">
                <a:solidFill>
                  <a:srgbClr val="1A1A2E"/>
                </a:solidFill>
                <a:latin typeface="Calibri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65960"/>
            <a:ext cx="9859975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1, 3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11094415" cy="36576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73152" cy="36576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145536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Por qué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639312"/>
            <a:ext cx="10545775" cy="2907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>
                <a:solidFill>
                  <a:srgbClr val="4ADFCB"/>
                </a:solidFill>
                <a:latin typeface="Consolas"/>
              </a:rPr>
              <a:t>continue</a:t>
            </a:r>
            <a:r>
              <a:rPr sz="2200">
                <a:solidFill>
                  <a:srgbClr val="FFFFFF"/>
                </a:solidFill>
                <a:latin typeface="Calibri"/>
              </a:rPr>
              <a:t> salta el </a:t>
            </a:r>
            <a:r>
              <a:rPr sz="2100">
                <a:solidFill>
                  <a:srgbClr val="4ADFCB"/>
                </a:solidFill>
                <a:latin typeface="Consolas"/>
              </a:rPr>
              <a:t>print()</a:t>
            </a:r>
            <a:r>
              <a:rPr sz="2200">
                <a:solidFill>
                  <a:srgbClr val="FFFFFF"/>
                </a:solidFill>
                <a:latin typeface="Calibri"/>
              </a:rPr>
              <a:t> de los pares (2 y 4) pero no termina el ciclo; </a:t>
            </a:r>
            <a:r>
              <a:rPr sz="2100">
                <a:solidFill>
                  <a:srgbClr val="4ADFCB"/>
                </a:solidFill>
                <a:latin typeface="Consolas"/>
              </a:rPr>
              <a:t>break</a:t>
            </a:r>
            <a:r>
              <a:rPr sz="2200">
                <a:solidFill>
                  <a:srgbClr val="FFFFFF"/>
                </a:solidFill>
                <a:latin typeface="Calibri"/>
              </a:rPr>
              <a:t> sí lo termina, y ocurre en </a:t>
            </a:r>
            <a:r>
              <a:rPr sz="2100">
                <a:solidFill>
                  <a:srgbClr val="4ADFCB"/>
                </a:solidFill>
                <a:latin typeface="Consolas"/>
              </a:rPr>
              <a:t>numero == 5</a:t>
            </a:r>
            <a:r>
              <a:rPr sz="2200">
                <a:solidFill>
                  <a:srgbClr val="FFFFFF"/>
                </a:solidFill>
                <a:latin typeface="Calibri"/>
              </a:rPr>
              <a:t> antes de llegar a su </a:t>
            </a:r>
            <a:r>
              <a:rPr sz="2100">
                <a:solidFill>
                  <a:srgbClr val="4ADFCB"/>
                </a:solidFill>
                <a:latin typeface="Consolas"/>
              </a:rPr>
              <a:t>print()</a:t>
            </a:r>
            <a:r>
              <a:rPr sz="2200">
                <a:solidFill>
                  <a:srgbClr val="FFFFFF"/>
                </a:solidFill>
                <a:latin typeface="Calibri"/>
              </a:rPr>
              <a:t>, así que el 5 nunca se imprime. Solo se imprimen 1 y 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