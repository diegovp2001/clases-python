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ZmvTBOZZYO8NF29hv8vGyfLwH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07A78A-9ADF-4D24-88E2-78F2EC813575}">
  <a:tblStyle styleId="{DD07A78A-9ADF-4D24-88E2-78F2EC8135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7c44feb4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7c44feb4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7c44feb4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7c44feb4b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685800" y="594360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85800" y="1554480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anidadas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85800" y="2487168"/>
            <a:ext cx="108200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Hoy: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dentro de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dentro de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indentación de dos niveles, variables y operaciones dentro de bloques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cuándo anidar vs. cuándo usar </a:t>
            </a: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3035808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Clase 13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685800" y="3749039"/>
            <a:ext cx="10820095" cy="1920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85800" y="3749039"/>
            <a:ext cx="73152" cy="19202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14400" y="3822191"/>
            <a:ext cx="103628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Mensaje de hoy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914400" y="4251960"/>
            <a:ext cx="10362895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Hoy aprenderás if anidadas — un paso más para que tu código haga cosas reales 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85800" y="274320"/>
            <a:ext cx="108200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&gt;&gt;&gt; Clase 13 - if anidadas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85800" y="914400"/>
            <a:ext cx="4378356" cy="28346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85800" y="914400"/>
            <a:ext cx="73152" cy="28346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914400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Objetivo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417320"/>
            <a:ext cx="4001137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Aplicar sentencias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anidadas en Python para construir programas que tomen decisiones en secuencia — evaluando una condición solo si la anterior se cumplió — con perseverancia.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411627" y="914400"/>
            <a:ext cx="6094267" cy="305687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411628" y="914400"/>
            <a:ext cx="73152" cy="305687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640228" y="10058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Propósito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5640227" y="1410954"/>
            <a:ext cx="5865667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perseverancia es la capacidad de seguir intentando cuando algo no funciona a la primera Esa habilidad te sirve en cualquier proyecto que te importe: aprender algo nuevo, sacar adelante un trabajo en equipo, construir algo tuyo. </a:t>
            </a:r>
            <a:endParaRPr sz="1900"/>
          </a:p>
        </p:txBody>
      </p:sp>
      <p:sp>
        <p:nvSpPr>
          <p:cNvPr id="109" name="Google Shape;109;p2"/>
          <p:cNvSpPr/>
          <p:nvPr/>
        </p:nvSpPr>
        <p:spPr>
          <a:xfrm>
            <a:off x="685800" y="4245594"/>
            <a:ext cx="10820095" cy="233808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85800" y="4245594"/>
            <a:ext cx="73152" cy="233808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4307039"/>
            <a:ext cx="1036289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☝ Reglas de ahora en adelante</a:t>
            </a:r>
            <a:endParaRPr b="1" i="0" sz="1800" u="none" cap="none" strike="noStrike">
              <a:solidFill>
                <a:srgbClr val="02C39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914400" y="4718519"/>
            <a:ext cx="10362895" cy="177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🦻 No ocupen audífonos.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📓 Todo comando nuevo va al cuaderno.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🚫 NO hagan copiar-pegar de los comandos.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✨ En toda evaluación podrán usar sus apuntes.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13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Haz Ahora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48640" y="566928"/>
            <a:ext cx="11094415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⚡ Haz Ahora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548650" y="1106421"/>
            <a:ext cx="11094300" cy="2655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 flipH="1">
            <a:off x="621634" y="1115571"/>
            <a:ext cx="73500" cy="264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49808" y="1252728"/>
            <a:ext cx="10820095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Actividad (papel o chat del Colab): 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sala de videojuegos tiene esta regla: solo abre los fines de semana, y solo puedes entrar si eres socio. </a:t>
            </a:r>
            <a:endParaRPr b="0" i="0" sz="2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 escribir código, describe en orden los pasos que seguirías para decidir si alguien puede entrar. ¿Cuántas preguntas necesitas hacer, y en qué orden importa?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13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1. if anidado básico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48640" y="1508760"/>
            <a:ext cx="11094415" cy="1328806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548640" y="1508760"/>
            <a:ext cx="73152" cy="1328806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777240" y="1901951"/>
            <a:ext cx="10728655" cy="844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anidado es 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vive dentro del bloque de otro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La condición interior solo se evalúa si la exterior ya resultó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548640" y="3002158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548640" y="3349630"/>
            <a:ext cx="11094415" cy="23101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548640" y="334963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731520" y="3486790"/>
            <a:ext cx="10820095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sala_abierta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dinero_billetera = 3000</a:t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sala_abierta ==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if dinero_billetera &gt;= 1000: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print("Puedes entrar a jugar.")</a:t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548640" y="5824362"/>
            <a:ext cx="11094415" cy="759317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48640" y="5824362"/>
            <a:ext cx="73152" cy="759317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777240" y="5897514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Idea clave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777240" y="6217554"/>
            <a:ext cx="10728655" cy="3204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segunda condición no existe para el programa si la primera falla.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13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Contenido nuevo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📘 2. else en cada nivel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48640" y="1508760"/>
            <a:ext cx="11094415" cy="11047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548640" y="1508760"/>
            <a:ext cx="73152" cy="1006671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777240" y="1542348"/>
            <a:ext cx="10728655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777240" y="1844099"/>
            <a:ext cx="10865815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nivel de anidamiento puede tener su propio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lo que permite cubrir todos los caminos posibles de la decisión.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48640" y="2680023"/>
            <a:ext cx="4572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48640" y="3027495"/>
            <a:ext cx="11094415" cy="339645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8640" y="3027495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731520" y="3164655"/>
            <a:ext cx="10820095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sala_abierta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sala_abierta ==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if dinero_billetera &gt;= 1000: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3000-1000</a:t>
            </a:r>
            <a:endParaRPr b="0" sz="1800">
              <a:solidFill>
                <a:srgbClr val="FFC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print("Puedes entrar a jugar, te quedan: "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print("La sala está abierta, pero necesitas $1000.")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else: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print("La sala está cerrada en este momento.")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c44feb4b_0_3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f7c44feb4b_0_30"/>
          <p:cNvSpPr txBox="1"/>
          <p:nvPr/>
        </p:nvSpPr>
        <p:spPr>
          <a:xfrm>
            <a:off x="548640" y="268002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69" name="Google Shape;169;g3f7c44feb4b_0_30"/>
          <p:cNvSpPr/>
          <p:nvPr/>
        </p:nvSpPr>
        <p:spPr>
          <a:xfrm>
            <a:off x="548640" y="3027495"/>
            <a:ext cx="11094300" cy="3396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7c44feb4b_0_30"/>
          <p:cNvSpPr/>
          <p:nvPr/>
        </p:nvSpPr>
        <p:spPr>
          <a:xfrm>
            <a:off x="548640" y="3027495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f7c44feb4b_0_30"/>
          <p:cNvSpPr txBox="1"/>
          <p:nvPr/>
        </p:nvSpPr>
        <p:spPr>
          <a:xfrm>
            <a:off x="731520" y="3164655"/>
            <a:ext cx="10820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sala_abierta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if sala_abierta ==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if dinero_billetera &gt;= 1000: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3000-1000</a:t>
            </a:r>
            <a:endParaRPr b="0" sz="1800">
              <a:solidFill>
                <a:srgbClr val="FFC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print("Puedes entrar a jugar, te quedan: "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endParaRPr/>
          </a:p>
        </p:txBody>
      </p:sp>
      <p:sp>
        <p:nvSpPr>
          <p:cNvPr id="172" name="Google Shape;172;g3f7c44feb4b_0_30"/>
          <p:cNvSpPr/>
          <p:nvPr/>
        </p:nvSpPr>
        <p:spPr>
          <a:xfrm>
            <a:off x="548590" y="58685"/>
            <a:ext cx="11094300" cy="13287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f7c44feb4b_0_30"/>
          <p:cNvSpPr/>
          <p:nvPr/>
        </p:nvSpPr>
        <p:spPr>
          <a:xfrm>
            <a:off x="548590" y="58685"/>
            <a:ext cx="73200" cy="13287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f7c44feb4b_0_30"/>
          <p:cNvSpPr txBox="1"/>
          <p:nvPr/>
        </p:nvSpPr>
        <p:spPr>
          <a:xfrm>
            <a:off x="777190" y="150125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75" name="Google Shape;175;g3f7c44feb4b_0_30"/>
          <p:cNvSpPr txBox="1"/>
          <p:nvPr/>
        </p:nvSpPr>
        <p:spPr>
          <a:xfrm>
            <a:off x="777190" y="451876"/>
            <a:ext cx="10728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anidado es 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vive dentro del bloque de otro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La condición interior solo se evalúa si la exterior ya resultó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Además no olviden que se pueden 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agregar </a:t>
            </a:r>
            <a:r>
              <a:rPr lang="en-US" sz="22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cálculos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c44feb4b_0_4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7c44feb4b_0_46"/>
          <p:cNvSpPr/>
          <p:nvPr/>
        </p:nvSpPr>
        <p:spPr>
          <a:xfrm>
            <a:off x="548640" y="1508760"/>
            <a:ext cx="11094300" cy="11049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f7c44feb4b_0_46"/>
          <p:cNvSpPr/>
          <p:nvPr/>
        </p:nvSpPr>
        <p:spPr>
          <a:xfrm>
            <a:off x="548640" y="1508760"/>
            <a:ext cx="73200" cy="10068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f7c44feb4b_0_46"/>
          <p:cNvSpPr txBox="1"/>
          <p:nvPr/>
        </p:nvSpPr>
        <p:spPr>
          <a:xfrm>
            <a:off x="777240" y="1542348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Importante</a:t>
            </a:r>
            <a:endParaRPr/>
          </a:p>
        </p:txBody>
      </p:sp>
      <p:sp>
        <p:nvSpPr>
          <p:cNvPr id="184" name="Google Shape;184;g3f7c44feb4b_0_46"/>
          <p:cNvSpPr txBox="1"/>
          <p:nvPr/>
        </p:nvSpPr>
        <p:spPr>
          <a:xfrm>
            <a:off x="777240" y="1844099"/>
            <a:ext cx="10865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Cada nivel de anidamiento puede tener su propio </a:t>
            </a:r>
            <a:r>
              <a:rPr b="0" lang="en-US" sz="22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 que permite cubrir todos los caminos posibles de la decisión.</a:t>
            </a:r>
            <a:endParaRPr/>
          </a:p>
        </p:txBody>
      </p:sp>
      <p:sp>
        <p:nvSpPr>
          <p:cNvPr id="185" name="Google Shape;185;g3f7c44feb4b_0_46"/>
          <p:cNvSpPr txBox="1"/>
          <p:nvPr/>
        </p:nvSpPr>
        <p:spPr>
          <a:xfrm>
            <a:off x="548640" y="268002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💻  Ejemplo</a:t>
            </a:r>
            <a:endParaRPr/>
          </a:p>
        </p:txBody>
      </p:sp>
      <p:sp>
        <p:nvSpPr>
          <p:cNvPr id="186" name="Google Shape;186;g3f7c44feb4b_0_46"/>
          <p:cNvSpPr/>
          <p:nvPr/>
        </p:nvSpPr>
        <p:spPr>
          <a:xfrm>
            <a:off x="548640" y="3027495"/>
            <a:ext cx="11094300" cy="33966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7c44feb4b_0_46"/>
          <p:cNvSpPr/>
          <p:nvPr/>
        </p:nvSpPr>
        <p:spPr>
          <a:xfrm>
            <a:off x="548640" y="3027495"/>
            <a:ext cx="11094300" cy="915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f7c44feb4b_0_46"/>
          <p:cNvSpPr txBox="1"/>
          <p:nvPr/>
        </p:nvSpPr>
        <p:spPr>
          <a:xfrm>
            <a:off x="731520" y="3164655"/>
            <a:ext cx="10820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sala_abierta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lang="en-US" sz="1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sala_abierta == True: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dinero_billetera &gt;= 1000:</a:t>
            </a:r>
            <a:endParaRPr b="0" sz="1800">
              <a:solidFill>
                <a:srgbClr val="4ADFCB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 = 3000-1000</a:t>
            </a:r>
            <a:endParaRPr b="0" sz="1800">
              <a:solidFill>
                <a:srgbClr val="FFC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print("Puedes entrar a jugar, te quedan: "</a:t>
            </a:r>
            <a:r>
              <a:rPr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dinero_billetera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0"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  print("La sala está abierta, pero necesitas $1000.")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0" lang="en-US" sz="18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print("La sala está cerrada en este momento.")</a:t>
            </a:r>
            <a:endParaRPr/>
          </a:p>
        </p:txBody>
      </p:sp>
      <p:sp>
        <p:nvSpPr>
          <p:cNvPr id="189" name="Google Shape;189;g3f7c44feb4b_0_46"/>
          <p:cNvSpPr/>
          <p:nvPr/>
        </p:nvSpPr>
        <p:spPr>
          <a:xfrm>
            <a:off x="548590" y="58685"/>
            <a:ext cx="11094300" cy="13287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7c44feb4b_0_46"/>
          <p:cNvSpPr/>
          <p:nvPr/>
        </p:nvSpPr>
        <p:spPr>
          <a:xfrm>
            <a:off x="548590" y="58685"/>
            <a:ext cx="73200" cy="13287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7c44feb4b_0_46"/>
          <p:cNvSpPr txBox="1"/>
          <p:nvPr/>
        </p:nvSpPr>
        <p:spPr>
          <a:xfrm>
            <a:off x="777190" y="150125"/>
            <a:ext cx="1072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📘  Definición</a:t>
            </a:r>
            <a:endParaRPr/>
          </a:p>
        </p:txBody>
      </p:sp>
      <p:sp>
        <p:nvSpPr>
          <p:cNvPr id="192" name="Google Shape;192;g3f7c44feb4b_0_46"/>
          <p:cNvSpPr txBox="1"/>
          <p:nvPr/>
        </p:nvSpPr>
        <p:spPr>
          <a:xfrm>
            <a:off x="777190" y="451876"/>
            <a:ext cx="10728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anidado es un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que vive dentro del bloque de otro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La condición interior solo se evalúa si la exterior ya resultó </a:t>
            </a:r>
            <a:r>
              <a:rPr b="0" i="0" lang="en-US" sz="2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 Además no olviden que se pueden </a:t>
            </a:r>
            <a:r>
              <a:rPr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agregar </a:t>
            </a:r>
            <a:r>
              <a:rPr lang="en-US" sz="220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cálculos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13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F9B8E"/>
                </a:solidFill>
                <a:latin typeface="Consolas"/>
                <a:ea typeface="Consolas"/>
                <a:cs typeface="Consolas"/>
                <a:sym typeface="Consolas"/>
              </a:rPr>
              <a:t>Errores típicos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⚠️ Errores típicos a evitar</a:t>
            </a:r>
            <a:endParaRPr/>
          </a:p>
        </p:txBody>
      </p:sp>
      <p:graphicFrame>
        <p:nvGraphicFramePr>
          <p:cNvPr id="202" name="Google Shape;202;p6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{DD07A78A-9ADF-4D24-88E2-78F2EC813575}</a:tableStyleId>
              </a:tblPr>
              <a:tblGrid>
                <a:gridCol w="3200400"/>
                <a:gridCol w="4114800"/>
                <a:gridCol w="3779225"/>
              </a:tblGrid>
              <a:tr h="102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ocurre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Cómo corregirlo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0F162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Segundo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al mismo nivel que el primero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 evalúan como independientes, no anidados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Verificar que 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interior tenga 4 espacios más que el exterior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Olvidar 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del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exterior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 la primera condición falla, el programa no dice nada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Agregar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else</a:t>
                      </a: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para cubrir ese camino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Anidar cuando basta con </a:t>
                      </a:r>
                      <a:r>
                        <a:rPr lang="en-US" sz="1600" u="none" cap="none" strike="noStrike">
                          <a:solidFill>
                            <a:srgbClr val="4ADFC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Código más largo sin necesidad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Preguntar: "¿La segunda condición depende de la primera, o se pueden verificar juntas?"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1F2944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6"/>
          <p:cNvSpPr/>
          <p:nvPr/>
        </p:nvSpPr>
        <p:spPr>
          <a:xfrm>
            <a:off x="548640" y="5943600"/>
            <a:ext cx="11094415" cy="6400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48640" y="5943600"/>
            <a:ext cx="73152" cy="64008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731520" y="5989320"/>
            <a:ext cx="108200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 Si te aparece uno de estos errores, vuelve a esta tabla antes de pedir ayuda.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