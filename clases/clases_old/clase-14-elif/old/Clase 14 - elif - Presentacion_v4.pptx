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0" b="1">
                <a:solidFill>
                  <a:srgbClr val="0F9B8E"/>
                </a:solidFill>
                <a:latin typeface="Consolas"/>
              </a:rPr>
              <a:t>&gt;&gt;&gt;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elif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Hoy: </a:t>
            </a:r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94A3B8"/>
                </a:solidFill>
                <a:latin typeface="Calibri"/>
              </a:rPr>
              <a:t>, encadenamiento de condiciones alternativas, orden de evaluación, condiciones mutuamente excluyentes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9B8E"/>
                </a:solidFill>
                <a:latin typeface="Calibri"/>
              </a:rPr>
              <a:t>Clase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Mensaje de 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Hoy aprenderás elif — un paso más para que tu código haga cosas reales 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9B8E"/>
                </a:solidFill>
                <a:latin typeface="Consolas"/>
              </a:rPr>
              <a:t>&gt;&gt;&gt; Clase 14 - elif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Aplicar la sentencia </a:t>
            </a:r>
            <a:r>
              <a:rPr sz="2200" b="0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>
                <a:solidFill>
                  <a:srgbClr val="FFFFFF"/>
                </a:solidFill>
                <a:latin typeface="Calibri"/>
              </a:rPr>
              <a:t> en Python para construir programas que clasifiquen entre múltiples condiciones mutuamente excluyentes, con orden al definir los caminos posibles antes de escribir código.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Propósito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El orden es la capacidad de pensar los caminos posibles antes de ponerse a escribir — organizarlos de mayor a menor urgencia, de forma que no se pisen entre sí. Hoy la vas a ejercitar diseñando con </a:t>
            </a:r>
            <a:r>
              <a:rPr sz="2200" b="0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>
                <a:solidFill>
                  <a:srgbClr val="FFFFFF"/>
                </a:solidFill>
                <a:latin typeface="Calibri"/>
              </a:rPr>
              <a:t> un sistema que le dice a tu curso qué actividad organizar para juntar plata, según cuánto llevan en el fondo común.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☝ Reglas de ahora en adelante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🦻 No ocupen audífonos.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📓 Todo comando nuevo va al cuaderno.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🚫 NO hagan copiar-pegar de los comandos.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✨ En toda evaluación podrán usar sus apuntes.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Haz 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⚡ Haz Ahora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11094415" cy="7315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7315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97864"/>
            <a:ext cx="1082009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Hace algunos años, cursos que ya hicieron el viaje de estudio aprendieron por experiencia qué actividad funciona mejor según cuánto lleva el fondo. Con ese aprendizaje acumulado, crearon esta tabla: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56816"/>
          <a:ext cx="11094415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815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Si el fondo lleva…</a:t>
                      </a:r>
                    </a:p>
                  </a:txBody>
                  <a:tcPr marL="91440" marR="91440" marT="45720" marB="45720">
                    <a:solidFill>
                      <a:srgbClr val="0D2B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La actividad recomendada es…</a:t>
                      </a:r>
                    </a:p>
                  </a:txBody>
                  <a:tcPr marL="91440" marR="91440" marT="45720" marB="45720">
                    <a:solidFill>
                      <a:srgbClr val="0D2B3E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Menos de $250.000</a:t>
                      </a:r>
                    </a:p>
                  </a:txBody>
                  <a:tcPr marL="91440" marR="91440" marT="45720" marB="45720">
                    <a:solidFill>
                      <a:srgbClr val="1222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Bingo</a:t>
                      </a:r>
                    </a:p>
                  </a:txBody>
                  <a:tcPr marL="91440" marR="91440" marT="45720" marB="45720">
                    <a:solidFill>
                      <a:srgbClr val="122232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Entre $250.000 y $499.999</a:t>
                      </a:r>
                    </a:p>
                  </a:txBody>
                  <a:tcPr marL="91440" marR="91440" marT="45720" marB="45720">
                    <a:solidFill>
                      <a:srgbClr val="0A1A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Rifa</a:t>
                      </a:r>
                    </a:p>
                  </a:txBody>
                  <a:tcPr marL="91440" marR="91440" marT="45720" marB="45720">
                    <a:solidFill>
                      <a:srgbClr val="0A1A28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Entre $500.000 y $749.999</a:t>
                      </a:r>
                    </a:p>
                  </a:txBody>
                  <a:tcPr marL="91440" marR="91440" marT="45720" marB="45720">
                    <a:solidFill>
                      <a:srgbClr val="1222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Feria en el liceo</a:t>
                      </a:r>
                    </a:p>
                  </a:txBody>
                  <a:tcPr marL="91440" marR="91440" marT="45720" marB="45720">
                    <a:solidFill>
                      <a:srgbClr val="122232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Entre $750.000 y $999.999</a:t>
                      </a:r>
                    </a:p>
                  </a:txBody>
                  <a:tcPr marL="91440" marR="91440" marT="45720" marB="45720">
                    <a:solidFill>
                      <a:srgbClr val="0A1A2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Vender colaciones en recreos</a:t>
                      </a:r>
                    </a:p>
                  </a:txBody>
                  <a:tcPr marL="91440" marR="91440" marT="45720" marB="45720">
                    <a:solidFill>
                      <a:srgbClr val="0A1A28"/>
                    </a:solidFill>
                  </a:tcPr>
                </a:tc>
              </a:tr>
              <a:tr h="48158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$1.000.000 o más</a:t>
                      </a:r>
                    </a:p>
                  </a:txBody>
                  <a:tcPr marL="91440" marR="91440" marT="45720" marB="45720">
                    <a:solidFill>
                      <a:srgbClr val="1222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</a:rPr>
                        <a:t>¡Meta cumplida!</a:t>
                      </a:r>
                    </a:p>
                  </a:txBody>
                  <a:tcPr marL="91440" marR="91440" marT="45720" marB="45720">
                    <a:solidFill>
                      <a:srgbClr val="12223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956048"/>
            <a:ext cx="11094415" cy="1645919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956048"/>
            <a:ext cx="73152" cy="1645919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093208"/>
            <a:ext cx="10820095" cy="1444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Responde en tu cuaderno: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1. El fondo lleva $380.000 — ¿qué actividad harían?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2. El fondo lleva $720.000 — ¿cambia la actividad?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3. El fondo lleva $50.000 — ¿qué harían ahora?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4. El fondo lleva $1.020.000 — ¿qué dice el sistema?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5. En tus propias palabras, escribe la regla de decisión que seguirías para elegir la actividad correcta según el monto del fondo.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Sintaxis de `elif`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41089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41089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9262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FFFFFF"/>
                </a:solidFill>
                <a:latin typeface="Calibri"/>
              </a:rPr>
              <a:t> es una condición alternativa que se evalúa solo si las condiciones anteriores resultaron </a:t>
            </a:r>
            <a:r>
              <a:rPr sz="20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000" b="0">
                <a:solidFill>
                  <a:srgbClr val="FFFFFF"/>
                </a:solidFill>
                <a:latin typeface="Calibri"/>
              </a:rPr>
              <a:t>. Se puede encadenar tantos </a:t>
            </a:r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FFFFFF"/>
                </a:solidFill>
                <a:latin typeface="Calibri"/>
              </a:rPr>
              <a:t> como sean necesarios, y al final se agrega un </a:t>
            </a:r>
            <a:r>
              <a:rPr sz="2000" b="0">
                <a:solidFill>
                  <a:srgbClr val="4ADFCB"/>
                </a:solidFill>
                <a:latin typeface="Consolas"/>
              </a:rPr>
              <a:t>else</a:t>
            </a:r>
            <a:r>
              <a:rPr sz="2000" b="0">
                <a:solidFill>
                  <a:srgbClr val="FFFFFF"/>
                </a:solidFill>
                <a:latin typeface="Calibri"/>
              </a:rPr>
              <a:t> para cubrir todos los casos restantes.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424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31718"/>
            <a:ext cx="11094415" cy="2474316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3171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8878"/>
            <a:ext cx="10820095" cy="2245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temperatura = 25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/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if temperatura &lt; 10: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print("Frío — lleva abrigo.")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elif temperatura &lt; 20: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print("Fresco — una chaqueta basta.")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elif temperatura &lt; 30: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print("Cálido — manga corta.")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else: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print("Caliente — usa protector solar.")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70627"/>
            <a:ext cx="11094415" cy="51305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6070627"/>
            <a:ext cx="73152" cy="5130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143779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63819"/>
            <a:ext cx="10728655" cy="74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>
                <a:solidFill>
                  <a:srgbClr val="FFFFFF"/>
                </a:solidFill>
                <a:latin typeface="Calibri"/>
              </a:rPr>
              <a:t> reemplaza la pirámide de </a:t>
            </a:r>
            <a:r>
              <a:rPr sz="2200" b="0">
                <a:solidFill>
                  <a:srgbClr val="4ADFCB"/>
                </a:solidFill>
                <a:latin typeface="Consolas"/>
              </a:rPr>
              <a:t>if</a:t>
            </a:r>
            <a:r>
              <a:rPr sz="2200" b="0">
                <a:solidFill>
                  <a:srgbClr val="FFFFFF"/>
                </a:solidFill>
                <a:latin typeface="Calibri"/>
              </a:rPr>
              <a:t> anidados cuando las condiciones son excluyentes — cada rama cubre un rango distinto.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Solo una rama se ejecuta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41089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41089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9262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Python evalúa las condiciones en orden, de arriba hacia abajo. En cuanto encuentra la primera que resulta </a:t>
            </a:r>
            <a:r>
              <a:rPr sz="2000" b="0">
                <a:solidFill>
                  <a:srgbClr val="4ADFCB"/>
                </a:solidFill>
                <a:latin typeface="Consolas"/>
              </a:rPr>
              <a:t>True</a:t>
            </a:r>
            <a:r>
              <a:rPr sz="2000" b="0">
                <a:solidFill>
                  <a:srgbClr val="FFFFFF"/>
                </a:solidFill>
                <a:latin typeface="Calibri"/>
              </a:rPr>
              <a:t>, ejecuta ese bloque y salta todo lo que viene después — aunque otras condiciones también sean </a:t>
            </a:r>
            <a:r>
              <a:rPr sz="2000" b="0">
                <a:solidFill>
                  <a:srgbClr val="4ADFCB"/>
                </a:solidFill>
                <a:latin typeface="Consolas"/>
              </a:rPr>
              <a:t>True</a:t>
            </a:r>
            <a:r>
              <a:rPr sz="20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8424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31718"/>
            <a:ext cx="11094415" cy="2474316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3171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8878"/>
            <a:ext cx="10820095" cy="2245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temperatura = 25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/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if temperatura &lt; 10: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print("Frío.")       # False — se salta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elif temperatura &lt; 20: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print("Fresco.")     # False — se salta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elif temperatura &lt; 30: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print("Cálido.")     # True — EJECUTA ESTO y para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else: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print("Caliente.")   # no llega acá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70627"/>
            <a:ext cx="11094415" cy="51305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6070627"/>
            <a:ext cx="73152" cy="5130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143779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63819"/>
            <a:ext cx="10728655" cy="74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Aunque </a:t>
            </a:r>
            <a:r>
              <a:rPr sz="2200" b="0">
                <a:solidFill>
                  <a:srgbClr val="4ADFCB"/>
                </a:solidFill>
                <a:latin typeface="Consolas"/>
              </a:rPr>
              <a:t>temperatura = 25</a:t>
            </a:r>
            <a:r>
              <a:rPr sz="2200" b="0">
                <a:solidFill>
                  <a:srgbClr val="FFFFFF"/>
                </a:solidFill>
                <a:latin typeface="Calibri"/>
              </a:rPr>
              <a:t> también cumple </a:t>
            </a:r>
            <a:r>
              <a:rPr sz="2200" b="0">
                <a:solidFill>
                  <a:srgbClr val="4ADFCB"/>
                </a:solidFill>
                <a:latin typeface="Consolas"/>
              </a:rPr>
              <a:t>temperatura &lt; 30</a:t>
            </a:r>
            <a:r>
              <a:rPr sz="2200" b="0">
                <a:solidFill>
                  <a:srgbClr val="FFFFFF"/>
                </a:solidFill>
                <a:latin typeface="Calibri"/>
              </a:rPr>
              <a:t>, Python ya entró al primer </a:t>
            </a:r>
            <a:r>
              <a:rPr sz="2200" b="0">
                <a:solidFill>
                  <a:srgbClr val="4ADFCB"/>
                </a:solidFill>
                <a:latin typeface="Consolas"/>
              </a:rPr>
              <a:t>elif</a:t>
            </a:r>
            <a:r>
              <a:rPr sz="2200" b="0">
                <a:solidFill>
                  <a:srgbClr val="FFFFFF"/>
                </a:solidFill>
                <a:latin typeface="Calibri"/>
              </a:rPr>
              <a:t> verdadero y no sigue evaluando.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El orden de las condiciones importa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147281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472814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9881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Si una condición más amplia aparece antes que una más específica, la específica nunca se alcanza. Las condiciones deben ir ordenadas de forma que cada rango quede bien delimitado.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4616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93638"/>
            <a:ext cx="11094415" cy="2270865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93638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30798"/>
            <a:ext cx="10820095" cy="20422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# ⚠️ Orden incorrecto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temperatura = 5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/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if temperatura &lt; 30:    # demasiado amplia — captura casi todo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print("Cálido.")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elif temperatura &lt; 10:  # nunca llega acá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      print("Frío.")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929095"/>
            <a:ext cx="11094415" cy="6545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929095"/>
            <a:ext cx="73152" cy="6545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002247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Idea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2287"/>
            <a:ext cx="10728655" cy="215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Ordena siempre de lo más específico a lo más general — o de menor a mayor (o mayor a menor), de forma consistente.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📘 Conceptos 1–3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15568"/>
            <a:ext cx="5212080" cy="54864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152" cy="54864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298448"/>
            <a:ext cx="4919472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📘 1. Sintaxis de </a:t>
            </a:r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FFFFFF"/>
                </a:solidFill>
                <a:latin typeface="Calibri"/>
              </a:rPr>
              <a:t>
    </a:t>
            </a:r>
            <a:r>
              <a:rPr sz="2000" b="0">
                <a:solidFill>
                  <a:srgbClr val="4ADFCB"/>
                </a:solidFill>
                <a:latin typeface="Consolas"/>
              </a:rPr>
              <a:t>elif</a:t>
            </a:r>
            <a:r>
              <a:rPr sz="2000" b="0">
                <a:solidFill>
                  <a:srgbClr val="FFFFFF"/>
                </a:solidFill>
                <a:latin typeface="Calibri"/>
              </a:rPr>
              <a:t> es una condición alternativa que se evalúa solo si las condiciones anteriores resultaron </a:t>
            </a:r>
            <a:r>
              <a:rPr sz="20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000" b="0">
                <a:solidFill>
                  <a:srgbClr val="FFFFFF"/>
                </a:solidFill>
                <a:latin typeface="Calibri"/>
              </a:rPr>
              <a:t>.
📘 2. Solo una rama se ejecuta
    Python evalúa las condiciones en orden, de arriba hacia abajo.
📘 3. El orden de las condiciones importa
    Si una condición más amplia aparece antes que una más específica, la específica nunca se alcanza.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115568"/>
            <a:ext cx="5681167" cy="54864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61888" y="1115568"/>
            <a:ext cx="5681167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298448"/>
            <a:ext cx="5425135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temperatura = 25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if temperatura &lt; 10: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    print("Frío — lleva abrigo.")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elif temperatura &lt; 20: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    print("Fresco — una chaqueta basta.")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elif temperatura &lt; 30: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    print("Cálido — manga corta.")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else: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    print("Caliente — usa protector solar.")</a:t>
            </a:r>
          </a:p>
          <a:p>
            <a:pPr algn="l"/>
            <a:r>
              <a:rPr sz="1300" b="0">
                <a:solidFill>
                  <a:srgbClr val="4ADFCB"/>
                </a:solidFill>
                <a:latin typeface="Consolas"/>
              </a:rPr>
              <a:t>  &gt;&gt; Cálido — manga corta.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Errores típicos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⚠️ Errores típicos a evitar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779215"/>
              </a:tblGrid>
              <a:tr h="1028700"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corregirlo</a:t>
                      </a:r>
                    </a:p>
                  </a:txBody>
                  <a:tcPr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Primera condición demasiado amplia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Todos los valores entran al primer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y nunca llegan al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Ordenar las condiciones de menor a mayor (o mayor a menor) de forma consistente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después de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SyntaxError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— Python no acepta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después del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siempre va al final, después de todos los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elif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Olvidar el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final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Si ninguna condición se cumple, el programa no imprime nada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 algn="l"/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Agregar un </a:t>
                      </a:r>
                      <a:r>
                        <a:rPr sz="1600">
                          <a:solidFill>
                            <a:srgbClr val="4ADFCB"/>
                          </a:solidFill>
                          <a:latin typeface="Consolas"/>
                        </a:rPr>
                        <a:t>else</a:t>
                      </a: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</a:rPr>
                        <a:t> que cubra todos los casos restantes</a:t>
                      </a:r>
                    </a:p>
                  </a:txBody>
                  <a:tcPr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💡 Si te aparece uno de estos errores, vuelve a esta tabla antes de pedir ayuda.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