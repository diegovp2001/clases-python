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20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</a:t>
            </a:r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94A3B8"/>
                </a:solidFill>
                <a:latin typeface="Calibri"/>
              </a:rPr>
              <a:t>, encadenamiento de condiciones alternativas, orden de evaluación, condiciones mutuamente excluyentes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Hoy aprenderás elif — un paso más para que tu código haga cosas reales 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14 - elif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4502552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502552" cy="224028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Aplicar la sentencia </a:t>
            </a:r>
            <a:r>
              <a:rPr sz="2200" b="0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>
                <a:solidFill>
                  <a:srgbClr val="FFFFFF"/>
                </a:solidFill>
                <a:latin typeface="Calibri"/>
              </a:rPr>
              <a:t> en Python para construir programas que clasifiquen entre múltiples condiciones mutuamente excluyentes, con orden al definir los caminos posibles antes de escribir código.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3799" y="914400"/>
            <a:ext cx="6162095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4380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2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400" y="1417320"/>
            <a:ext cx="5933494" cy="233172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El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orden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la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capacidad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pensar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caminos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posibles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antes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ponerse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escribir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organizarlos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de mayor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menor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urgencia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de forma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no se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pisen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entre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sí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Hoy la vas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ejercitar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diseñando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un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sistema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le dice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tu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curso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organizar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juntar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plata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según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cuánto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llevan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común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2C39A"/>
                </a:solidFill>
                <a:latin typeface="Calibri"/>
              </a:rPr>
              <a:t>☝ Reglas de </a:t>
            </a:r>
            <a:r>
              <a:rPr sz="1800" b="1" dirty="0" err="1">
                <a:solidFill>
                  <a:srgbClr val="02C39A"/>
                </a:solidFill>
                <a:latin typeface="Calibri"/>
              </a:rPr>
              <a:t>ahora</a:t>
            </a:r>
            <a:r>
              <a:rPr sz="1800" b="1" dirty="0">
                <a:solidFill>
                  <a:srgbClr val="02C39A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2C39A"/>
                </a:solidFill>
                <a:latin typeface="Calibri"/>
              </a:rPr>
              <a:t>en</a:t>
            </a:r>
            <a:r>
              <a:rPr sz="1800" b="1" dirty="0">
                <a:solidFill>
                  <a:srgbClr val="02C39A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2C39A"/>
                </a:solidFill>
                <a:latin typeface="Calibri"/>
              </a:rPr>
              <a:t>adelante</a:t>
            </a:r>
            <a:endParaRPr sz="1800" b="1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🦻 No ocupen audífonos.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259689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25968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10820095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(6 min) Propósito: Activar la intuición de múltiples caminos excluyentes en lenguaje natural — la "regla implícita" que los estudiantes ya conocen por experiencia, sin revelar </a:t>
            </a:r>
            <a:r>
              <a:rPr sz="1700" b="0">
                <a:solidFill>
                  <a:srgbClr val="4ADFCB"/>
                </a:solidFill>
                <a:latin typeface="Consolas"/>
              </a:rPr>
              <a:t>elif</a:t>
            </a:r>
            <a:r>
              <a:rPr sz="1700" b="0">
                <a:solidFill>
                  <a:srgbClr val="CBD5E1"/>
                </a:solidFill>
                <a:latin typeface="Calibri"/>
              </a:rPr>
              <a:t> ni ninguna sintaxis nueva. Actividad: Hace algunos años, cursos que ya hicieron el viaje de estudio aprendieron por experiencia qué actividad funciona mejor según cuánto lleva el fondo. Con ese aprendizaje acumulado, crearon esta tabla: | Si el fondo lleva… | La actividad recomendada es… | |---|---| | Menos de $250.000 | Bingo | | Entre $250.000 y $499.999 | Rifa | | Entre $500.000 y $749.999 | Feria en el liceo | | Entre $750.000 y $999.999 | Vender colaciones en recreos | | $1.000.000 o más | ¡Meta cumplida! | Responde en tu cuaderno: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22191"/>
            <a:ext cx="11094415" cy="223113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822191"/>
            <a:ext cx="73152" cy="223113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959352"/>
            <a:ext cx="10820095" cy="202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1. El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$380.000 — ¿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harían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2. El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$720.000 — ¿cambia la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3. El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$50.000 — ¿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harían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ahora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4. El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$1.020.000 — ¿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dice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sistema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5. En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tus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propias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palabras, escribe la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regla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decisión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seguirías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elegir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correcta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según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monto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del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1. Rifa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2. Vender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colaciones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recreos</a:t>
            </a:r>
            <a:endParaRPr sz="18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3. Bingo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4. ¡Meta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cumplida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!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5. Respuesta libre.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Ejemplo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: "Si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menos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de $250.000,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organizo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un bingo. Si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entre $250.000 y $499.999,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rifa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. Si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entre $500.000 y $749.999,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feria. Si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entre $750.000 y $999.999,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vendo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colaciones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. Si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ya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llegué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a $1.000.000, no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necesito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nada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más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63056"/>
            <a:ext cx="11094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→ Respuestas esperadas: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Sintaxis de `elif`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41089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41089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9262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FFFFFF"/>
                </a:solidFill>
                <a:latin typeface="Calibri"/>
              </a:rPr>
              <a:t> es una condición alternativa que se evalúa solo si las condiciones anteriores resultaron </a:t>
            </a:r>
            <a:r>
              <a:rPr sz="20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000" b="0">
                <a:solidFill>
                  <a:srgbClr val="FFFFFF"/>
                </a:solidFill>
                <a:latin typeface="Calibri"/>
              </a:rPr>
              <a:t>. Se puede encadenar tantos </a:t>
            </a:r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FFFFFF"/>
                </a:solidFill>
                <a:latin typeface="Calibri"/>
              </a:rPr>
              <a:t> como sean necesarios, y al final se agrega un </a:t>
            </a:r>
            <a:r>
              <a:rPr sz="2000" b="0">
                <a:solidFill>
                  <a:srgbClr val="4ADFCB"/>
                </a:solidFill>
                <a:latin typeface="Consolas"/>
              </a:rPr>
              <a:t>else</a:t>
            </a:r>
            <a:r>
              <a:rPr sz="2000" b="0">
                <a:solidFill>
                  <a:srgbClr val="FFFFFF"/>
                </a:solidFill>
                <a:latin typeface="Calibri"/>
              </a:rPr>
              <a:t> para cubrir todos los casos restantes.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424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31718"/>
            <a:ext cx="11094415" cy="2474316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43171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568878"/>
            <a:ext cx="10820095" cy="2245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= 25</a:t>
            </a:r>
          </a:p>
          <a:p>
            <a:pPr algn="l"/>
            <a:endParaRPr sz="2000" b="0" dirty="0">
              <a:solidFill>
                <a:srgbClr val="4ADFCB"/>
              </a:solidFill>
              <a:latin typeface="Consolas"/>
            </a:endParaRP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if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&lt; 10: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print("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Frío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—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lleva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abrigo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.")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&lt; 20: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print("Fresco —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una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chaqueta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basta.")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&lt; 30: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print("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Cálido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— manga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corta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.")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else: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print("Caliente —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usa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protector solar.")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70627"/>
            <a:ext cx="11094415" cy="51305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6070627"/>
            <a:ext cx="73152" cy="5130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143779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63819"/>
            <a:ext cx="10728655" cy="74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reemplaza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pirámide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if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anidados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cuando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las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excluyentes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rama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cubre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un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rango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distinto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Solo una rama se ejecuta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41089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41089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9262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Python evalúa las condiciones en orden, de arriba hacia abajo. En cuanto encuentra la primera que resulta 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FFFFFF"/>
                </a:solidFill>
                <a:latin typeface="Calibri"/>
              </a:rPr>
              <a:t>, ejecuta ese bloque y salta todo lo que viene después — aunque otras condiciones también sean 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424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31718"/>
            <a:ext cx="11094415" cy="2474316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43171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568878"/>
            <a:ext cx="10820095" cy="2245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temperatura = 25</a:t>
            </a:r>
          </a:p>
          <a:p>
            <a:pPr algn="l"/>
            <a:endParaRPr sz="2000" b="0">
              <a:solidFill>
                <a:srgbClr val="4ADFCB"/>
              </a:solidFill>
              <a:latin typeface="Consolas"/>
            </a:endParaRP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if temperatura &lt; 10: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print("Frío.")       # False — se salta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20: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print("Fresco.")     # False — se salta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30: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print("Cálido.")     # True — EJECUTA ESTO y para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else: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print("Caliente.")   # no llega acá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70627"/>
            <a:ext cx="11094415" cy="51305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6070627"/>
            <a:ext cx="73152" cy="5130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143779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63819"/>
            <a:ext cx="10728655" cy="74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Aunque </a:t>
            </a:r>
            <a:r>
              <a:rPr sz="2200" b="0">
                <a:solidFill>
                  <a:srgbClr val="4ADFCB"/>
                </a:solidFill>
                <a:latin typeface="Consolas"/>
              </a:rPr>
              <a:t>temperatura = 25</a:t>
            </a:r>
            <a:r>
              <a:rPr sz="2200" b="0">
                <a:solidFill>
                  <a:srgbClr val="FFFFFF"/>
                </a:solidFill>
                <a:latin typeface="Calibri"/>
              </a:rPr>
              <a:t> también cumple </a:t>
            </a:r>
            <a:r>
              <a:rPr sz="2200" b="0">
                <a:solidFill>
                  <a:srgbClr val="4ADFCB"/>
                </a:solidFill>
                <a:latin typeface="Consolas"/>
              </a:rPr>
              <a:t>temperatura &lt; 30</a:t>
            </a:r>
            <a:r>
              <a:rPr sz="2200" b="0">
                <a:solidFill>
                  <a:srgbClr val="FFFFFF"/>
                </a:solidFill>
                <a:latin typeface="Calibri"/>
              </a:rPr>
              <a:t>, Python ya entró al primer </a:t>
            </a:r>
            <a:r>
              <a:rPr sz="2200" b="0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>
                <a:solidFill>
                  <a:srgbClr val="FFFFFF"/>
                </a:solidFill>
                <a:latin typeface="Calibri"/>
              </a:rPr>
              <a:t> verdadero y no sigue evaluando.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El orden de las condiciones importa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47281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47281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9881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Si una condición más amplia aparece antes que una más específica, la específica nunca se alcanza. Las condiciones deben ir ordenadas de forma que cada rango quede bien delimitado.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4616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93638"/>
            <a:ext cx="11094415" cy="2270865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49363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30798"/>
            <a:ext cx="10820095" cy="20422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# ⚠️ Orden incorrecto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temperatura = 5</a:t>
            </a:r>
          </a:p>
          <a:p>
            <a:pPr algn="l"/>
            <a:endParaRPr sz="2000" b="0">
              <a:solidFill>
                <a:srgbClr val="4ADFCB"/>
              </a:solidFill>
              <a:latin typeface="Consolas"/>
            </a:endParaRP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if temperatura &lt; 30:    # demasiado amplia — captura casi todo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print("Cálido.")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10:  # nunca llega acá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print("Frío.")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29095"/>
            <a:ext cx="11094415" cy="6545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929095"/>
            <a:ext cx="73152" cy="6545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002247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2287"/>
            <a:ext cx="10728655" cy="215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Ordena siempre de lo más específico a lo más general — o de menor a mayor (o mayor a menor), de forma consistente.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Primera condición demasiado amplia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Todos los valores entran al primer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y nunca llegan al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Ordenar las condiciones de menor a mayor (o mayor a menor) de forma consistente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después de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SyntaxError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— Python no acepta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después del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siempre va al final, después de todos los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Olvidar 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final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Si ninguna condición se cumple, el programa no imprime nada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Agregar un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que cubra todos los casos restantes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1030</Words>
  <Application>Microsoft Office PowerPoint</Application>
  <PresentationFormat>Panorámica</PresentationFormat>
  <Paragraphs>98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Ignacio Vargas Palominos</cp:lastModifiedBy>
  <cp:revision>2</cp:revision>
  <dcterms:created xsi:type="dcterms:W3CDTF">2013-01-27T09:14:16Z</dcterms:created>
  <dcterms:modified xsi:type="dcterms:W3CDTF">2026-06-30T14:25:43Z</dcterms:modified>
  <cp:category/>
</cp:coreProperties>
</file>