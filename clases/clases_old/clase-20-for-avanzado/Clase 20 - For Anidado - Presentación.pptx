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7" r:id="rId8"/>
    <p:sldId id="278" r:id="rId9"/>
    <p:sldId id="27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For Anidado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Ciclos </a:t>
            </a:r>
            <a:r>
              <a:rPr sz="2000" b="0">
                <a:solidFill>
                  <a:srgbClr val="4ADFCB"/>
                </a:solidFill>
                <a:latin typeface="Consolas"/>
              </a:rPr>
              <a:t>for</a:t>
            </a:r>
            <a:r>
              <a:rPr sz="2000" b="0">
                <a:solidFill>
                  <a:srgbClr val="94A3B8"/>
                </a:solidFill>
                <a:latin typeface="Calibri"/>
              </a:rPr>
              <a:t> anidados (ciclo dentro de otro ciclo), relación filas/columnas entre ciclo externo e interno, sangría de dos niveles, construcción de salida por fila usando </a:t>
            </a:r>
            <a:r>
              <a:rPr sz="2000" b="0">
                <a:solidFill>
                  <a:srgbClr val="4ADFCB"/>
                </a:solidFill>
                <a:latin typeface="Consolas"/>
              </a:rPr>
              <a:t>print(..., end=...)</a:t>
            </a:r>
            <a:r>
              <a:rPr sz="2000" b="0">
                <a:solidFill>
                  <a:srgbClr val="94A3B8"/>
                </a:solidFill>
                <a:latin typeface="Calibri"/>
              </a:rPr>
              <a:t> y </a:t>
            </a:r>
            <a:r>
              <a:rPr sz="2000" b="0">
                <a:solidFill>
                  <a:srgbClr val="4ADFCB"/>
                </a:solidFill>
                <a:latin typeface="Consolas"/>
              </a:rPr>
              <a:t>print()</a:t>
            </a:r>
            <a:r>
              <a:rPr sz="2000" b="0">
                <a:solidFill>
                  <a:srgbClr val="94A3B8"/>
                </a:solidFill>
                <a:latin typeface="Calibri"/>
              </a:rPr>
              <a:t> vacío para el salto de línea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orden es organizar el trabajo en pasos claros, uno dentro de otro, sin mezclarlos. Hoy desbloqueas una herramienta nueva 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20 - For Anidado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0" dirty="0" err="1">
                <a:solidFill>
                  <a:srgbClr val="FFFFFF"/>
                </a:solidFill>
                <a:latin typeface="Calibri"/>
              </a:rPr>
              <a:t>Construir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programas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ciclos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>
                <a:solidFill>
                  <a:srgbClr val="4ADFCB"/>
                </a:solidFill>
                <a:latin typeface="Consolas"/>
              </a:rPr>
              <a:t>for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anidados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que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generen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tablas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patrones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organizados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filas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columnas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, con </a:t>
            </a:r>
            <a:r>
              <a:rPr sz="2800" b="0" dirty="0" err="1">
                <a:solidFill>
                  <a:srgbClr val="FFFFFF"/>
                </a:solidFill>
                <a:latin typeface="Calibri"/>
              </a:rPr>
              <a:t>orden</a:t>
            </a:r>
            <a:r>
              <a:rPr sz="28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El orden es organizar el trabajo en pasos claros, uno dentro de otro, sin mezclarlos. Hoy lo practicamos anidando ciclos </a:t>
            </a:r>
            <a:r>
              <a:rPr sz="2800" b="0">
                <a:solidFill>
                  <a:srgbClr val="4ADFCB"/>
                </a:solidFill>
                <a:latin typeface="Consolas"/>
              </a:rPr>
              <a:t>for</a:t>
            </a:r>
            <a:r>
              <a:rPr sz="28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🦻 No ocupen audífonos.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⚡ Haz Ahora &lt;&lt;6:00&gt;&gt;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11094415" cy="4937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49377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252728"/>
            <a:ext cx="10820095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L" sz="2000" b="0" dirty="0">
                <a:solidFill>
                  <a:srgbClr val="FFFFFF"/>
                </a:solidFill>
                <a:latin typeface="Calibri"/>
              </a:rPr>
              <a:t>Viendo el cuaderno </a:t>
            </a:r>
            <a:r>
              <a:rPr lang="es-CL" sz="2000" b="0">
                <a:solidFill>
                  <a:srgbClr val="FFFFFF"/>
                </a:solidFill>
                <a:latin typeface="Calibri"/>
              </a:rPr>
              <a:t>de programación:</a:t>
            </a:r>
          </a:p>
          <a:p>
            <a:pPr algn="l"/>
            <a:endParaRPr lang="es-CL" sz="2000" b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2000" b="0" dirty="0">
                <a:solidFill>
                  <a:srgbClr val="FFFFFF"/>
                </a:solidFill>
                <a:latin typeface="Calibri"/>
              </a:rPr>
              <a:t>1. Si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ya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revisó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los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5 asientos de la Fila 1, ¿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cuál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asiento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revisa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justo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después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?</a:t>
            </a:r>
          </a:p>
          <a:p>
            <a:pPr algn="l"/>
            <a:r>
              <a:rPr sz="2000" b="0" dirty="0">
                <a:solidFill>
                  <a:srgbClr val="FFFFFF"/>
                </a:solidFill>
                <a:latin typeface="Calibri"/>
              </a:rPr>
              <a:t>2. ¿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Cuántos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asientos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total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revisa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equipo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toda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la sala?</a:t>
            </a:r>
          </a:p>
          <a:p>
            <a:pPr algn="l"/>
            <a:r>
              <a:rPr sz="2000" b="0" dirty="0">
                <a:solidFill>
                  <a:srgbClr val="FFFFFF"/>
                </a:solidFill>
                <a:latin typeface="Calibri"/>
              </a:rPr>
              <a:t>3. ¿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Cuántas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veces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vuelve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partir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desde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asiento 1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mientras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revisa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toda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la sala?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Ciclo `for` anidado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73152" cy="11663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10728655" cy="681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Un ciclo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dentro de otro ciclo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. El ciclo de adentro se ejecuta completo por cada vuelta del ciclo de afuera.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7571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23184"/>
            <a:ext cx="11094415" cy="2239264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123184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260344"/>
            <a:ext cx="10820095" cy="201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for asiento in range(1, 4):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    print("Fila", fila, "- Asiento", asiento)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27040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527040"/>
            <a:ext cx="73152" cy="1166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600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20232"/>
            <a:ext cx="10728655" cy="727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por cada vuelta del ciclo externo, el ciclo interno corre entero antes de que el externo avance.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Filas y columnas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4415" cy="110439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73152" cy="110439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10728655" cy="619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en un </a:t>
            </a:r>
            <a:r>
              <a:rPr sz="2000" b="0">
                <a:solidFill>
                  <a:srgbClr val="4ADFCB"/>
                </a:solidFill>
                <a:latin typeface="Consolas"/>
              </a:rPr>
              <a:t>for</a:t>
            </a:r>
            <a:r>
              <a:rPr sz="2000" b="0">
                <a:solidFill>
                  <a:srgbClr val="FFFFFF"/>
                </a:solidFill>
                <a:latin typeface="Calibri"/>
              </a:rPr>
              <a:t> anidado, la variable del ciclo externo suele representar las filas, y la variable del ciclo interno representa las columnas dentro de cada fila.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1373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1208"/>
            <a:ext cx="11094415" cy="2301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06120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198368"/>
            <a:ext cx="10820095" cy="2072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for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columna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 in range(1, 4):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    print("(", fila, ",", </a:t>
            </a:r>
            <a:r>
              <a:rPr sz="2000" b="0" dirty="0" err="1">
                <a:solidFill>
                  <a:srgbClr val="4ADFCB"/>
                </a:solidFill>
                <a:latin typeface="Consolas"/>
              </a:rPr>
              <a:t>columna</a:t>
            </a:r>
            <a:r>
              <a:rPr sz="2000" b="0" dirty="0">
                <a:solidFill>
                  <a:srgbClr val="4ADFCB"/>
                </a:solidFill>
                <a:latin typeface="Consolas"/>
              </a:rPr>
              <a:t>, ")")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27040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527040"/>
            <a:ext cx="73152" cy="1166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600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20232"/>
            <a:ext cx="10728655" cy="727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pensar "primero fijo la fila, después recorro todas sus columnas" ayuda a decidir cuál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va afuera y cuál va adentro.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Sangría de dos niveles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44752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73152" cy="11663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37943"/>
            <a:ext cx="10728655" cy="681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cada nivel de anidamiento exige su propia sangría. El cuerpo del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interno va indentado dentro del cuerpo del </a:t>
            </a:r>
            <a:r>
              <a:rPr sz="2200" b="0">
                <a:solidFill>
                  <a:srgbClr val="4ADFCB"/>
                </a:solidFill>
                <a:latin typeface="Consolas"/>
              </a:rPr>
              <a:t>for</a:t>
            </a:r>
            <a:r>
              <a:rPr sz="2200" b="0">
                <a:solidFill>
                  <a:srgbClr val="FFFFFF"/>
                </a:solidFill>
                <a:latin typeface="Calibri"/>
              </a:rPr>
              <a:t> externo.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7571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23184"/>
            <a:ext cx="11094415" cy="223926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123184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260344"/>
            <a:ext cx="10820095" cy="2010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print("Fila", fila)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for asiento in range(1, 4):</a:t>
            </a:r>
          </a:p>
          <a:p>
            <a:pPr algn="l"/>
            <a:r>
              <a:rPr sz="2000" b="0" dirty="0">
                <a:solidFill>
                  <a:srgbClr val="4ADFCB"/>
                </a:solidFill>
                <a:latin typeface="Consolas"/>
              </a:rPr>
              <a:t>          print("  Asiento", asiento)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27040"/>
            <a:ext cx="11094415" cy="11663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527040"/>
            <a:ext cx="73152" cy="1166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600192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20232"/>
            <a:ext cx="10728655" cy="727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perder la sangría del ciclo interno rompe la relación de anidamiento — Python deja de entender que uno está "dentro" del otro.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📘 Conceptos 1–4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212080" cy="5486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54864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4919472" cy="39703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📘 1.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Ciclo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for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anidado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
    Un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ciclo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for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dentro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otro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ciclo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for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.
</a:t>
            </a:r>
            <a:endParaRPr lang="es-CL" sz="1800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800" b="0" dirty="0">
                <a:solidFill>
                  <a:srgbClr val="FFFFFF"/>
                </a:solidFill>
                <a:latin typeface="Calibri"/>
              </a:rPr>
              <a:t>
📘 2.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Filas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columnas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
   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un </a:t>
            </a:r>
            <a:r>
              <a:rPr sz="1800" b="0" dirty="0">
                <a:solidFill>
                  <a:srgbClr val="4ADFCB"/>
                </a:solidFill>
                <a:latin typeface="Consolas"/>
              </a:rPr>
              <a:t>for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anidado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, la variable del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ciclo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externo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suele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representar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las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filas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, y la variable del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ciclo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interno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representa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las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columnas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dentro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cada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fila.
📘 3. Sangría de dos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niveles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
   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cada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nivel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anidamiento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exige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su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Calibri"/>
              </a:rPr>
              <a:t>propia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 sangría.
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115568"/>
            <a:ext cx="5681167" cy="54864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61888" y="1115568"/>
            <a:ext cx="5681167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79" y="1298448"/>
            <a:ext cx="5425135" cy="40472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for fila in range(1, 3):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    for asiento in range(1, 4):</a:t>
            </a:r>
          </a:p>
          <a:p>
            <a:pPr algn="l"/>
            <a:r>
              <a:rPr sz="1300" b="0" dirty="0">
                <a:solidFill>
                  <a:srgbClr val="4ADFCB"/>
                </a:solidFill>
                <a:latin typeface="Consolas"/>
              </a:rPr>
              <a:t>          print("Fila", fila, "- Asiento", asiento)</a:t>
            </a:r>
            <a:endParaRPr lang="es-CL" sz="1300" b="0" dirty="0">
              <a:solidFill>
                <a:srgbClr val="4ADFCB"/>
              </a:solidFill>
              <a:latin typeface="Consolas"/>
            </a:endParaRPr>
          </a:p>
          <a:p>
            <a:pPr algn="l"/>
            <a:endParaRPr lang="en-US" sz="1300" dirty="0">
              <a:solidFill>
                <a:srgbClr val="4ADFCB"/>
              </a:solidFill>
              <a:latin typeface="Consolas"/>
            </a:endParaRPr>
          </a:p>
          <a:p>
            <a:pPr algn="l"/>
            <a:endParaRPr lang="en-US" sz="1300" dirty="0">
              <a:solidFill>
                <a:srgbClr val="4ADFCB"/>
              </a:solidFill>
              <a:latin typeface="Consolas"/>
            </a:endParaRPr>
          </a:p>
          <a:p>
            <a:pPr algn="l"/>
            <a:endParaRPr lang="en-US" sz="1300" dirty="0">
              <a:solidFill>
                <a:srgbClr val="4ADFCB"/>
              </a:solidFill>
              <a:latin typeface="Consolas"/>
            </a:endParaRPr>
          </a:p>
          <a:p>
            <a:pPr algn="l"/>
            <a:endParaRPr lang="en-US" sz="1300" dirty="0">
              <a:solidFill>
                <a:srgbClr val="4ADFCB"/>
              </a:solidFill>
              <a:latin typeface="Consolas"/>
            </a:endParaRPr>
          </a:p>
          <a:p>
            <a:pPr algn="l"/>
            <a:r>
              <a:rPr lang="en-US" sz="1400" b="0" dirty="0">
                <a:solidFill>
                  <a:srgbClr val="4ADFCB"/>
                </a:solidFill>
                <a:latin typeface="Consolas"/>
              </a:rPr>
              <a:t> for fila in range(1, 3):</a:t>
            </a:r>
          </a:p>
          <a:p>
            <a:pPr algn="l"/>
            <a:r>
              <a:rPr lang="en-US" sz="1400" b="0" dirty="0">
                <a:solidFill>
                  <a:srgbClr val="4ADFCB"/>
                </a:solidFill>
                <a:latin typeface="Consolas"/>
              </a:rPr>
              <a:t>      for </a:t>
            </a:r>
            <a:r>
              <a:rPr lang="en-US" sz="1400" b="0" dirty="0" err="1">
                <a:solidFill>
                  <a:srgbClr val="4ADFCB"/>
                </a:solidFill>
                <a:latin typeface="Consolas"/>
              </a:rPr>
              <a:t>columna</a:t>
            </a:r>
            <a:r>
              <a:rPr lang="en-US" sz="1400" b="0" dirty="0">
                <a:solidFill>
                  <a:srgbClr val="4ADFCB"/>
                </a:solidFill>
                <a:latin typeface="Consolas"/>
              </a:rPr>
              <a:t> in range(1, 4):</a:t>
            </a:r>
          </a:p>
          <a:p>
            <a:pPr algn="l"/>
            <a:r>
              <a:rPr lang="en-US" sz="1400" b="0" dirty="0">
                <a:solidFill>
                  <a:srgbClr val="4ADFCB"/>
                </a:solidFill>
                <a:latin typeface="Consolas"/>
              </a:rPr>
              <a:t>          print("(", fila, ",", </a:t>
            </a:r>
            <a:r>
              <a:rPr lang="en-US" sz="1400" b="0" dirty="0" err="1">
                <a:solidFill>
                  <a:srgbClr val="4ADFCB"/>
                </a:solidFill>
                <a:latin typeface="Consolas"/>
              </a:rPr>
              <a:t>columna</a:t>
            </a:r>
            <a:r>
              <a:rPr lang="en-US" sz="1400" b="0" dirty="0">
                <a:solidFill>
                  <a:srgbClr val="4ADFCB"/>
                </a:solidFill>
                <a:latin typeface="Consolas"/>
              </a:rPr>
              <a:t>, ")")</a:t>
            </a:r>
          </a:p>
          <a:p>
            <a:pPr algn="l"/>
            <a:endParaRPr lang="en-US" sz="1400" dirty="0">
              <a:solidFill>
                <a:srgbClr val="4ADFCB"/>
              </a:solidFill>
              <a:latin typeface="Consolas"/>
            </a:endParaRPr>
          </a:p>
          <a:p>
            <a:pPr algn="l"/>
            <a:endParaRPr lang="en-US" sz="1400" b="0" dirty="0">
              <a:solidFill>
                <a:srgbClr val="4ADFCB"/>
              </a:solidFill>
              <a:latin typeface="Consolas"/>
            </a:endParaRPr>
          </a:p>
          <a:p>
            <a:pPr algn="l"/>
            <a:endParaRPr lang="en-US" sz="1400" dirty="0">
              <a:solidFill>
                <a:srgbClr val="4ADFCB"/>
              </a:solidFill>
              <a:latin typeface="Consolas"/>
            </a:endParaRPr>
          </a:p>
          <a:p>
            <a:pPr algn="l"/>
            <a:r>
              <a:rPr lang="en-US" sz="1400" b="0" dirty="0">
                <a:solidFill>
                  <a:srgbClr val="4ADFCB"/>
                </a:solidFill>
                <a:latin typeface="Consolas"/>
              </a:rPr>
              <a:t> for fila in range(1, 3):</a:t>
            </a:r>
          </a:p>
          <a:p>
            <a:pPr algn="l"/>
            <a:r>
              <a:rPr lang="en-US" sz="1400" b="0" dirty="0">
                <a:solidFill>
                  <a:srgbClr val="4ADFCB"/>
                </a:solidFill>
                <a:latin typeface="Consolas"/>
              </a:rPr>
              <a:t>      print("Fila", fila)</a:t>
            </a:r>
          </a:p>
          <a:p>
            <a:pPr algn="l"/>
            <a:r>
              <a:rPr lang="en-US" sz="1400" b="0" dirty="0">
                <a:solidFill>
                  <a:srgbClr val="4ADFCB"/>
                </a:solidFill>
                <a:latin typeface="Consolas"/>
              </a:rPr>
              <a:t>      for asiento in range(1, 4):</a:t>
            </a:r>
          </a:p>
          <a:p>
            <a:pPr algn="l"/>
            <a:r>
              <a:rPr lang="en-US" sz="1400" b="0" dirty="0">
                <a:solidFill>
                  <a:srgbClr val="4ADFCB"/>
                </a:solidFill>
                <a:latin typeface="Consolas"/>
              </a:rPr>
              <a:t>          print("  Asiento", asiento)</a:t>
            </a:r>
          </a:p>
          <a:p>
            <a:pPr algn="l"/>
            <a:endParaRPr lang="en-US" sz="1300" b="0" dirty="0">
              <a:solidFill>
                <a:srgbClr val="4ADFCB"/>
              </a:solidFill>
              <a:latin typeface="Consolas"/>
            </a:endParaRPr>
          </a:p>
          <a:p>
            <a:pPr algn="l"/>
            <a:endParaRPr sz="1300" b="0" dirty="0">
              <a:solidFill>
                <a:srgbClr val="4ADFCB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El ciclo interno no queda indentado dentro del externo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Ambos ciclos corren "en paralelo", no anidados — el resultado no forma una tabla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Verificar que 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for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interno esté un nivel de sangría más adentro que el externo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Usar el mismo nombre de variable en ambos ciclos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La variable externa se sobrescribe y el conteo de filas se pierde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Usar nombres distintos para el índice de fila y el de columna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Olvidar el salto de línea entre filas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Todos los asientos quedan impresos en una sola línea corrida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Agregar un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print()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vacío al terminar cada vuelta del ciclo externo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4415" cy="14173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63039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39"/>
            <a:ext cx="9082735" cy="114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Construir programas con ciclos </a:t>
            </a:r>
            <a:r>
              <a:rPr sz="1700" b="0">
                <a:solidFill>
                  <a:srgbClr val="4ADFCB"/>
                </a:solidFill>
                <a:latin typeface="Consolas"/>
              </a:rPr>
              <a:t>for</a:t>
            </a:r>
            <a:r>
              <a:rPr sz="1700" b="0">
                <a:solidFill>
                  <a:srgbClr val="FFFFFF"/>
                </a:solidFill>
                <a:latin typeface="Calibri"/>
              </a:rPr>
              <a:t> anidados que generen tablas y patrones organizados en filas y columnas, con orden.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387187" cy="3429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8BDF8"/>
                </a:solidFill>
                <a:latin typeface="Calibri"/>
              </a:rPr>
              <a:t>Comprensión 1 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59"/>
            <a:ext cx="4747107" cy="2423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¿Qué tan seguro/a te sientes construyendo un </a:t>
            </a:r>
            <a:r>
              <a:rPr sz="1700" b="0">
                <a:solidFill>
                  <a:srgbClr val="4ADFCB"/>
                </a:solidFill>
                <a:latin typeface="Consolas"/>
              </a:rPr>
              <a:t>for</a:t>
            </a:r>
            <a:r>
              <a:rPr sz="1700" b="0">
                <a:solidFill>
                  <a:srgbClr val="FFFFFF"/>
                </a:solidFill>
                <a:latin typeface="Calibri"/>
              </a:rPr>
              <a:t> dentro de otro </a:t>
            </a:r>
            <a:r>
              <a:rPr sz="1700" b="0">
                <a:solidFill>
                  <a:srgbClr val="4ADFCB"/>
                </a:solidFill>
                <a:latin typeface="Consolas"/>
              </a:rPr>
              <a:t>for</a:t>
            </a:r>
            <a:r>
              <a:rPr sz="1700" b="0">
                <a:solidFill>
                  <a:srgbClr val="FFFFFF"/>
                </a:solidFill>
                <a:latin typeface="Calibri"/>
              </a:rPr>
              <a:t>? (1 = no entendí nada, 5 = puedo explicárselo a otro)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3017520"/>
            <a:ext cx="5387187" cy="3429000"/>
          </a:xfrm>
          <a:prstGeom prst="rect">
            <a:avLst/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0187" y="32461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ADE80"/>
                </a:solidFill>
                <a:latin typeface="Calibri"/>
              </a:rPr>
              <a:t>Propósito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5907" y="3794759"/>
            <a:ext cx="4747107" cy="2423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¿En qué otra situación de tu vida (fuera de la programación) tendrías que organizar algo en filas y columnas, paso a paso y sin mezclar niveles?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951</Words>
  <Application>Microsoft Office PowerPoint</Application>
  <PresentationFormat>Panorámica</PresentationFormat>
  <Paragraphs>103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Vargas</cp:lastModifiedBy>
  <cp:revision>2</cp:revision>
  <dcterms:created xsi:type="dcterms:W3CDTF">2013-01-27T09:14:16Z</dcterms:created>
  <dcterms:modified xsi:type="dcterms:W3CDTF">2026-08-05T16:45:41Z</dcterms:modified>
  <cp:category/>
</cp:coreProperties>
</file>