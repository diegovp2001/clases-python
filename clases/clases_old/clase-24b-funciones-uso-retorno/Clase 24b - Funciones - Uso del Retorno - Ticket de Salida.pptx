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09441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5A623"/>
                </a:solidFill>
                <a:latin typeface="Calibri"/>
              </a:rPr>
              <a:t>🎫  Ticket de Salida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Clase 24b — Funciones (uso del retorno: guardar y reutilizar)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11094415" cy="3063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560320"/>
            <a:ext cx="73152" cy="30632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6883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💡  Cómo lo vamos a hacer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154680"/>
            <a:ext cx="10545775" cy="2331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1.  Son 3 preguntas. Las vemos </a:t>
            </a:r>
            <a:r>
              <a:rPr b="1" sz="2200">
                <a:solidFill>
                  <a:srgbClr val="FFFFFF"/>
                </a:solidFill>
                <a:latin typeface="Calibri"/>
              </a:rPr>
              <a:t>una por una</a:t>
            </a:r>
            <a:r>
              <a:rPr sz="220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2.  Decide tu respuesta </a:t>
            </a:r>
            <a:r>
              <a:rPr b="1" sz="2200">
                <a:solidFill>
                  <a:srgbClr val="FFFFFF"/>
                </a:solidFill>
                <a:latin typeface="Calibri"/>
              </a:rPr>
              <a:t>en silencio</a:t>
            </a:r>
            <a:r>
              <a:rPr sz="2200">
                <a:solidFill>
                  <a:srgbClr val="FFFFFF"/>
                </a:solidFill>
                <a:latin typeface="Calibri"/>
              </a:rPr>
              <a:t>: no la digas ni la comentes.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3.  Anota la letra que elegiste (</a:t>
            </a:r>
            <a:r>
              <a:rPr b="1" sz="2200">
                <a:solidFill>
                  <a:srgbClr val="FFFFFF"/>
                </a:solidFill>
                <a:latin typeface="Calibri"/>
              </a:rPr>
              <a:t>A</a:t>
            </a:r>
            <a:r>
              <a:rPr sz="2200">
                <a:solidFill>
                  <a:srgbClr val="FFFFFF"/>
                </a:solidFill>
                <a:latin typeface="Calibri"/>
              </a:rPr>
              <a:t>, </a:t>
            </a:r>
            <a:r>
              <a:rPr b="1" sz="2200">
                <a:solidFill>
                  <a:srgbClr val="FFFFFF"/>
                </a:solidFill>
                <a:latin typeface="Calibri"/>
              </a:rPr>
              <a:t>B</a:t>
            </a:r>
            <a:r>
              <a:rPr sz="2200">
                <a:solidFill>
                  <a:srgbClr val="FFFFFF"/>
                </a:solidFill>
                <a:latin typeface="Calibri"/>
              </a:rPr>
              <a:t>, </a:t>
            </a:r>
            <a:r>
              <a:rPr b="1" sz="2200">
                <a:solidFill>
                  <a:srgbClr val="FFFFFF"/>
                </a:solidFill>
                <a:latin typeface="Calibri"/>
              </a:rPr>
              <a:t>C</a:t>
            </a:r>
            <a:r>
              <a:rPr sz="2200">
                <a:solidFill>
                  <a:srgbClr val="FFFFFF"/>
                </a:solidFill>
                <a:latin typeface="Calibri"/>
              </a:rPr>
              <a:t> o </a:t>
            </a:r>
            <a:r>
              <a:rPr b="1" sz="2200">
                <a:solidFill>
                  <a:srgbClr val="FFFFFF"/>
                </a:solidFill>
                <a:latin typeface="Calibri"/>
              </a:rPr>
              <a:t>D</a:t>
            </a:r>
            <a:r>
              <a:rPr sz="2200">
                <a:solidFill>
                  <a:srgbClr val="FFFFFF"/>
                </a:solidFill>
                <a:latin typeface="Calibri"/>
              </a:rPr>
              <a:t>).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4.  Recién al terminar la pregunta 3 completamos el Formulario.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5.  Después de enviarlo, revisamos juntos las respuestas.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Calibri"/>
              </a:rPr>
              <a:t>Nadie responde el Formulario antes de tiempo: primero te comprometes con tu respuesta.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🎫  Pregunta 1 de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¿Qué imprime este programa en total?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35480"/>
            <a:ext cx="11094415" cy="181660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81784"/>
            <a:ext cx="10820095" cy="1597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def cuadrado(numero):
    print(numero * numero)
resultado = cuadrado(4)
print(resultado)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34967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401116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4008119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16 y 16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934967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599" y="401116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4008119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16 y None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90872"/>
            <a:ext cx="5410047" cy="1371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513892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4764024"/>
            <a:ext cx="4541367" cy="122529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None y 16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4690872"/>
            <a:ext cx="5410047" cy="1371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7599" y="513892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4764024"/>
            <a:ext cx="4541367" cy="122529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Error, no se puede guardar el resultado de una función sin </a:t>
            </a:r>
            <a:r>
              <a:rPr sz="2300">
                <a:solidFill>
                  <a:srgbClr val="4ADFCB"/>
                </a:solidFill>
                <a:latin typeface="Consolas"/>
              </a:rPr>
              <a:t>return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🎫  Pregunta 2 de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¿Qué imprime este programa?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35480"/>
            <a:ext cx="11094415" cy="2426207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81784"/>
            <a:ext cx="10820095" cy="2206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def bono_puntos(puntos):
    return puntos + 5
puntaje_ronda1 = bono_puntos(10)
puntaje_ronda2 = bono_puntos(20)
total = puntaje_ronda1 + puntaje_ronda2
print("Total:", total)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44568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462076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4617720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Total: 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4544568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599" y="462076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4617720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Total: 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300472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5376672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5373624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Total: 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5300472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7599" y="5376672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5373624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Total: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🎫  Pregunta 3 de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¿Qué ocurre al ejecutar este programa?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35480"/>
            <a:ext cx="11094415" cy="181660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81784"/>
            <a:ext cx="10820095" cy="1597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def ganancia(precio, costo):
    return precio - costo
ganancia(1000, 600)
print(ganancia_1)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34967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401116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4008119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Imprime 400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934967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599" y="401116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4008119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Imprime </a:t>
            </a:r>
            <a:r>
              <a:rPr sz="2300">
                <a:solidFill>
                  <a:srgbClr val="4ADFCB"/>
                </a:solidFill>
                <a:latin typeface="Consolas"/>
              </a:rPr>
              <a:t>None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90872"/>
            <a:ext cx="5410047" cy="1371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513892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4764024"/>
            <a:ext cx="4541367" cy="122529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Error, porque </a:t>
            </a:r>
            <a:r>
              <a:rPr sz="2300">
                <a:solidFill>
                  <a:srgbClr val="4ADFCB"/>
                </a:solidFill>
                <a:latin typeface="Consolas"/>
              </a:rPr>
              <a:t>ganancia_1</a:t>
            </a:r>
            <a:r>
              <a:rPr sz="2400">
                <a:solidFill>
                  <a:srgbClr val="FFFFFF"/>
                </a:solidFill>
                <a:latin typeface="Calibri"/>
              </a:rPr>
              <a:t> nunca se definió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4690872"/>
            <a:ext cx="5410047" cy="1371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7599" y="513892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4764024"/>
            <a:ext cx="4541367" cy="122529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Imprime el mismo valor que devolvió la función, sin nombre de variable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2C39A"/>
                </a:solidFill>
                <a:latin typeface="Calibri"/>
              </a:rPr>
              <a:t>📝  Ahora sí: completa el Formulario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11094415" cy="109728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11094415" cy="914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solidFill>
                  <a:srgbClr val="4ADFCB"/>
                </a:solidFill>
                <a:latin typeface="Consolas"/>
              </a:rPr>
              <a:t>https://forms.gle/sjRpbgmQzrpkEBsH9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34640"/>
            <a:ext cx="11094415" cy="32461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73152" cy="324612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96265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💡  Qué escribir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456432"/>
            <a:ext cx="10545775" cy="2468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b="1" sz="2200">
                <a:solidFill>
                  <a:srgbClr val="FFFFFF"/>
                </a:solidFill>
                <a:latin typeface="Calibri"/>
              </a:rPr>
              <a:t>Nombre:</a:t>
            </a:r>
            <a:r>
              <a:rPr sz="2200">
                <a:solidFill>
                  <a:srgbClr val="FFFFFF"/>
                </a:solidFill>
                <a:latin typeface="Calibri"/>
              </a:rPr>
              <a:t> tu nombre completo.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b="1" sz="2200">
                <a:solidFill>
                  <a:srgbClr val="FFFFFF"/>
                </a:solidFill>
                <a:latin typeface="Calibri"/>
              </a:rPr>
              <a:t>Tema de la clase de hoy:</a:t>
            </a:r>
            <a:r>
              <a:rPr sz="2200">
                <a:solidFill>
                  <a:srgbClr val="FFFFFF"/>
                </a:solidFill>
                <a:latin typeface="Calibri"/>
              </a:rPr>
              <a:t> </a:t>
            </a:r>
            <a:r>
              <a:rPr sz="2100">
                <a:solidFill>
                  <a:srgbClr val="4ADFCB"/>
                </a:solidFill>
                <a:latin typeface="Consolas"/>
              </a:rPr>
              <a:t>Funciones (uso del retorno: guardar y reutilizar)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b="1" sz="2200">
                <a:solidFill>
                  <a:srgbClr val="FFFFFF"/>
                </a:solidFill>
                <a:latin typeface="Calibri"/>
              </a:rPr>
              <a:t>Respuestas:</a:t>
            </a:r>
            <a:r>
              <a:rPr sz="2200">
                <a:solidFill>
                  <a:srgbClr val="FFFFFF"/>
                </a:solidFill>
                <a:latin typeface="Calibri"/>
              </a:rPr>
              <a:t> marca la letra que anotaste en cada una de las 3 preguntas.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Envía. Cuando estén todos, revisamos las respuestas juntos.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Calibri"/>
              </a:rPr>
              <a:t>✅  Pregunta 1 —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CBD5E1"/>
                </a:solidFill>
                <a:latin typeface="Calibri"/>
              </a:rPr>
              <a:t>¿Qué imprime este programa en total?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16 y 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Por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>
                <a:solidFill>
                  <a:srgbClr val="4ADFCB"/>
                </a:solidFill>
                <a:latin typeface="Consolas"/>
              </a:rPr>
              <a:t>cuadrado</a:t>
            </a:r>
            <a:r>
              <a:rPr sz="2200">
                <a:solidFill>
                  <a:srgbClr val="FFFFFF"/>
                </a:solidFill>
                <a:latin typeface="Calibri"/>
              </a:rPr>
              <a:t> imprime 16 por dentro con </a:t>
            </a:r>
            <a:r>
              <a:rPr sz="2100">
                <a:solidFill>
                  <a:srgbClr val="4ADFCB"/>
                </a:solidFill>
                <a:latin typeface="Consolas"/>
              </a:rPr>
              <a:t>print()</a:t>
            </a:r>
            <a:r>
              <a:rPr sz="2200">
                <a:solidFill>
                  <a:srgbClr val="FFFFFF"/>
                </a:solidFill>
                <a:latin typeface="Calibri"/>
              </a:rPr>
              <a:t>, pero no tiene </a:t>
            </a:r>
            <a:r>
              <a:rPr sz="2100">
                <a:solidFill>
                  <a:srgbClr val="4ADFCB"/>
                </a:solidFill>
                <a:latin typeface="Consolas"/>
              </a:rPr>
              <a:t>return</a:t>
            </a:r>
            <a:r>
              <a:rPr sz="2200">
                <a:solidFill>
                  <a:srgbClr val="FFFFFF"/>
                </a:solidFill>
                <a:latin typeface="Calibri"/>
              </a:rPr>
              <a:t>, así que </a:t>
            </a:r>
            <a:r>
              <a:rPr sz="2100">
                <a:solidFill>
                  <a:srgbClr val="4ADFCB"/>
                </a:solidFill>
                <a:latin typeface="Consolas"/>
              </a:rPr>
              <a:t>resultado</a:t>
            </a:r>
            <a:r>
              <a:rPr sz="2200">
                <a:solidFill>
                  <a:srgbClr val="FFFFFF"/>
                </a:solidFill>
                <a:latin typeface="Calibri"/>
              </a:rPr>
              <a:t> guarda </a:t>
            </a:r>
            <a:r>
              <a:rPr sz="2100">
                <a:solidFill>
                  <a:srgbClr val="4ADFCB"/>
                </a:solidFill>
                <a:latin typeface="Consolas"/>
              </a:rPr>
              <a:t>None</a:t>
            </a:r>
            <a:r>
              <a:rPr sz="2200">
                <a:solidFill>
                  <a:srgbClr val="FFFFFF"/>
                </a:solidFill>
                <a:latin typeface="Calibri"/>
              </a:rPr>
              <a:t> — y el segundo </a:t>
            </a:r>
            <a:r>
              <a:rPr sz="2100">
                <a:solidFill>
                  <a:srgbClr val="4ADFCB"/>
                </a:solidFill>
                <a:latin typeface="Consolas"/>
              </a:rPr>
              <a:t>print()</a:t>
            </a:r>
            <a:r>
              <a:rPr sz="2200">
                <a:solidFill>
                  <a:srgbClr val="FFFFFF"/>
                </a:solidFill>
                <a:latin typeface="Calibri"/>
              </a:rPr>
              <a:t> imprime ese </a:t>
            </a:r>
            <a:r>
              <a:rPr sz="2100">
                <a:solidFill>
                  <a:srgbClr val="4ADFCB"/>
                </a:solidFill>
                <a:latin typeface="Consolas"/>
              </a:rPr>
              <a:t>None</a:t>
            </a:r>
            <a:r>
              <a:rPr sz="2200">
                <a:solidFill>
                  <a:srgbClr val="FFFFF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Calibri"/>
              </a:rPr>
              <a:t>✅  Pregunta 2 —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CBD5E1"/>
                </a:solidFill>
                <a:latin typeface="Calibri"/>
              </a:rPr>
              <a:t>¿Qué imprime este programa?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Total: 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Por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>
                <a:solidFill>
                  <a:srgbClr val="4ADFCB"/>
                </a:solidFill>
                <a:latin typeface="Consolas"/>
              </a:rPr>
              <a:t>bono_puntos(10)</a:t>
            </a:r>
            <a:r>
              <a:rPr sz="2200">
                <a:solidFill>
                  <a:srgbClr val="FFFFFF"/>
                </a:solidFill>
                <a:latin typeface="Calibri"/>
              </a:rPr>
              <a:t> guarda 15 y </a:t>
            </a:r>
            <a:r>
              <a:rPr sz="2100">
                <a:solidFill>
                  <a:srgbClr val="4ADFCB"/>
                </a:solidFill>
                <a:latin typeface="Consolas"/>
              </a:rPr>
              <a:t>bono_puntos(20)</a:t>
            </a:r>
            <a:r>
              <a:rPr sz="2200">
                <a:solidFill>
                  <a:srgbClr val="FFFFFF"/>
                </a:solidFill>
                <a:latin typeface="Calibri"/>
              </a:rPr>
              <a:t> guarda 25 en variables distintas; al sumarlas, </a:t>
            </a:r>
            <a:r>
              <a:rPr sz="2100">
                <a:solidFill>
                  <a:srgbClr val="4ADFCB"/>
                </a:solidFill>
                <a:latin typeface="Consolas"/>
              </a:rPr>
              <a:t>total</a:t>
            </a:r>
            <a:r>
              <a:rPr sz="2200">
                <a:solidFill>
                  <a:srgbClr val="FFFFFF"/>
                </a:solidFill>
                <a:latin typeface="Calibri"/>
              </a:rPr>
              <a:t> = 15 + 25 = 40.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Calibri"/>
              </a:rPr>
              <a:t>✅  Pregunta 3 —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CBD5E1"/>
                </a:solidFill>
                <a:latin typeface="Calibri"/>
              </a:rPr>
              <a:t>¿Qué ocurre al ejecutar este programa?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Error, porque </a:t>
            </a:r>
            <a:r>
              <a:rPr sz="2300">
                <a:solidFill>
                  <a:srgbClr val="4ADFCB"/>
                </a:solidFill>
                <a:latin typeface="Consolas"/>
              </a:rPr>
              <a:t>ganancia_1</a:t>
            </a:r>
            <a:r>
              <a:rPr sz="2400">
                <a:solidFill>
                  <a:srgbClr val="FFFFFF"/>
                </a:solidFill>
                <a:latin typeface="Calibri"/>
              </a:rPr>
              <a:t> nunca se definió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Por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la función se llamó sin guardar el resultado en ninguna variable — </a:t>
            </a:r>
            <a:r>
              <a:rPr sz="2100">
                <a:solidFill>
                  <a:srgbClr val="4ADFCB"/>
                </a:solidFill>
                <a:latin typeface="Consolas"/>
              </a:rPr>
              <a:t>ganancia_1</a:t>
            </a:r>
            <a:r>
              <a:rPr sz="2200">
                <a:solidFill>
                  <a:srgbClr val="FFFFFF"/>
                </a:solidFill>
                <a:latin typeface="Calibri"/>
              </a:rPr>
              <a:t> nunca se creó, así que </a:t>
            </a:r>
            <a:r>
              <a:rPr sz="2100">
                <a:solidFill>
                  <a:srgbClr val="4ADFCB"/>
                </a:solidFill>
                <a:latin typeface="Consolas"/>
              </a:rPr>
              <a:t>print(ganancia_1)</a:t>
            </a:r>
            <a:r>
              <a:rPr sz="2200">
                <a:solidFill>
                  <a:srgbClr val="FFFFFF"/>
                </a:solidFill>
                <a:latin typeface="Calibri"/>
              </a:rPr>
              <a:t> lanza </a:t>
            </a:r>
            <a:r>
              <a:rPr sz="2100">
                <a:solidFill>
                  <a:srgbClr val="4ADFCB"/>
                </a:solidFill>
                <a:latin typeface="Consolas"/>
              </a:rPr>
              <a:t>NameError</a:t>
            </a:r>
            <a:r>
              <a:rPr sz="2200">
                <a:solidFill>
                  <a:srgbClr val="FFFFFF"/>
                </a:solidFill>
                <a:latin typeface="Calibri"/>
              </a:rPr>
              <a:t>. Este es justamente el error que el patrón "guardar antes de usar" evita.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