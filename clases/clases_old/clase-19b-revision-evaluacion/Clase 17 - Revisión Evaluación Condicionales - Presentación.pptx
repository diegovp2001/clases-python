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7" roundtripDataSignature="AMtx7mjiCXyJ0dBPER+EHCohcUnImX33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4DF54F8-2199-4838-81C5-889B0CC1E708}">
  <a:tblStyle styleId="{84DF54F8-2199-4838-81C5-889B0CC1E70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customschemas.google.com/relationships/presentationmetadata" Target="metadata"/><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2191695" cy="6858000"/>
          </a:xfrm>
          <a:prstGeom prst="rect">
            <a:avLst/>
          </a:prstGeom>
          <a:solidFill>
            <a:srgbClr val="1A1A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5" name="Google Shape;85;p1"/>
          <p:cNvSpPr/>
          <p:nvPr/>
        </p:nvSpPr>
        <p:spPr>
          <a:xfrm>
            <a:off x="0" y="0"/>
            <a:ext cx="109728" cy="6858000"/>
          </a:xfrm>
          <a:prstGeom prst="rect">
            <a:avLst/>
          </a:prstGeom>
          <a:solidFill>
            <a:srgbClr val="0F9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6" name="Google Shape;86;p1"/>
          <p:cNvSpPr txBox="1"/>
          <p:nvPr/>
        </p:nvSpPr>
        <p:spPr>
          <a:xfrm>
            <a:off x="685800" y="594360"/>
            <a:ext cx="36576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7600" u="none" cap="none" strike="noStrike">
                <a:solidFill>
                  <a:srgbClr val="0F9B8E"/>
                </a:solidFill>
                <a:latin typeface="Consolas"/>
                <a:ea typeface="Consolas"/>
                <a:cs typeface="Consolas"/>
                <a:sym typeface="Consolas"/>
              </a:rPr>
              <a:t>&gt;&gt;&gt;</a:t>
            </a:r>
            <a:endParaRPr/>
          </a:p>
        </p:txBody>
      </p:sp>
      <p:sp>
        <p:nvSpPr>
          <p:cNvPr id="87" name="Google Shape;87;p1"/>
          <p:cNvSpPr txBox="1"/>
          <p:nvPr/>
        </p:nvSpPr>
        <p:spPr>
          <a:xfrm>
            <a:off x="685800" y="1554480"/>
            <a:ext cx="1082009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FFFFFF"/>
                </a:solidFill>
                <a:latin typeface="Calibri"/>
                <a:ea typeface="Calibri"/>
                <a:cs typeface="Calibri"/>
                <a:sym typeface="Calibri"/>
              </a:rPr>
              <a:t>Condicionales: independientes, excluyentes y anidadas</a:t>
            </a:r>
            <a:endParaRPr/>
          </a:p>
        </p:txBody>
      </p:sp>
      <p:sp>
        <p:nvSpPr>
          <p:cNvPr id="88" name="Google Shape;88;p1"/>
          <p:cNvSpPr txBox="1"/>
          <p:nvPr/>
        </p:nvSpPr>
        <p:spPr>
          <a:xfrm>
            <a:off x="685800" y="3035808"/>
            <a:ext cx="10820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F9B8E"/>
                </a:solidFill>
                <a:latin typeface="Calibri"/>
                <a:ea typeface="Calibri"/>
                <a:cs typeface="Calibri"/>
                <a:sym typeface="Calibri"/>
              </a:rPr>
              <a:t>Clase 1</a:t>
            </a:r>
            <a:r>
              <a:rPr b="1" lang="en-US">
                <a:solidFill>
                  <a:srgbClr val="0F9B8E"/>
                </a:solidFill>
                <a:latin typeface="Calibri"/>
                <a:ea typeface="Calibri"/>
                <a:cs typeface="Calibri"/>
                <a:sym typeface="Calibri"/>
              </a:rPr>
              <a:t>7</a:t>
            </a:r>
            <a:endParaRPr/>
          </a:p>
        </p:txBody>
      </p:sp>
      <p:sp>
        <p:nvSpPr>
          <p:cNvPr id="89" name="Google Shape;89;p1"/>
          <p:cNvSpPr/>
          <p:nvPr/>
        </p:nvSpPr>
        <p:spPr>
          <a:xfrm>
            <a:off x="685800" y="3749039"/>
            <a:ext cx="10820095" cy="1920240"/>
          </a:xfrm>
          <a:prstGeom prst="rect">
            <a:avLst/>
          </a:prstGeom>
          <a:solidFill>
            <a:srgbClr val="1621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0" name="Google Shape;90;p1"/>
          <p:cNvSpPr/>
          <p:nvPr/>
        </p:nvSpPr>
        <p:spPr>
          <a:xfrm>
            <a:off x="685800" y="3749039"/>
            <a:ext cx="73152" cy="1920240"/>
          </a:xfrm>
          <a:prstGeom prst="rect">
            <a:avLst/>
          </a:prstGeom>
          <a:solidFill>
            <a:srgbClr val="F5A6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 name="Google Shape;91;p1"/>
          <p:cNvSpPr txBox="1"/>
          <p:nvPr/>
        </p:nvSpPr>
        <p:spPr>
          <a:xfrm>
            <a:off x="914400" y="3822191"/>
            <a:ext cx="10362895"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F5A623"/>
                </a:solidFill>
                <a:latin typeface="Calibri"/>
                <a:ea typeface="Calibri"/>
                <a:cs typeface="Calibri"/>
                <a:sym typeface="Calibri"/>
              </a:rPr>
              <a:t>Mensaje de hoy</a:t>
            </a:r>
            <a:endParaRPr/>
          </a:p>
        </p:txBody>
      </p:sp>
      <p:sp>
        <p:nvSpPr>
          <p:cNvPr id="92" name="Google Shape;92;p1"/>
          <p:cNvSpPr txBox="1"/>
          <p:nvPr/>
        </p:nvSpPr>
        <p:spPr>
          <a:xfrm>
            <a:off x="914400" y="4251960"/>
            <a:ext cx="10362895" cy="1325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200" u="none" cap="none" strike="noStrike">
                <a:solidFill>
                  <a:srgbClr val="FFFFFF"/>
                </a:solidFill>
                <a:latin typeface="Calibri"/>
                <a:ea typeface="Calibri"/>
                <a:cs typeface="Calibri"/>
                <a:sym typeface="Calibri"/>
              </a:rPr>
              <a:t>La rigurosidad es revisar justo el caso donde algo puede fallar, en vez de confiar en que salió bien porque funcionó una vez. Hoy desbloqueas una herramienta nueva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p:nvPr/>
        </p:nvSpPr>
        <p:spPr>
          <a:xfrm>
            <a:off x="0" y="0"/>
            <a:ext cx="12191695" cy="6858000"/>
          </a:xfrm>
          <a:prstGeom prst="rect">
            <a:avLst/>
          </a:prstGeom>
          <a:solidFill>
            <a:srgbClr val="1A1A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8" name="Google Shape;98;p2"/>
          <p:cNvSpPr/>
          <p:nvPr/>
        </p:nvSpPr>
        <p:spPr>
          <a:xfrm>
            <a:off x="0" y="0"/>
            <a:ext cx="109728" cy="6858000"/>
          </a:xfrm>
          <a:prstGeom prst="rect">
            <a:avLst/>
          </a:prstGeom>
          <a:solidFill>
            <a:srgbClr val="0F9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 name="Google Shape;99;p2"/>
          <p:cNvSpPr txBox="1"/>
          <p:nvPr/>
        </p:nvSpPr>
        <p:spPr>
          <a:xfrm>
            <a:off x="685800" y="274320"/>
            <a:ext cx="10820095"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F9B8E"/>
                </a:solidFill>
                <a:latin typeface="Consolas"/>
                <a:ea typeface="Consolas"/>
                <a:cs typeface="Consolas"/>
                <a:sym typeface="Consolas"/>
              </a:rPr>
              <a:t>&gt;&gt;&gt; Clase 19.5 - Condicionales: independientes, excluyentes y anidadas</a:t>
            </a:r>
            <a:endParaRPr/>
          </a:p>
        </p:txBody>
      </p:sp>
      <p:sp>
        <p:nvSpPr>
          <p:cNvPr id="100" name="Google Shape;100;p2"/>
          <p:cNvSpPr/>
          <p:nvPr/>
        </p:nvSpPr>
        <p:spPr>
          <a:xfrm>
            <a:off x="685800" y="914400"/>
            <a:ext cx="5349240" cy="2834640"/>
          </a:xfrm>
          <a:prstGeom prst="rect">
            <a:avLst/>
          </a:prstGeom>
          <a:solidFill>
            <a:srgbClr val="1621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1" name="Google Shape;101;p2"/>
          <p:cNvSpPr/>
          <p:nvPr/>
        </p:nvSpPr>
        <p:spPr>
          <a:xfrm>
            <a:off x="685800" y="914400"/>
            <a:ext cx="73152" cy="2834640"/>
          </a:xfrm>
          <a:prstGeom prst="rect">
            <a:avLst/>
          </a:prstGeom>
          <a:solidFill>
            <a:srgbClr val="0F9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 name="Google Shape;102;p2"/>
          <p:cNvSpPr txBox="1"/>
          <p:nvPr/>
        </p:nvSpPr>
        <p:spPr>
          <a:xfrm>
            <a:off x="914400" y="1005840"/>
            <a:ext cx="5029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0F9B8E"/>
                </a:solidFill>
                <a:latin typeface="Calibri"/>
                <a:ea typeface="Calibri"/>
                <a:cs typeface="Calibri"/>
                <a:sym typeface="Calibri"/>
              </a:rPr>
              <a:t>📘  Objetivo</a:t>
            </a:r>
            <a:endParaRPr/>
          </a:p>
        </p:txBody>
      </p:sp>
      <p:sp>
        <p:nvSpPr>
          <p:cNvPr id="103" name="Google Shape;103;p2"/>
          <p:cNvSpPr txBox="1"/>
          <p:nvPr/>
        </p:nvSpPr>
        <p:spPr>
          <a:xfrm>
            <a:off x="914400" y="1417320"/>
            <a:ext cx="5029200" cy="2240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500" u="none" cap="none" strike="noStrike">
                <a:solidFill>
                  <a:srgbClr val="FFFFFF"/>
                </a:solidFill>
                <a:latin typeface="Calibri"/>
                <a:ea typeface="Calibri"/>
                <a:cs typeface="Calibri"/>
                <a:sym typeface="Calibri"/>
              </a:rPr>
              <a:t>Distinguir si dos condiciones son independientes, excluyentes o dependientes, escribir la forma de </a:t>
            </a:r>
            <a:r>
              <a:rPr b="0" i="0" lang="en-US" sz="2500" u="none" cap="none" strike="noStrike">
                <a:solidFill>
                  <a:srgbClr val="4ADFCB"/>
                </a:solidFill>
                <a:latin typeface="Consolas"/>
                <a:ea typeface="Consolas"/>
                <a:cs typeface="Consolas"/>
                <a:sym typeface="Consolas"/>
              </a:rPr>
              <a:t>if</a:t>
            </a:r>
            <a:r>
              <a:rPr b="0" i="0" lang="en-US" sz="2500" u="none" cap="none" strike="noStrike">
                <a:solidFill>
                  <a:srgbClr val="FFFFFF"/>
                </a:solidFill>
                <a:latin typeface="Calibri"/>
                <a:ea typeface="Calibri"/>
                <a:cs typeface="Calibri"/>
                <a:sym typeface="Calibri"/>
              </a:rPr>
              <a:t> que corresponde a cada caso y comprobarla en el valor del borde, con rigurosidad.</a:t>
            </a:r>
            <a:endParaRPr sz="1700"/>
          </a:p>
        </p:txBody>
      </p:sp>
      <p:sp>
        <p:nvSpPr>
          <p:cNvPr id="104" name="Google Shape;104;p2"/>
          <p:cNvSpPr/>
          <p:nvPr/>
        </p:nvSpPr>
        <p:spPr>
          <a:xfrm>
            <a:off x="6263640" y="914400"/>
            <a:ext cx="5349240" cy="2834640"/>
          </a:xfrm>
          <a:prstGeom prst="rect">
            <a:avLst/>
          </a:prstGeom>
          <a:solidFill>
            <a:srgbClr val="1621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 name="Google Shape;105;p2"/>
          <p:cNvSpPr/>
          <p:nvPr/>
        </p:nvSpPr>
        <p:spPr>
          <a:xfrm>
            <a:off x="6263640" y="914400"/>
            <a:ext cx="73152" cy="2834640"/>
          </a:xfrm>
          <a:prstGeom prst="rect">
            <a:avLst/>
          </a:prstGeom>
          <a:solidFill>
            <a:srgbClr val="F5A6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 name="Google Shape;106;p2"/>
          <p:cNvSpPr txBox="1"/>
          <p:nvPr/>
        </p:nvSpPr>
        <p:spPr>
          <a:xfrm>
            <a:off x="6492240" y="1005840"/>
            <a:ext cx="5029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F5A623"/>
                </a:solidFill>
                <a:latin typeface="Calibri"/>
                <a:ea typeface="Calibri"/>
                <a:cs typeface="Calibri"/>
                <a:sym typeface="Calibri"/>
              </a:rPr>
              <a:t>💡  Propósito</a:t>
            </a:r>
            <a:endParaRPr/>
          </a:p>
        </p:txBody>
      </p:sp>
      <p:sp>
        <p:nvSpPr>
          <p:cNvPr id="107" name="Google Shape;107;p2"/>
          <p:cNvSpPr txBox="1"/>
          <p:nvPr/>
        </p:nvSpPr>
        <p:spPr>
          <a:xfrm>
            <a:off x="6492240" y="1417320"/>
            <a:ext cx="5029200" cy="2240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rgbClr val="FFFFFF"/>
                </a:solidFill>
                <a:latin typeface="Calibri"/>
                <a:ea typeface="Calibri"/>
                <a:cs typeface="Calibri"/>
                <a:sym typeface="Calibri"/>
              </a:rPr>
              <a:t>La rigurosidad es revisar justo el caso donde algo puede fallar, en vez de confiar en que salió bien porque funcionó una vez. Hoy la practicamos probando el valor exacto del borde de cada condición.</a:t>
            </a:r>
            <a:endParaRPr sz="1600"/>
          </a:p>
        </p:txBody>
      </p:sp>
      <p:sp>
        <p:nvSpPr>
          <p:cNvPr id="108" name="Google Shape;108;p2"/>
          <p:cNvSpPr/>
          <p:nvPr/>
        </p:nvSpPr>
        <p:spPr>
          <a:xfrm>
            <a:off x="685800" y="3931920"/>
            <a:ext cx="10820095" cy="2651760"/>
          </a:xfrm>
          <a:prstGeom prst="rect">
            <a:avLst/>
          </a:prstGeom>
          <a:solidFill>
            <a:srgbClr val="1621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2"/>
          <p:cNvSpPr/>
          <p:nvPr/>
        </p:nvSpPr>
        <p:spPr>
          <a:xfrm>
            <a:off x="685800" y="3931920"/>
            <a:ext cx="73152" cy="2651760"/>
          </a:xfrm>
          <a:prstGeom prst="rect">
            <a:avLst/>
          </a:prstGeom>
          <a:solidFill>
            <a:srgbClr val="02C3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0" name="Google Shape;110;p2"/>
          <p:cNvSpPr txBox="1"/>
          <p:nvPr/>
        </p:nvSpPr>
        <p:spPr>
          <a:xfrm>
            <a:off x="914400" y="4023359"/>
            <a:ext cx="10362895"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02C39A"/>
                </a:solidFill>
                <a:latin typeface="Calibri"/>
                <a:ea typeface="Calibri"/>
                <a:cs typeface="Calibri"/>
                <a:sym typeface="Calibri"/>
              </a:rPr>
              <a:t>☝ Reglas de ahora en adelante</a:t>
            </a:r>
            <a:endParaRPr/>
          </a:p>
        </p:txBody>
      </p:sp>
      <p:sp>
        <p:nvSpPr>
          <p:cNvPr id="111" name="Google Shape;111;p2"/>
          <p:cNvSpPr txBox="1"/>
          <p:nvPr/>
        </p:nvSpPr>
        <p:spPr>
          <a:xfrm>
            <a:off x="914400" y="4480559"/>
            <a:ext cx="10362895" cy="201168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i="0" lang="en-US" sz="2200" u="none" cap="none" strike="noStrike">
                <a:solidFill>
                  <a:srgbClr val="FFFFFF"/>
                </a:solidFill>
                <a:latin typeface="Calibri"/>
                <a:ea typeface="Calibri"/>
                <a:cs typeface="Calibri"/>
                <a:sym typeface="Calibri"/>
              </a:rPr>
              <a:t>🦻 No ocupen audífonos.</a:t>
            </a:r>
            <a:endParaRPr/>
          </a:p>
          <a:p>
            <a:pPr indent="0" lvl="0" marL="0" marR="0" rtl="0" algn="l">
              <a:spcBef>
                <a:spcPts val="0"/>
              </a:spcBef>
              <a:spcAft>
                <a:spcPts val="0"/>
              </a:spcAft>
              <a:buNone/>
            </a:pPr>
            <a:r>
              <a:rPr b="0" i="0" lang="en-US" sz="2200" u="none" cap="none" strike="noStrike">
                <a:solidFill>
                  <a:srgbClr val="FFFFFF"/>
                </a:solidFill>
                <a:latin typeface="Calibri"/>
                <a:ea typeface="Calibri"/>
                <a:cs typeface="Calibri"/>
                <a:sym typeface="Calibri"/>
              </a:rPr>
              <a:t>📓 Todo comando nuevo va al cuaderno.</a:t>
            </a:r>
            <a:endParaRPr/>
          </a:p>
          <a:p>
            <a:pPr indent="0" lvl="0" marL="0" marR="0" rtl="0" algn="l">
              <a:spcBef>
                <a:spcPts val="0"/>
              </a:spcBef>
              <a:spcAft>
                <a:spcPts val="0"/>
              </a:spcAft>
              <a:buNone/>
            </a:pPr>
            <a:r>
              <a:rPr b="0" i="0" lang="en-US" sz="2200" u="none" cap="none" strike="noStrike">
                <a:solidFill>
                  <a:srgbClr val="FFFFFF"/>
                </a:solidFill>
                <a:latin typeface="Calibri"/>
                <a:ea typeface="Calibri"/>
                <a:cs typeface="Calibri"/>
                <a:sym typeface="Calibri"/>
              </a:rPr>
              <a:t>🚫 NO hagan copiar-pegar de los comandos.</a:t>
            </a:r>
            <a:endParaRPr/>
          </a:p>
          <a:p>
            <a:pPr indent="0" lvl="0" marL="0" marR="0" rtl="0" algn="l">
              <a:spcBef>
                <a:spcPts val="0"/>
              </a:spcBef>
              <a:spcAft>
                <a:spcPts val="0"/>
              </a:spcAft>
              <a:buNone/>
            </a:pPr>
            <a:r>
              <a:rPr b="0" i="0" lang="en-US" sz="2200" u="none" cap="none" strike="noStrike">
                <a:solidFill>
                  <a:srgbClr val="FFFFFF"/>
                </a:solidFill>
                <a:latin typeface="Calibri"/>
                <a:ea typeface="Calibri"/>
                <a:cs typeface="Calibri"/>
                <a:sym typeface="Calibri"/>
              </a:rPr>
              <a:t>✨ En toda evaluación podrán usar sus apuntes.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p:nvPr/>
        </p:nvSpPr>
        <p:spPr>
          <a:xfrm>
            <a:off x="0" y="0"/>
            <a:ext cx="12191695" cy="6858000"/>
          </a:xfrm>
          <a:prstGeom prst="rect">
            <a:avLst/>
          </a:prstGeom>
          <a:solidFill>
            <a:srgbClr val="1A1A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7" name="Google Shape;117;p3"/>
          <p:cNvSpPr/>
          <p:nvPr/>
        </p:nvSpPr>
        <p:spPr>
          <a:xfrm>
            <a:off x="0" y="0"/>
            <a:ext cx="12191695" cy="502920"/>
          </a:xfrm>
          <a:prstGeom prst="rect">
            <a:avLst/>
          </a:prstGeom>
          <a:solidFill>
            <a:srgbClr val="0F16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8" name="Google Shape;118;p3"/>
          <p:cNvSpPr txBox="1"/>
          <p:nvPr/>
        </p:nvSpPr>
        <p:spPr>
          <a:xfrm>
            <a:off x="411479" y="118872"/>
            <a:ext cx="5486400" cy="3200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94A3B8"/>
                </a:solidFill>
                <a:latin typeface="Consolas"/>
                <a:ea typeface="Consolas"/>
                <a:cs typeface="Consolas"/>
                <a:sym typeface="Consolas"/>
              </a:rPr>
              <a:t>🐍 Python · Clase 19.5</a:t>
            </a:r>
            <a:endParaRPr/>
          </a:p>
        </p:txBody>
      </p:sp>
      <p:sp>
        <p:nvSpPr>
          <p:cNvPr id="119" name="Google Shape;119;p3"/>
          <p:cNvSpPr txBox="1"/>
          <p:nvPr/>
        </p:nvSpPr>
        <p:spPr>
          <a:xfrm>
            <a:off x="8534095" y="118872"/>
            <a:ext cx="3200400" cy="320040"/>
          </a:xfrm>
          <a:prstGeom prst="rect">
            <a:avLst/>
          </a:prstGeom>
          <a:noFill/>
          <a:ln>
            <a:noFill/>
          </a:ln>
        </p:spPr>
        <p:txBody>
          <a:bodyPr anchorCtr="0" anchor="ctr" bIns="45700" lIns="91425" spcFirstLastPara="1" rIns="91425" wrap="square" tIns="45700">
            <a:spAutoFit/>
          </a:bodyPr>
          <a:lstStyle/>
          <a:p>
            <a:pPr indent="0" lvl="0" marL="0" marR="0" rtl="0" algn="r">
              <a:spcBef>
                <a:spcPts val="0"/>
              </a:spcBef>
              <a:spcAft>
                <a:spcPts val="0"/>
              </a:spcAft>
              <a:buNone/>
            </a:pPr>
            <a:r>
              <a:rPr b="1" i="0" lang="en-US" sz="1200" u="none" cap="none" strike="noStrike">
                <a:solidFill>
                  <a:srgbClr val="0F9B8E"/>
                </a:solidFill>
                <a:latin typeface="Consolas"/>
                <a:ea typeface="Consolas"/>
                <a:cs typeface="Consolas"/>
                <a:sym typeface="Consolas"/>
              </a:rPr>
              <a:t>Haz Ahora</a:t>
            </a:r>
            <a:endParaRPr/>
          </a:p>
        </p:txBody>
      </p:sp>
      <p:sp>
        <p:nvSpPr>
          <p:cNvPr id="120" name="Google Shape;120;p3"/>
          <p:cNvSpPr txBox="1"/>
          <p:nvPr/>
        </p:nvSpPr>
        <p:spPr>
          <a:xfrm>
            <a:off x="548640" y="566928"/>
            <a:ext cx="11094415"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F5A623"/>
                </a:solidFill>
                <a:latin typeface="Calibri"/>
                <a:ea typeface="Calibri"/>
                <a:cs typeface="Calibri"/>
                <a:sym typeface="Calibri"/>
              </a:rPr>
              <a:t>⚡ Haz Ahora &lt;&lt;7:00&gt;&gt;</a:t>
            </a:r>
            <a:endParaRPr/>
          </a:p>
        </p:txBody>
      </p:sp>
      <p:sp>
        <p:nvSpPr>
          <p:cNvPr id="121" name="Google Shape;121;p3"/>
          <p:cNvSpPr/>
          <p:nvPr/>
        </p:nvSpPr>
        <p:spPr>
          <a:xfrm>
            <a:off x="548640" y="1115568"/>
            <a:ext cx="11094415" cy="841248"/>
          </a:xfrm>
          <a:prstGeom prst="rect">
            <a:avLst/>
          </a:prstGeom>
          <a:solidFill>
            <a:srgbClr val="1621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2" name="Google Shape;122;p3"/>
          <p:cNvSpPr/>
          <p:nvPr/>
        </p:nvSpPr>
        <p:spPr>
          <a:xfrm>
            <a:off x="548640" y="1115568"/>
            <a:ext cx="73152" cy="841248"/>
          </a:xfrm>
          <a:prstGeom prst="rect">
            <a:avLst/>
          </a:prstGeom>
          <a:solidFill>
            <a:srgbClr val="F5A6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3" name="Google Shape;123;p3"/>
          <p:cNvSpPr txBox="1"/>
          <p:nvPr/>
        </p:nvSpPr>
        <p:spPr>
          <a:xfrm>
            <a:off x="749808" y="1197864"/>
            <a:ext cx="10820095" cy="7132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700" u="none" cap="none" strike="noStrike">
                <a:solidFill>
                  <a:srgbClr val="FFFFFF"/>
                </a:solidFill>
                <a:latin typeface="Calibri"/>
                <a:ea typeface="Calibri"/>
                <a:cs typeface="Calibri"/>
                <a:sym typeface="Calibri"/>
              </a:rPr>
              <a:t>Abre el Colab de la clase. Vas a encontrar tres programas que tienen algo mal: ejecútalos, no los adivines. Debajo de cada uno está la pregunta y el espacio para responderla.</a:t>
            </a:r>
            <a:endParaRPr/>
          </a:p>
        </p:txBody>
      </p:sp>
      <p:sp>
        <p:nvSpPr>
          <p:cNvPr id="124" name="Google Shape;124;p3"/>
          <p:cNvSpPr/>
          <p:nvPr/>
        </p:nvSpPr>
        <p:spPr>
          <a:xfrm>
            <a:off x="548640" y="2066543"/>
            <a:ext cx="11094415" cy="3986784"/>
          </a:xfrm>
          <a:prstGeom prst="rect">
            <a:avLst/>
          </a:prstGeom>
          <a:solidFill>
            <a:srgbClr val="1621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5" name="Google Shape;125;p3"/>
          <p:cNvSpPr/>
          <p:nvPr/>
        </p:nvSpPr>
        <p:spPr>
          <a:xfrm>
            <a:off x="548640" y="2066543"/>
            <a:ext cx="73152" cy="3986784"/>
          </a:xfrm>
          <a:prstGeom prst="rect">
            <a:avLst/>
          </a:prstGeom>
          <a:solidFill>
            <a:srgbClr val="0F9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6" name="Google Shape;126;p3"/>
          <p:cNvSpPr txBox="1"/>
          <p:nvPr/>
        </p:nvSpPr>
        <p:spPr>
          <a:xfrm>
            <a:off x="749808" y="2203703"/>
            <a:ext cx="10820095" cy="37856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1. Programa 1 — La app de hábitos de estudio: ¿qué imprime? ¿Y qué debería imprimir con una racha de 12 días?</a:t>
            </a:r>
            <a:endParaRPr/>
          </a:p>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2. Programa 2 — El torneo de equipos: ejecútalo, cambia el puntaje a 19 y ejecútalo otra vez. ¿En cuál de los dos casos el resultado quedó equivocado?</a:t>
            </a:r>
            <a:endParaRPr/>
          </a:p>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3. Programa 3 — La micro a Talagante: ¿cuántas líneas imprime? ¿Pueden ser verdaderas las dos al mismo tiempo?</a:t>
            </a:r>
            <a:endParaRPr/>
          </a:p>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4. ¿Cuál de los tres te costó más? ¿Qué fue lo que te hizo darte cuenta?</a:t>
            </a:r>
            <a:endParaRPr/>
          </a:p>
        </p:txBody>
      </p:sp>
      <p:sp>
        <p:nvSpPr>
          <p:cNvPr id="127" name="Google Shape;127;p3"/>
          <p:cNvSpPr txBox="1"/>
          <p:nvPr/>
        </p:nvSpPr>
        <p:spPr>
          <a:xfrm>
            <a:off x="548640" y="6163056"/>
            <a:ext cx="11094415" cy="4389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FFFFFF"/>
                </a:solidFill>
                <a:latin typeface="Calibri"/>
                <a:ea typeface="Calibri"/>
                <a:cs typeface="Calibri"/>
                <a:sym typeface="Calibri"/>
              </a:rPr>
              <a:t>→ Cuando se acabe el tiempo las revisamos juntos.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4"/>
          <p:cNvSpPr/>
          <p:nvPr/>
        </p:nvSpPr>
        <p:spPr>
          <a:xfrm>
            <a:off x="0" y="0"/>
            <a:ext cx="12191695" cy="6858000"/>
          </a:xfrm>
          <a:prstGeom prst="rect">
            <a:avLst/>
          </a:prstGeom>
          <a:solidFill>
            <a:srgbClr val="1A1A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3" name="Google Shape;133;p4"/>
          <p:cNvSpPr/>
          <p:nvPr/>
        </p:nvSpPr>
        <p:spPr>
          <a:xfrm>
            <a:off x="0" y="0"/>
            <a:ext cx="12191695" cy="502920"/>
          </a:xfrm>
          <a:prstGeom prst="rect">
            <a:avLst/>
          </a:prstGeom>
          <a:solidFill>
            <a:srgbClr val="0F16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4" name="Google Shape;134;p4"/>
          <p:cNvSpPr txBox="1"/>
          <p:nvPr/>
        </p:nvSpPr>
        <p:spPr>
          <a:xfrm>
            <a:off x="411479" y="118872"/>
            <a:ext cx="5486400" cy="3200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94A3B8"/>
                </a:solidFill>
                <a:latin typeface="Consolas"/>
                <a:ea typeface="Consolas"/>
                <a:cs typeface="Consolas"/>
                <a:sym typeface="Consolas"/>
              </a:rPr>
              <a:t>🐍 Python · Clase 19.5</a:t>
            </a:r>
            <a:endParaRPr/>
          </a:p>
        </p:txBody>
      </p:sp>
      <p:sp>
        <p:nvSpPr>
          <p:cNvPr id="135" name="Google Shape;135;p4"/>
          <p:cNvSpPr txBox="1"/>
          <p:nvPr/>
        </p:nvSpPr>
        <p:spPr>
          <a:xfrm>
            <a:off x="8534095" y="118872"/>
            <a:ext cx="3200400" cy="320040"/>
          </a:xfrm>
          <a:prstGeom prst="rect">
            <a:avLst/>
          </a:prstGeom>
          <a:noFill/>
          <a:ln>
            <a:noFill/>
          </a:ln>
        </p:spPr>
        <p:txBody>
          <a:bodyPr anchorCtr="0" anchor="ctr" bIns="45700" lIns="91425" spcFirstLastPara="1" rIns="91425" wrap="square" tIns="45700">
            <a:spAutoFit/>
          </a:bodyPr>
          <a:lstStyle/>
          <a:p>
            <a:pPr indent="0" lvl="0" marL="0" marR="0" rtl="0" algn="r">
              <a:spcBef>
                <a:spcPts val="0"/>
              </a:spcBef>
              <a:spcAft>
                <a:spcPts val="0"/>
              </a:spcAft>
              <a:buNone/>
            </a:pPr>
            <a:r>
              <a:rPr b="1" i="0" lang="en-US" sz="1200" u="none" cap="none" strike="noStrike">
                <a:solidFill>
                  <a:srgbClr val="0F9B8E"/>
                </a:solidFill>
                <a:latin typeface="Consolas"/>
                <a:ea typeface="Consolas"/>
                <a:cs typeface="Consolas"/>
                <a:sym typeface="Consolas"/>
              </a:rPr>
              <a:t>Contenido nuevo</a:t>
            </a:r>
            <a:endParaRPr/>
          </a:p>
        </p:txBody>
      </p:sp>
      <p:sp>
        <p:nvSpPr>
          <p:cNvPr id="136" name="Google Shape;136;p4"/>
          <p:cNvSpPr txBox="1"/>
          <p:nvPr/>
        </p:nvSpPr>
        <p:spPr>
          <a:xfrm>
            <a:off x="548640" y="868680"/>
            <a:ext cx="11094415"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FFFFFF"/>
                </a:solidFill>
                <a:latin typeface="Calibri"/>
                <a:ea typeface="Calibri"/>
                <a:cs typeface="Calibri"/>
                <a:sym typeface="Calibri"/>
              </a:rPr>
              <a:t>📘 1. Independientes — varios `if` seguidos</a:t>
            </a:r>
            <a:endParaRPr/>
          </a:p>
        </p:txBody>
      </p:sp>
      <p:sp>
        <p:nvSpPr>
          <p:cNvPr id="137" name="Google Shape;137;p4"/>
          <p:cNvSpPr/>
          <p:nvPr/>
        </p:nvSpPr>
        <p:spPr>
          <a:xfrm>
            <a:off x="548640" y="1444752"/>
            <a:ext cx="11094415" cy="1042416"/>
          </a:xfrm>
          <a:prstGeom prst="rect">
            <a:avLst/>
          </a:prstGeom>
          <a:solidFill>
            <a:srgbClr val="1621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8" name="Google Shape;138;p4"/>
          <p:cNvSpPr/>
          <p:nvPr/>
        </p:nvSpPr>
        <p:spPr>
          <a:xfrm>
            <a:off x="548640" y="1444752"/>
            <a:ext cx="73152" cy="1042416"/>
          </a:xfrm>
          <a:prstGeom prst="rect">
            <a:avLst/>
          </a:prstGeom>
          <a:solidFill>
            <a:srgbClr val="0F9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9" name="Google Shape;139;p4"/>
          <p:cNvSpPr txBox="1"/>
          <p:nvPr/>
        </p:nvSpPr>
        <p:spPr>
          <a:xfrm>
            <a:off x="777240" y="1536192"/>
            <a:ext cx="10728655"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0F9B8E"/>
                </a:solidFill>
                <a:latin typeface="Calibri"/>
                <a:ea typeface="Calibri"/>
                <a:cs typeface="Calibri"/>
                <a:sym typeface="Calibri"/>
              </a:rPr>
              <a:t>📘  Definición</a:t>
            </a:r>
            <a:endParaRPr/>
          </a:p>
        </p:txBody>
      </p:sp>
      <p:sp>
        <p:nvSpPr>
          <p:cNvPr id="140" name="Google Shape;140;p4"/>
          <p:cNvSpPr txBox="1"/>
          <p:nvPr/>
        </p:nvSpPr>
        <p:spPr>
          <a:xfrm>
            <a:off x="777240" y="1837943"/>
            <a:ext cx="10728655" cy="5577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Calibri"/>
                <a:ea typeface="Calibri"/>
                <a:cs typeface="Calibri"/>
                <a:sym typeface="Calibri"/>
              </a:rPr>
              <a:t>Cuando dos preguntas no tienen nada que ver entre sí, cada una va en su propio </a:t>
            </a:r>
            <a:r>
              <a:rPr b="0" i="0" lang="en-US" sz="1800" u="none" cap="none" strike="noStrike">
                <a:solidFill>
                  <a:srgbClr val="4ADFCB"/>
                </a:solidFill>
                <a:latin typeface="Consolas"/>
                <a:ea typeface="Consolas"/>
                <a:cs typeface="Consolas"/>
                <a:sym typeface="Consolas"/>
              </a:rPr>
              <a:t>if</a:t>
            </a:r>
            <a:r>
              <a:rPr b="0" i="0" lang="en-US" sz="1800" u="none" cap="none" strike="noStrike">
                <a:solidFill>
                  <a:srgbClr val="FFFFFF"/>
                </a:solidFill>
                <a:latin typeface="Calibri"/>
                <a:ea typeface="Calibri"/>
                <a:cs typeface="Calibri"/>
                <a:sym typeface="Calibri"/>
              </a:rPr>
              <a:t>. Python revisa todos, uno por uno, sin que el resultado de uno afecte al siguiente.</a:t>
            </a:r>
            <a:endParaRPr/>
          </a:p>
        </p:txBody>
      </p:sp>
      <p:sp>
        <p:nvSpPr>
          <p:cNvPr id="141" name="Google Shape;141;p4"/>
          <p:cNvSpPr txBox="1"/>
          <p:nvPr/>
        </p:nvSpPr>
        <p:spPr>
          <a:xfrm>
            <a:off x="548640" y="2596896"/>
            <a:ext cx="45720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F5A623"/>
                </a:solidFill>
                <a:latin typeface="Calibri"/>
                <a:ea typeface="Calibri"/>
                <a:cs typeface="Calibri"/>
                <a:sym typeface="Calibri"/>
              </a:rPr>
              <a:t>💻  Ejemplo</a:t>
            </a:r>
            <a:endParaRPr/>
          </a:p>
        </p:txBody>
      </p:sp>
      <p:sp>
        <p:nvSpPr>
          <p:cNvPr id="142" name="Google Shape;142;p4"/>
          <p:cNvSpPr/>
          <p:nvPr/>
        </p:nvSpPr>
        <p:spPr>
          <a:xfrm>
            <a:off x="548640" y="2944368"/>
            <a:ext cx="11094415" cy="2844800"/>
          </a:xfrm>
          <a:prstGeom prst="rect">
            <a:avLst/>
          </a:prstGeom>
          <a:solidFill>
            <a:srgbClr val="0D111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3" name="Google Shape;143;p4"/>
          <p:cNvSpPr/>
          <p:nvPr/>
        </p:nvSpPr>
        <p:spPr>
          <a:xfrm>
            <a:off x="548640" y="2944368"/>
            <a:ext cx="11094415" cy="91440"/>
          </a:xfrm>
          <a:prstGeom prst="rect">
            <a:avLst/>
          </a:prstGeom>
          <a:solidFill>
            <a:srgbClr val="0F9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4" name="Google Shape;144;p4"/>
          <p:cNvSpPr txBox="1"/>
          <p:nvPr/>
        </p:nvSpPr>
        <p:spPr>
          <a:xfrm>
            <a:off x="731520" y="3081528"/>
            <a:ext cx="10820095" cy="261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4ADFCB"/>
                </a:solidFill>
                <a:latin typeface="Consolas"/>
                <a:ea typeface="Consolas"/>
                <a:cs typeface="Consolas"/>
                <a:sym typeface="Consolas"/>
              </a:rPr>
              <a:t>  bateria_baja = True</a:t>
            </a:r>
            <a:endParaRPr/>
          </a:p>
          <a:p>
            <a:pPr indent="0" lvl="0" marL="0" marR="0" rtl="0" algn="l">
              <a:spcBef>
                <a:spcPts val="0"/>
              </a:spcBef>
              <a:spcAft>
                <a:spcPts val="0"/>
              </a:spcAft>
              <a:buNone/>
            </a:pPr>
            <a:r>
              <a:rPr b="0" i="0" lang="en-US" sz="1600" u="none" cap="none" strike="noStrike">
                <a:solidFill>
                  <a:srgbClr val="4ADFCB"/>
                </a:solidFill>
                <a:latin typeface="Consolas"/>
                <a:ea typeface="Consolas"/>
                <a:cs typeface="Consolas"/>
                <a:sym typeface="Consolas"/>
              </a:rPr>
              <a:t>  hay_wifi_disponible = True</a:t>
            </a:r>
            <a:endParaRPr/>
          </a:p>
          <a:p>
            <a:pPr indent="0" lvl="0" marL="0" marR="0" rtl="0" algn="l">
              <a:spcBef>
                <a:spcPts val="0"/>
              </a:spcBef>
              <a:spcAft>
                <a:spcPts val="0"/>
              </a:spcAft>
              <a:buNone/>
            </a:pPr>
            <a:r>
              <a:t/>
            </a:r>
            <a:endParaRPr b="0" i="0" sz="1600" u="none" cap="none" strike="noStrike">
              <a:solidFill>
                <a:srgbClr val="4ADFCB"/>
              </a:solidFill>
              <a:latin typeface="Consolas"/>
              <a:ea typeface="Consolas"/>
              <a:cs typeface="Consolas"/>
              <a:sym typeface="Consolas"/>
            </a:endParaRPr>
          </a:p>
          <a:p>
            <a:pPr indent="0" lvl="0" marL="0" marR="0" rtl="0" algn="l">
              <a:spcBef>
                <a:spcPts val="0"/>
              </a:spcBef>
              <a:spcAft>
                <a:spcPts val="0"/>
              </a:spcAft>
              <a:buNone/>
            </a:pPr>
            <a:r>
              <a:rPr b="0" i="0" lang="en-US" sz="1600" u="none" cap="none" strike="noStrike">
                <a:solidFill>
                  <a:srgbClr val="4ADFCB"/>
                </a:solidFill>
                <a:latin typeface="Consolas"/>
                <a:ea typeface="Consolas"/>
                <a:cs typeface="Consolas"/>
                <a:sym typeface="Consolas"/>
              </a:rPr>
              <a:t>  if bateria_baja == True:</a:t>
            </a:r>
            <a:endParaRPr/>
          </a:p>
          <a:p>
            <a:pPr indent="0" lvl="0" marL="0" marR="0" rtl="0" algn="l">
              <a:spcBef>
                <a:spcPts val="0"/>
              </a:spcBef>
              <a:spcAft>
                <a:spcPts val="0"/>
              </a:spcAft>
              <a:buNone/>
            </a:pPr>
            <a:r>
              <a:rPr b="0" i="0" lang="en-US" sz="1600" u="none" cap="none" strike="noStrike">
                <a:solidFill>
                  <a:srgbClr val="4ADFCB"/>
                </a:solidFill>
                <a:latin typeface="Consolas"/>
                <a:ea typeface="Consolas"/>
                <a:cs typeface="Consolas"/>
                <a:sym typeface="Consolas"/>
              </a:rPr>
              <a:t>      print("Queda poca batería.")</a:t>
            </a:r>
            <a:endParaRPr/>
          </a:p>
          <a:p>
            <a:pPr indent="0" lvl="0" marL="0" marR="0" rtl="0" algn="l">
              <a:spcBef>
                <a:spcPts val="0"/>
              </a:spcBef>
              <a:spcAft>
                <a:spcPts val="0"/>
              </a:spcAft>
              <a:buNone/>
            </a:pPr>
            <a:r>
              <a:rPr b="0" i="0" lang="en-US" sz="1600" u="none" cap="none" strike="noStrike">
                <a:solidFill>
                  <a:srgbClr val="4ADFCB"/>
                </a:solidFill>
                <a:latin typeface="Consolas"/>
                <a:ea typeface="Consolas"/>
                <a:cs typeface="Consolas"/>
                <a:sym typeface="Consolas"/>
              </a:rPr>
              <a:t>  &gt;&gt; Queda poca batería.</a:t>
            </a:r>
            <a:endParaRPr/>
          </a:p>
          <a:p>
            <a:pPr indent="0" lvl="0" marL="0" marR="0" rtl="0" algn="l">
              <a:spcBef>
                <a:spcPts val="0"/>
              </a:spcBef>
              <a:spcAft>
                <a:spcPts val="0"/>
              </a:spcAft>
              <a:buNone/>
            </a:pPr>
            <a:r>
              <a:t/>
            </a:r>
            <a:endParaRPr b="0" i="0" sz="1600" u="none" cap="none" strike="noStrike">
              <a:solidFill>
                <a:srgbClr val="4ADFCB"/>
              </a:solidFill>
              <a:latin typeface="Consolas"/>
              <a:ea typeface="Consolas"/>
              <a:cs typeface="Consolas"/>
              <a:sym typeface="Consolas"/>
            </a:endParaRPr>
          </a:p>
          <a:p>
            <a:pPr indent="0" lvl="0" marL="0" marR="0" rtl="0" algn="l">
              <a:spcBef>
                <a:spcPts val="0"/>
              </a:spcBef>
              <a:spcAft>
                <a:spcPts val="0"/>
              </a:spcAft>
              <a:buNone/>
            </a:pPr>
            <a:r>
              <a:rPr b="0" i="0" lang="en-US" sz="1600" u="none" cap="none" strike="noStrike">
                <a:solidFill>
                  <a:srgbClr val="4ADFCB"/>
                </a:solidFill>
                <a:latin typeface="Consolas"/>
                <a:ea typeface="Consolas"/>
                <a:cs typeface="Consolas"/>
                <a:sym typeface="Consolas"/>
              </a:rPr>
              <a:t>  if hay_wifi_disponible == True:</a:t>
            </a:r>
            <a:endParaRPr/>
          </a:p>
          <a:p>
            <a:pPr indent="0" lvl="0" marL="0" marR="0" rtl="0" algn="l">
              <a:spcBef>
                <a:spcPts val="0"/>
              </a:spcBef>
              <a:spcAft>
                <a:spcPts val="0"/>
              </a:spcAft>
              <a:buNone/>
            </a:pPr>
            <a:r>
              <a:rPr b="0" i="0" lang="en-US" sz="1600" u="none" cap="none" strike="noStrike">
                <a:solidFill>
                  <a:srgbClr val="4ADFCB"/>
                </a:solidFill>
                <a:latin typeface="Consolas"/>
                <a:ea typeface="Consolas"/>
                <a:cs typeface="Consolas"/>
                <a:sym typeface="Consolas"/>
              </a:rPr>
              <a:t>      print("Hay wifi disponible.")</a:t>
            </a:r>
            <a:endParaRPr/>
          </a:p>
          <a:p>
            <a:pPr indent="0" lvl="0" marL="0" marR="0" rtl="0" algn="l">
              <a:spcBef>
                <a:spcPts val="0"/>
              </a:spcBef>
              <a:spcAft>
                <a:spcPts val="0"/>
              </a:spcAft>
              <a:buNone/>
            </a:pPr>
            <a:r>
              <a:rPr b="0" i="0" lang="en-US" sz="1600" u="none" cap="none" strike="noStrike">
                <a:solidFill>
                  <a:srgbClr val="4ADFCB"/>
                </a:solidFill>
                <a:latin typeface="Consolas"/>
                <a:ea typeface="Consolas"/>
                <a:cs typeface="Consolas"/>
                <a:sym typeface="Consolas"/>
              </a:rPr>
              <a:t>  &gt;&gt; Hay wifi disponible.</a:t>
            </a:r>
            <a:endParaRPr/>
          </a:p>
        </p:txBody>
      </p:sp>
      <p:sp>
        <p:nvSpPr>
          <p:cNvPr id="145" name="Google Shape;145;p4"/>
          <p:cNvSpPr/>
          <p:nvPr/>
        </p:nvSpPr>
        <p:spPr>
          <a:xfrm>
            <a:off x="548640" y="5898896"/>
            <a:ext cx="11094415" cy="794511"/>
          </a:xfrm>
          <a:prstGeom prst="rect">
            <a:avLst/>
          </a:prstGeom>
          <a:solidFill>
            <a:srgbClr val="1621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6" name="Google Shape;146;p4"/>
          <p:cNvSpPr/>
          <p:nvPr/>
        </p:nvSpPr>
        <p:spPr>
          <a:xfrm>
            <a:off x="548640" y="5898896"/>
            <a:ext cx="73152" cy="794511"/>
          </a:xfrm>
          <a:prstGeom prst="rect">
            <a:avLst/>
          </a:prstGeom>
          <a:solidFill>
            <a:srgbClr val="F5A6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7" name="Google Shape;147;p4"/>
          <p:cNvSpPr txBox="1"/>
          <p:nvPr/>
        </p:nvSpPr>
        <p:spPr>
          <a:xfrm>
            <a:off x="777240" y="5972048"/>
            <a:ext cx="10728655"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F5A623"/>
                </a:solidFill>
                <a:latin typeface="Calibri"/>
                <a:ea typeface="Calibri"/>
                <a:cs typeface="Calibri"/>
                <a:sym typeface="Calibri"/>
              </a:rPr>
              <a:t>💡  Idea clave</a:t>
            </a:r>
            <a:endParaRPr/>
          </a:p>
        </p:txBody>
      </p:sp>
      <p:sp>
        <p:nvSpPr>
          <p:cNvPr id="148" name="Google Shape;148;p4"/>
          <p:cNvSpPr txBox="1"/>
          <p:nvPr/>
        </p:nvSpPr>
        <p:spPr>
          <a:xfrm>
            <a:off x="777240" y="6292088"/>
            <a:ext cx="10728655" cy="35559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Cada </a:t>
            </a:r>
            <a:r>
              <a:rPr b="0" i="0" lang="en-US" sz="2000" u="none" cap="none" strike="noStrike">
                <a:solidFill>
                  <a:srgbClr val="4ADFCB"/>
                </a:solidFill>
                <a:latin typeface="Consolas"/>
                <a:ea typeface="Consolas"/>
                <a:cs typeface="Consolas"/>
                <a:sym typeface="Consolas"/>
              </a:rPr>
              <a:t>if</a:t>
            </a:r>
            <a:r>
              <a:rPr b="0" i="0" lang="en-US" sz="2000" u="none" cap="none" strike="noStrike">
                <a:solidFill>
                  <a:srgbClr val="FFFFFF"/>
                </a:solidFill>
                <a:latin typeface="Calibri"/>
                <a:ea typeface="Calibri"/>
                <a:cs typeface="Calibri"/>
                <a:sym typeface="Calibri"/>
              </a:rPr>
              <a:t> se revisa por su cuenta. Pueden cumplirse los dos, uno solo o ninguno.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5"/>
          <p:cNvSpPr/>
          <p:nvPr/>
        </p:nvSpPr>
        <p:spPr>
          <a:xfrm>
            <a:off x="0" y="0"/>
            <a:ext cx="12191695" cy="6858000"/>
          </a:xfrm>
          <a:prstGeom prst="rect">
            <a:avLst/>
          </a:prstGeom>
          <a:solidFill>
            <a:srgbClr val="1A1A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4" name="Google Shape;154;p5"/>
          <p:cNvSpPr/>
          <p:nvPr/>
        </p:nvSpPr>
        <p:spPr>
          <a:xfrm>
            <a:off x="0" y="0"/>
            <a:ext cx="12191695" cy="502920"/>
          </a:xfrm>
          <a:prstGeom prst="rect">
            <a:avLst/>
          </a:prstGeom>
          <a:solidFill>
            <a:srgbClr val="0F16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5" name="Google Shape;155;p5"/>
          <p:cNvSpPr txBox="1"/>
          <p:nvPr/>
        </p:nvSpPr>
        <p:spPr>
          <a:xfrm>
            <a:off x="411479" y="118872"/>
            <a:ext cx="5486400" cy="3200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94A3B8"/>
                </a:solidFill>
                <a:latin typeface="Consolas"/>
                <a:ea typeface="Consolas"/>
                <a:cs typeface="Consolas"/>
                <a:sym typeface="Consolas"/>
              </a:rPr>
              <a:t>🐍 Python · Clase 19.5</a:t>
            </a:r>
            <a:endParaRPr/>
          </a:p>
        </p:txBody>
      </p:sp>
      <p:sp>
        <p:nvSpPr>
          <p:cNvPr id="156" name="Google Shape;156;p5"/>
          <p:cNvSpPr txBox="1"/>
          <p:nvPr/>
        </p:nvSpPr>
        <p:spPr>
          <a:xfrm>
            <a:off x="8534095" y="118872"/>
            <a:ext cx="3200400" cy="320040"/>
          </a:xfrm>
          <a:prstGeom prst="rect">
            <a:avLst/>
          </a:prstGeom>
          <a:noFill/>
          <a:ln>
            <a:noFill/>
          </a:ln>
        </p:spPr>
        <p:txBody>
          <a:bodyPr anchorCtr="0" anchor="ctr" bIns="45700" lIns="91425" spcFirstLastPara="1" rIns="91425" wrap="square" tIns="45700">
            <a:spAutoFit/>
          </a:bodyPr>
          <a:lstStyle/>
          <a:p>
            <a:pPr indent="0" lvl="0" marL="0" marR="0" rtl="0" algn="r">
              <a:spcBef>
                <a:spcPts val="0"/>
              </a:spcBef>
              <a:spcAft>
                <a:spcPts val="0"/>
              </a:spcAft>
              <a:buNone/>
            </a:pPr>
            <a:r>
              <a:rPr b="1" i="0" lang="en-US" sz="1200" u="none" cap="none" strike="noStrike">
                <a:solidFill>
                  <a:srgbClr val="0F9B8E"/>
                </a:solidFill>
                <a:latin typeface="Consolas"/>
                <a:ea typeface="Consolas"/>
                <a:cs typeface="Consolas"/>
                <a:sym typeface="Consolas"/>
              </a:rPr>
              <a:t>Contenido nuevo</a:t>
            </a:r>
            <a:endParaRPr/>
          </a:p>
        </p:txBody>
      </p:sp>
      <p:sp>
        <p:nvSpPr>
          <p:cNvPr id="157" name="Google Shape;157;p5"/>
          <p:cNvSpPr txBox="1"/>
          <p:nvPr/>
        </p:nvSpPr>
        <p:spPr>
          <a:xfrm>
            <a:off x="548640" y="868680"/>
            <a:ext cx="11094415"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FFFFFF"/>
                </a:solidFill>
                <a:latin typeface="Calibri"/>
                <a:ea typeface="Calibri"/>
                <a:cs typeface="Calibri"/>
                <a:sym typeface="Calibri"/>
              </a:rPr>
              <a:t>📘 2. Excluyentes — `if / elif / else`, y el orden decide</a:t>
            </a:r>
            <a:endParaRPr/>
          </a:p>
        </p:txBody>
      </p:sp>
      <p:sp>
        <p:nvSpPr>
          <p:cNvPr id="158" name="Google Shape;158;p5"/>
          <p:cNvSpPr/>
          <p:nvPr/>
        </p:nvSpPr>
        <p:spPr>
          <a:xfrm>
            <a:off x="548640" y="1444752"/>
            <a:ext cx="11094415" cy="980440"/>
          </a:xfrm>
          <a:prstGeom prst="rect">
            <a:avLst/>
          </a:prstGeom>
          <a:solidFill>
            <a:srgbClr val="1621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9" name="Google Shape;159;p5"/>
          <p:cNvSpPr/>
          <p:nvPr/>
        </p:nvSpPr>
        <p:spPr>
          <a:xfrm>
            <a:off x="548640" y="1444752"/>
            <a:ext cx="73152" cy="980440"/>
          </a:xfrm>
          <a:prstGeom prst="rect">
            <a:avLst/>
          </a:prstGeom>
          <a:solidFill>
            <a:srgbClr val="0F9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0" name="Google Shape;160;p5"/>
          <p:cNvSpPr txBox="1"/>
          <p:nvPr/>
        </p:nvSpPr>
        <p:spPr>
          <a:xfrm>
            <a:off x="777240" y="1536192"/>
            <a:ext cx="10728655"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0F9B8E"/>
                </a:solidFill>
                <a:latin typeface="Calibri"/>
                <a:ea typeface="Calibri"/>
                <a:cs typeface="Calibri"/>
                <a:sym typeface="Calibri"/>
              </a:rPr>
              <a:t>📘  Definición</a:t>
            </a:r>
            <a:endParaRPr/>
          </a:p>
        </p:txBody>
      </p:sp>
      <p:sp>
        <p:nvSpPr>
          <p:cNvPr id="161" name="Google Shape;161;p5"/>
          <p:cNvSpPr txBox="1"/>
          <p:nvPr/>
        </p:nvSpPr>
        <p:spPr>
          <a:xfrm>
            <a:off x="777240" y="1837943"/>
            <a:ext cx="10728655" cy="4958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Cuando las preguntas son distintas versiones de lo mismo y solo una puede ser la respuesta, van encadenadas con </a:t>
            </a:r>
            <a:r>
              <a:rPr b="0" i="0" lang="en-US" sz="1600" u="none" cap="none" strike="noStrike">
                <a:solidFill>
                  <a:srgbClr val="4ADFCB"/>
                </a:solidFill>
                <a:latin typeface="Consolas"/>
                <a:ea typeface="Consolas"/>
                <a:cs typeface="Consolas"/>
                <a:sym typeface="Consolas"/>
              </a:rPr>
              <a:t>elif</a:t>
            </a:r>
            <a:r>
              <a:rPr b="0" i="0" lang="en-US" sz="1600" u="none" cap="none" strike="noStrike">
                <a:solidFill>
                  <a:srgbClr val="FFFFFF"/>
                </a:solidFill>
                <a:latin typeface="Calibri"/>
                <a:ea typeface="Calibri"/>
                <a:cs typeface="Calibri"/>
                <a:sym typeface="Calibri"/>
              </a:rPr>
              <a:t>. El primer </a:t>
            </a:r>
            <a:r>
              <a:rPr b="0" i="0" lang="en-US" sz="1600" u="none" cap="none" strike="noStrike">
                <a:solidFill>
                  <a:srgbClr val="4ADFCB"/>
                </a:solidFill>
                <a:latin typeface="Consolas"/>
                <a:ea typeface="Consolas"/>
                <a:cs typeface="Consolas"/>
                <a:sym typeface="Consolas"/>
              </a:rPr>
              <a:t>elif</a:t>
            </a:r>
            <a:r>
              <a:rPr b="0" i="0" lang="en-US" sz="1600" u="none" cap="none" strike="noStrike">
                <a:solidFill>
                  <a:srgbClr val="FFFFFF"/>
                </a:solidFill>
                <a:latin typeface="Calibri"/>
                <a:ea typeface="Calibri"/>
                <a:cs typeface="Calibri"/>
                <a:sym typeface="Calibri"/>
              </a:rPr>
              <a:t> que se cumple se lleva todo y los de más abajo ni siquiera se revisan.</a:t>
            </a:r>
            <a:endParaRPr/>
          </a:p>
        </p:txBody>
      </p:sp>
      <p:sp>
        <p:nvSpPr>
          <p:cNvPr id="162" name="Google Shape;162;p5"/>
          <p:cNvSpPr txBox="1"/>
          <p:nvPr/>
        </p:nvSpPr>
        <p:spPr>
          <a:xfrm>
            <a:off x="548640" y="2534920"/>
            <a:ext cx="45720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F5A623"/>
                </a:solidFill>
                <a:latin typeface="Calibri"/>
                <a:ea typeface="Calibri"/>
                <a:cs typeface="Calibri"/>
                <a:sym typeface="Calibri"/>
              </a:rPr>
              <a:t>💻  Ejemplo</a:t>
            </a:r>
            <a:endParaRPr/>
          </a:p>
        </p:txBody>
      </p:sp>
      <p:sp>
        <p:nvSpPr>
          <p:cNvPr id="163" name="Google Shape;163;p5"/>
          <p:cNvSpPr/>
          <p:nvPr/>
        </p:nvSpPr>
        <p:spPr>
          <a:xfrm>
            <a:off x="548640" y="2882392"/>
            <a:ext cx="11094415" cy="2658872"/>
          </a:xfrm>
          <a:prstGeom prst="rect">
            <a:avLst/>
          </a:prstGeom>
          <a:solidFill>
            <a:srgbClr val="0D111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4" name="Google Shape;164;p5"/>
          <p:cNvSpPr/>
          <p:nvPr/>
        </p:nvSpPr>
        <p:spPr>
          <a:xfrm>
            <a:off x="548640" y="2882392"/>
            <a:ext cx="11094415" cy="91440"/>
          </a:xfrm>
          <a:prstGeom prst="rect">
            <a:avLst/>
          </a:prstGeom>
          <a:solidFill>
            <a:srgbClr val="0F9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5" name="Google Shape;165;p5"/>
          <p:cNvSpPr txBox="1"/>
          <p:nvPr/>
        </p:nvSpPr>
        <p:spPr>
          <a:xfrm>
            <a:off x="731520" y="3019551"/>
            <a:ext cx="10820095" cy="24302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racha_dias_estudio = 12</a:t>
            </a:r>
            <a:endParaRPr/>
          </a:p>
          <a:p>
            <a:pPr indent="0" lvl="0" marL="0" marR="0" rtl="0" algn="l">
              <a:spcBef>
                <a:spcPts val="0"/>
              </a:spcBef>
              <a:spcAft>
                <a:spcPts val="0"/>
              </a:spcAft>
              <a:buNone/>
            </a:pPr>
            <a:r>
              <a:t/>
            </a:r>
            <a:endParaRPr b="0" i="0" sz="1400" u="none" cap="none" strike="noStrike">
              <a:solidFill>
                <a:srgbClr val="4ADFCB"/>
              </a:solidFill>
              <a:latin typeface="Consolas"/>
              <a:ea typeface="Consolas"/>
              <a:cs typeface="Consolas"/>
              <a:sym typeface="Consolas"/>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if racha_dias_estudio &gt;= 14:</a:t>
            </a:r>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print("Categoría de tu racha:", "Racha de élite")</a:t>
            </a:r>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elif racha_dias_estudio &gt;= 7:</a:t>
            </a:r>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print("Categoría de tu racha:", "Buena constancia")</a:t>
            </a:r>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elif racha_dias_estudio &gt;= 3:</a:t>
            </a:r>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print("Categoría de tu racha:", "Racha en marcha")</a:t>
            </a:r>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else:</a:t>
            </a:r>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print("Categoría de tu racha:", "Recién empezando")</a:t>
            </a:r>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&gt;&gt; Categoría de tu racha: Buena constancia</a:t>
            </a:r>
            <a:endParaRPr/>
          </a:p>
        </p:txBody>
      </p:sp>
      <p:sp>
        <p:nvSpPr>
          <p:cNvPr id="166" name="Google Shape;166;p5"/>
          <p:cNvSpPr/>
          <p:nvPr/>
        </p:nvSpPr>
        <p:spPr>
          <a:xfrm>
            <a:off x="548640" y="5650992"/>
            <a:ext cx="11094415" cy="1042416"/>
          </a:xfrm>
          <a:prstGeom prst="rect">
            <a:avLst/>
          </a:prstGeom>
          <a:solidFill>
            <a:srgbClr val="1621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7" name="Google Shape;167;p5"/>
          <p:cNvSpPr/>
          <p:nvPr/>
        </p:nvSpPr>
        <p:spPr>
          <a:xfrm>
            <a:off x="548640" y="5650992"/>
            <a:ext cx="73152" cy="1042416"/>
          </a:xfrm>
          <a:prstGeom prst="rect">
            <a:avLst/>
          </a:prstGeom>
          <a:solidFill>
            <a:srgbClr val="F5A6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8" name="Google Shape;168;p5"/>
          <p:cNvSpPr txBox="1"/>
          <p:nvPr/>
        </p:nvSpPr>
        <p:spPr>
          <a:xfrm>
            <a:off x="777240" y="5724144"/>
            <a:ext cx="10728655"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F5A623"/>
                </a:solidFill>
                <a:latin typeface="Calibri"/>
                <a:ea typeface="Calibri"/>
                <a:cs typeface="Calibri"/>
                <a:sym typeface="Calibri"/>
              </a:rPr>
              <a:t>💡  Idea clave</a:t>
            </a:r>
            <a:endParaRPr/>
          </a:p>
        </p:txBody>
      </p:sp>
      <p:sp>
        <p:nvSpPr>
          <p:cNvPr id="169" name="Google Shape;169;p5"/>
          <p:cNvSpPr txBox="1"/>
          <p:nvPr/>
        </p:nvSpPr>
        <p:spPr>
          <a:xfrm>
            <a:off x="777240" y="6044183"/>
            <a:ext cx="10728655" cy="603504"/>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Calibri"/>
                <a:ea typeface="Calibri"/>
                <a:cs typeface="Calibri"/>
                <a:sym typeface="Calibri"/>
              </a:rPr>
              <a:t>La condición más exigente va primero. Si la más amplia va arriba, se lleva el agua de todas las de abajo y esas ramas nunca se alcanzan.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6"/>
          <p:cNvSpPr/>
          <p:nvPr/>
        </p:nvSpPr>
        <p:spPr>
          <a:xfrm>
            <a:off x="0" y="0"/>
            <a:ext cx="12191695" cy="6858000"/>
          </a:xfrm>
          <a:prstGeom prst="rect">
            <a:avLst/>
          </a:prstGeom>
          <a:solidFill>
            <a:srgbClr val="1A1A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5" name="Google Shape;175;p6"/>
          <p:cNvSpPr/>
          <p:nvPr/>
        </p:nvSpPr>
        <p:spPr>
          <a:xfrm>
            <a:off x="0" y="0"/>
            <a:ext cx="12191695" cy="502920"/>
          </a:xfrm>
          <a:prstGeom prst="rect">
            <a:avLst/>
          </a:prstGeom>
          <a:solidFill>
            <a:srgbClr val="0F16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6" name="Google Shape;176;p6"/>
          <p:cNvSpPr txBox="1"/>
          <p:nvPr/>
        </p:nvSpPr>
        <p:spPr>
          <a:xfrm>
            <a:off x="411479" y="118872"/>
            <a:ext cx="5486400" cy="3200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94A3B8"/>
                </a:solidFill>
                <a:latin typeface="Consolas"/>
                <a:ea typeface="Consolas"/>
                <a:cs typeface="Consolas"/>
                <a:sym typeface="Consolas"/>
              </a:rPr>
              <a:t>🐍 Python · Clase 19.5</a:t>
            </a:r>
            <a:endParaRPr/>
          </a:p>
        </p:txBody>
      </p:sp>
      <p:sp>
        <p:nvSpPr>
          <p:cNvPr id="177" name="Google Shape;177;p6"/>
          <p:cNvSpPr txBox="1"/>
          <p:nvPr/>
        </p:nvSpPr>
        <p:spPr>
          <a:xfrm>
            <a:off x="8534095" y="118872"/>
            <a:ext cx="3200400" cy="320040"/>
          </a:xfrm>
          <a:prstGeom prst="rect">
            <a:avLst/>
          </a:prstGeom>
          <a:noFill/>
          <a:ln>
            <a:noFill/>
          </a:ln>
        </p:spPr>
        <p:txBody>
          <a:bodyPr anchorCtr="0" anchor="ctr" bIns="45700" lIns="91425" spcFirstLastPara="1" rIns="91425" wrap="square" tIns="45700">
            <a:spAutoFit/>
          </a:bodyPr>
          <a:lstStyle/>
          <a:p>
            <a:pPr indent="0" lvl="0" marL="0" marR="0" rtl="0" algn="r">
              <a:spcBef>
                <a:spcPts val="0"/>
              </a:spcBef>
              <a:spcAft>
                <a:spcPts val="0"/>
              </a:spcAft>
              <a:buNone/>
            </a:pPr>
            <a:r>
              <a:rPr b="1" i="0" lang="en-US" sz="1200" u="none" cap="none" strike="noStrike">
                <a:solidFill>
                  <a:srgbClr val="0F9B8E"/>
                </a:solidFill>
                <a:latin typeface="Consolas"/>
                <a:ea typeface="Consolas"/>
                <a:cs typeface="Consolas"/>
                <a:sym typeface="Consolas"/>
              </a:rPr>
              <a:t>Contenido nuevo</a:t>
            </a:r>
            <a:endParaRPr/>
          </a:p>
        </p:txBody>
      </p:sp>
      <p:sp>
        <p:nvSpPr>
          <p:cNvPr id="178" name="Google Shape;178;p6"/>
          <p:cNvSpPr txBox="1"/>
          <p:nvPr/>
        </p:nvSpPr>
        <p:spPr>
          <a:xfrm>
            <a:off x="548640" y="868680"/>
            <a:ext cx="11094415"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FFFFFF"/>
                </a:solidFill>
                <a:latin typeface="Calibri"/>
                <a:ea typeface="Calibri"/>
                <a:cs typeface="Calibri"/>
                <a:sym typeface="Calibri"/>
              </a:rPr>
              <a:t>📘 3. Una depende de la otra — `if` anidado</a:t>
            </a:r>
            <a:endParaRPr/>
          </a:p>
        </p:txBody>
      </p:sp>
      <p:sp>
        <p:nvSpPr>
          <p:cNvPr id="179" name="Google Shape;179;p6"/>
          <p:cNvSpPr/>
          <p:nvPr/>
        </p:nvSpPr>
        <p:spPr>
          <a:xfrm>
            <a:off x="548640" y="1444752"/>
            <a:ext cx="11094415" cy="1042416"/>
          </a:xfrm>
          <a:prstGeom prst="rect">
            <a:avLst/>
          </a:prstGeom>
          <a:solidFill>
            <a:srgbClr val="1621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0" name="Google Shape;180;p6"/>
          <p:cNvSpPr/>
          <p:nvPr/>
        </p:nvSpPr>
        <p:spPr>
          <a:xfrm>
            <a:off x="548640" y="1444752"/>
            <a:ext cx="73152" cy="1042416"/>
          </a:xfrm>
          <a:prstGeom prst="rect">
            <a:avLst/>
          </a:prstGeom>
          <a:solidFill>
            <a:srgbClr val="0F9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1" name="Google Shape;181;p6"/>
          <p:cNvSpPr txBox="1"/>
          <p:nvPr/>
        </p:nvSpPr>
        <p:spPr>
          <a:xfrm>
            <a:off x="777240" y="1536192"/>
            <a:ext cx="10728655"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0F9B8E"/>
                </a:solidFill>
                <a:latin typeface="Calibri"/>
                <a:ea typeface="Calibri"/>
                <a:cs typeface="Calibri"/>
                <a:sym typeface="Calibri"/>
              </a:rPr>
              <a:t>📘  Definición</a:t>
            </a:r>
            <a:endParaRPr/>
          </a:p>
        </p:txBody>
      </p:sp>
      <p:sp>
        <p:nvSpPr>
          <p:cNvPr id="182" name="Google Shape;182;p6"/>
          <p:cNvSpPr txBox="1"/>
          <p:nvPr/>
        </p:nvSpPr>
        <p:spPr>
          <a:xfrm>
            <a:off x="777240" y="1837943"/>
            <a:ext cx="10728655" cy="5577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Calibri"/>
                <a:ea typeface="Calibri"/>
                <a:cs typeface="Calibri"/>
                <a:sym typeface="Calibri"/>
              </a:rPr>
              <a:t>Cuando la segunda pregunta solo tiene sentido si la primera resultó de cierta manera, la segunda va escrita dentro de la primera.</a:t>
            </a:r>
            <a:endParaRPr/>
          </a:p>
        </p:txBody>
      </p:sp>
      <p:sp>
        <p:nvSpPr>
          <p:cNvPr id="183" name="Google Shape;183;p6"/>
          <p:cNvSpPr txBox="1"/>
          <p:nvPr/>
        </p:nvSpPr>
        <p:spPr>
          <a:xfrm>
            <a:off x="548640" y="2596896"/>
            <a:ext cx="45720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F5A623"/>
                </a:solidFill>
                <a:latin typeface="Calibri"/>
                <a:ea typeface="Calibri"/>
                <a:cs typeface="Calibri"/>
                <a:sym typeface="Calibri"/>
              </a:rPr>
              <a:t>💻  Ejemplo</a:t>
            </a:r>
            <a:endParaRPr/>
          </a:p>
        </p:txBody>
      </p:sp>
      <p:sp>
        <p:nvSpPr>
          <p:cNvPr id="184" name="Google Shape;184;p6"/>
          <p:cNvSpPr/>
          <p:nvPr/>
        </p:nvSpPr>
        <p:spPr>
          <a:xfrm>
            <a:off x="548640" y="2944368"/>
            <a:ext cx="11094415" cy="2596896"/>
          </a:xfrm>
          <a:prstGeom prst="rect">
            <a:avLst/>
          </a:prstGeom>
          <a:solidFill>
            <a:srgbClr val="0D111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5" name="Google Shape;185;p6"/>
          <p:cNvSpPr/>
          <p:nvPr/>
        </p:nvSpPr>
        <p:spPr>
          <a:xfrm>
            <a:off x="548640" y="2944368"/>
            <a:ext cx="11094415" cy="91440"/>
          </a:xfrm>
          <a:prstGeom prst="rect">
            <a:avLst/>
          </a:prstGeom>
          <a:solidFill>
            <a:srgbClr val="0F9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6" name="Google Shape;186;p6"/>
          <p:cNvSpPr txBox="1"/>
          <p:nvPr/>
        </p:nvSpPr>
        <p:spPr>
          <a:xfrm>
            <a:off x="731520" y="3081528"/>
            <a:ext cx="10820095" cy="23682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tiene_pase_escolar = "si"</a:t>
            </a:r>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saldo_tarjeta_bip = 200</a:t>
            </a:r>
            <a:endParaRPr/>
          </a:p>
          <a:p>
            <a:pPr indent="0" lvl="0" marL="0" marR="0" rtl="0" algn="l">
              <a:spcBef>
                <a:spcPts val="0"/>
              </a:spcBef>
              <a:spcAft>
                <a:spcPts val="0"/>
              </a:spcAft>
              <a:buNone/>
            </a:pPr>
            <a:r>
              <a:t/>
            </a:r>
            <a:endParaRPr b="0" i="0" sz="1400" u="none" cap="none" strike="noStrike">
              <a:solidFill>
                <a:srgbClr val="4ADFCB"/>
              </a:solidFill>
              <a:latin typeface="Consolas"/>
              <a:ea typeface="Consolas"/>
              <a:cs typeface="Consolas"/>
              <a:sym typeface="Consolas"/>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if tiene_pase_escolar == "si":</a:t>
            </a:r>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print("Sube gratis con su pase escolar.")</a:t>
            </a:r>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else:</a:t>
            </a:r>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if saldo_tarjeta_bip &gt;= 800:</a:t>
            </a:r>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print("Paga el pasaje con la tarjeta bip.")</a:t>
            </a:r>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else:</a:t>
            </a:r>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print("No le alcanza el saldo para el pasaje.")</a:t>
            </a:r>
            <a:endParaRPr/>
          </a:p>
          <a:p>
            <a:pPr indent="0" lvl="0" marL="0" marR="0" rtl="0" algn="l">
              <a:spcBef>
                <a:spcPts val="0"/>
              </a:spcBef>
              <a:spcAft>
                <a:spcPts val="0"/>
              </a:spcAft>
              <a:buNone/>
            </a:pPr>
            <a:r>
              <a:rPr b="0" i="0" lang="en-US" sz="1400" u="none" cap="none" strike="noStrike">
                <a:solidFill>
                  <a:srgbClr val="4ADFCB"/>
                </a:solidFill>
                <a:latin typeface="Consolas"/>
                <a:ea typeface="Consolas"/>
                <a:cs typeface="Consolas"/>
                <a:sym typeface="Consolas"/>
              </a:rPr>
              <a:t>  &gt;&gt; Sube gratis con su pase escolar.</a:t>
            </a:r>
            <a:endParaRPr/>
          </a:p>
        </p:txBody>
      </p:sp>
      <p:sp>
        <p:nvSpPr>
          <p:cNvPr id="187" name="Google Shape;187;p6"/>
          <p:cNvSpPr/>
          <p:nvPr/>
        </p:nvSpPr>
        <p:spPr>
          <a:xfrm>
            <a:off x="548640" y="5650992"/>
            <a:ext cx="11094415" cy="1042416"/>
          </a:xfrm>
          <a:prstGeom prst="rect">
            <a:avLst/>
          </a:prstGeom>
          <a:solidFill>
            <a:srgbClr val="1621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8" name="Google Shape;188;p6"/>
          <p:cNvSpPr/>
          <p:nvPr/>
        </p:nvSpPr>
        <p:spPr>
          <a:xfrm>
            <a:off x="548640" y="5650992"/>
            <a:ext cx="73152" cy="1042416"/>
          </a:xfrm>
          <a:prstGeom prst="rect">
            <a:avLst/>
          </a:prstGeom>
          <a:solidFill>
            <a:srgbClr val="F5A6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9" name="Google Shape;189;p6"/>
          <p:cNvSpPr txBox="1"/>
          <p:nvPr/>
        </p:nvSpPr>
        <p:spPr>
          <a:xfrm>
            <a:off x="777240" y="5724144"/>
            <a:ext cx="10728655"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F5A623"/>
                </a:solidFill>
                <a:latin typeface="Calibri"/>
                <a:ea typeface="Calibri"/>
                <a:cs typeface="Calibri"/>
                <a:sym typeface="Calibri"/>
              </a:rPr>
              <a:t>💡  Idea clave</a:t>
            </a:r>
            <a:endParaRPr/>
          </a:p>
        </p:txBody>
      </p:sp>
      <p:sp>
        <p:nvSpPr>
          <p:cNvPr id="190" name="Google Shape;190;p6"/>
          <p:cNvSpPr txBox="1"/>
          <p:nvPr/>
        </p:nvSpPr>
        <p:spPr>
          <a:xfrm>
            <a:off x="777240" y="6044184"/>
            <a:ext cx="10728655" cy="603504"/>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Calibri"/>
                <a:ea typeface="Calibri"/>
                <a:cs typeface="Calibri"/>
                <a:sym typeface="Calibri"/>
              </a:rPr>
              <a:t>Son los mismos datos del Programa 3 del Haz Ahora, y ahora imprime una sola línea. Si escribes las dos preguntas sueltas, la segunda se hace siempre — incluso a quien ya subió con su pase.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7"/>
          <p:cNvSpPr/>
          <p:nvPr/>
        </p:nvSpPr>
        <p:spPr>
          <a:xfrm>
            <a:off x="0" y="0"/>
            <a:ext cx="12191695" cy="6858000"/>
          </a:xfrm>
          <a:prstGeom prst="rect">
            <a:avLst/>
          </a:prstGeom>
          <a:solidFill>
            <a:srgbClr val="1A1A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6" name="Google Shape;196;p7"/>
          <p:cNvSpPr/>
          <p:nvPr/>
        </p:nvSpPr>
        <p:spPr>
          <a:xfrm>
            <a:off x="0" y="0"/>
            <a:ext cx="12191695" cy="502920"/>
          </a:xfrm>
          <a:prstGeom prst="rect">
            <a:avLst/>
          </a:prstGeom>
          <a:solidFill>
            <a:srgbClr val="0F16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7" name="Google Shape;197;p7"/>
          <p:cNvSpPr txBox="1"/>
          <p:nvPr/>
        </p:nvSpPr>
        <p:spPr>
          <a:xfrm>
            <a:off x="411479" y="118872"/>
            <a:ext cx="5486400" cy="3200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94A3B8"/>
                </a:solidFill>
                <a:latin typeface="Consolas"/>
                <a:ea typeface="Consolas"/>
                <a:cs typeface="Consolas"/>
                <a:sym typeface="Consolas"/>
              </a:rPr>
              <a:t>🐍 Python · Clase 19.5</a:t>
            </a:r>
            <a:endParaRPr/>
          </a:p>
        </p:txBody>
      </p:sp>
      <p:sp>
        <p:nvSpPr>
          <p:cNvPr id="198" name="Google Shape;198;p7"/>
          <p:cNvSpPr txBox="1"/>
          <p:nvPr/>
        </p:nvSpPr>
        <p:spPr>
          <a:xfrm>
            <a:off x="8534095" y="118872"/>
            <a:ext cx="3200400" cy="320040"/>
          </a:xfrm>
          <a:prstGeom prst="rect">
            <a:avLst/>
          </a:prstGeom>
          <a:noFill/>
          <a:ln>
            <a:noFill/>
          </a:ln>
        </p:spPr>
        <p:txBody>
          <a:bodyPr anchorCtr="0" anchor="ctr" bIns="45700" lIns="91425" spcFirstLastPara="1" rIns="91425" wrap="square" tIns="45700">
            <a:spAutoFit/>
          </a:bodyPr>
          <a:lstStyle/>
          <a:p>
            <a:pPr indent="0" lvl="0" marL="0" marR="0" rtl="0" algn="r">
              <a:spcBef>
                <a:spcPts val="0"/>
              </a:spcBef>
              <a:spcAft>
                <a:spcPts val="0"/>
              </a:spcAft>
              <a:buNone/>
            </a:pPr>
            <a:r>
              <a:rPr b="1" i="0" lang="en-US" sz="1200" u="none" cap="none" strike="noStrike">
                <a:solidFill>
                  <a:srgbClr val="0F9B8E"/>
                </a:solidFill>
                <a:latin typeface="Consolas"/>
                <a:ea typeface="Consolas"/>
                <a:cs typeface="Consolas"/>
                <a:sym typeface="Consolas"/>
              </a:rPr>
              <a:t>Contenido nuevo</a:t>
            </a:r>
            <a:endParaRPr/>
          </a:p>
        </p:txBody>
      </p:sp>
      <p:sp>
        <p:nvSpPr>
          <p:cNvPr id="199" name="Google Shape;199;p7"/>
          <p:cNvSpPr txBox="1"/>
          <p:nvPr/>
        </p:nvSpPr>
        <p:spPr>
          <a:xfrm>
            <a:off x="548640" y="868680"/>
            <a:ext cx="11094415"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FFFFFF"/>
                </a:solidFill>
                <a:latin typeface="Calibri"/>
                <a:ea typeface="Calibri"/>
                <a:cs typeface="Calibri"/>
                <a:sym typeface="Calibri"/>
              </a:rPr>
              <a:t>📘 4. Probar el valor del borde</a:t>
            </a:r>
            <a:endParaRPr/>
          </a:p>
        </p:txBody>
      </p:sp>
      <p:sp>
        <p:nvSpPr>
          <p:cNvPr id="200" name="Google Shape;200;p7"/>
          <p:cNvSpPr/>
          <p:nvPr/>
        </p:nvSpPr>
        <p:spPr>
          <a:xfrm>
            <a:off x="548640" y="1444752"/>
            <a:ext cx="11094415" cy="1042416"/>
          </a:xfrm>
          <a:prstGeom prst="rect">
            <a:avLst/>
          </a:prstGeom>
          <a:solidFill>
            <a:srgbClr val="1621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1" name="Google Shape;201;p7"/>
          <p:cNvSpPr/>
          <p:nvPr/>
        </p:nvSpPr>
        <p:spPr>
          <a:xfrm>
            <a:off x="548640" y="1444752"/>
            <a:ext cx="73152" cy="1042416"/>
          </a:xfrm>
          <a:prstGeom prst="rect">
            <a:avLst/>
          </a:prstGeom>
          <a:solidFill>
            <a:srgbClr val="0F9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2" name="Google Shape;202;p7"/>
          <p:cNvSpPr txBox="1"/>
          <p:nvPr/>
        </p:nvSpPr>
        <p:spPr>
          <a:xfrm>
            <a:off x="777240" y="1536192"/>
            <a:ext cx="10728655"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0F9B8E"/>
                </a:solidFill>
                <a:latin typeface="Calibri"/>
                <a:ea typeface="Calibri"/>
                <a:cs typeface="Calibri"/>
                <a:sym typeface="Calibri"/>
              </a:rPr>
              <a:t>📘  Definición</a:t>
            </a:r>
            <a:endParaRPr/>
          </a:p>
        </p:txBody>
      </p:sp>
      <p:sp>
        <p:nvSpPr>
          <p:cNvPr id="203" name="Google Shape;203;p7"/>
          <p:cNvSpPr txBox="1"/>
          <p:nvPr/>
        </p:nvSpPr>
        <p:spPr>
          <a:xfrm>
            <a:off x="777240" y="1837943"/>
            <a:ext cx="10728655" cy="5577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Calibri"/>
                <a:ea typeface="Calibri"/>
                <a:cs typeface="Calibri"/>
                <a:sym typeface="Calibri"/>
              </a:rPr>
              <a:t>El borde es el valor exacto donde una condición cambia de resultado. Un programa puede funcionar con todos los ejemplos que le probaste y fallar solo ahí.</a:t>
            </a:r>
            <a:endParaRPr/>
          </a:p>
        </p:txBody>
      </p:sp>
      <p:sp>
        <p:nvSpPr>
          <p:cNvPr id="204" name="Google Shape;204;p7"/>
          <p:cNvSpPr txBox="1"/>
          <p:nvPr/>
        </p:nvSpPr>
        <p:spPr>
          <a:xfrm>
            <a:off x="548640" y="2596896"/>
            <a:ext cx="45720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F5A623"/>
                </a:solidFill>
                <a:latin typeface="Calibri"/>
                <a:ea typeface="Calibri"/>
                <a:cs typeface="Calibri"/>
                <a:sym typeface="Calibri"/>
              </a:rPr>
              <a:t>💻  Ejemplo</a:t>
            </a:r>
            <a:endParaRPr/>
          </a:p>
        </p:txBody>
      </p:sp>
      <p:sp>
        <p:nvSpPr>
          <p:cNvPr id="205" name="Google Shape;205;p7"/>
          <p:cNvSpPr/>
          <p:nvPr/>
        </p:nvSpPr>
        <p:spPr>
          <a:xfrm>
            <a:off x="548640" y="2944368"/>
            <a:ext cx="11094415" cy="2534919"/>
          </a:xfrm>
          <a:prstGeom prst="rect">
            <a:avLst/>
          </a:prstGeom>
          <a:solidFill>
            <a:srgbClr val="0D111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6" name="Google Shape;206;p7"/>
          <p:cNvSpPr/>
          <p:nvPr/>
        </p:nvSpPr>
        <p:spPr>
          <a:xfrm>
            <a:off x="548640" y="2944368"/>
            <a:ext cx="11094415" cy="91440"/>
          </a:xfrm>
          <a:prstGeom prst="rect">
            <a:avLst/>
          </a:prstGeom>
          <a:solidFill>
            <a:srgbClr val="0F9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7" name="Google Shape;207;p7"/>
          <p:cNvSpPr txBox="1"/>
          <p:nvPr/>
        </p:nvSpPr>
        <p:spPr>
          <a:xfrm>
            <a:off x="731520" y="3081528"/>
            <a:ext cx="10820095" cy="2306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4ADFCB"/>
                </a:solidFill>
                <a:latin typeface="Consolas"/>
                <a:ea typeface="Consolas"/>
                <a:cs typeface="Consolas"/>
                <a:sym typeface="Consolas"/>
              </a:rPr>
              <a:t>  puntaje_equipo = 18</a:t>
            </a:r>
            <a:endParaRPr/>
          </a:p>
          <a:p>
            <a:pPr indent="0" lvl="0" marL="0" marR="0" rtl="0" algn="l">
              <a:spcBef>
                <a:spcPts val="0"/>
              </a:spcBef>
              <a:spcAft>
                <a:spcPts val="0"/>
              </a:spcAft>
              <a:buNone/>
            </a:pPr>
            <a:r>
              <a:rPr b="0" i="0" lang="en-US" sz="1800" u="none" cap="none" strike="noStrike">
                <a:solidFill>
                  <a:srgbClr val="4ADFCB"/>
                </a:solidFill>
                <a:latin typeface="Consolas"/>
                <a:ea typeface="Consolas"/>
                <a:cs typeface="Consolas"/>
                <a:sym typeface="Consolas"/>
              </a:rPr>
              <a:t>  puntaje_minimo_clasificacion = 18</a:t>
            </a:r>
            <a:endParaRPr/>
          </a:p>
          <a:p>
            <a:pPr indent="0" lvl="0" marL="0" marR="0" rtl="0" algn="l">
              <a:spcBef>
                <a:spcPts val="0"/>
              </a:spcBef>
              <a:spcAft>
                <a:spcPts val="0"/>
              </a:spcAft>
              <a:buNone/>
            </a:pPr>
            <a:r>
              <a:t/>
            </a:r>
            <a:endParaRPr b="0" i="0" sz="1800" u="none" cap="none" strike="noStrike">
              <a:solidFill>
                <a:srgbClr val="4ADFCB"/>
              </a:solidFill>
              <a:latin typeface="Consolas"/>
              <a:ea typeface="Consolas"/>
              <a:cs typeface="Consolas"/>
              <a:sym typeface="Consolas"/>
            </a:endParaRPr>
          </a:p>
          <a:p>
            <a:pPr indent="0" lvl="0" marL="0" marR="0" rtl="0" algn="l">
              <a:spcBef>
                <a:spcPts val="0"/>
              </a:spcBef>
              <a:spcAft>
                <a:spcPts val="0"/>
              </a:spcAft>
              <a:buNone/>
            </a:pPr>
            <a:r>
              <a:rPr b="0" i="0" lang="en-US" sz="1800" u="none" cap="none" strike="noStrike">
                <a:solidFill>
                  <a:srgbClr val="4ADFCB"/>
                </a:solidFill>
                <a:latin typeface="Consolas"/>
                <a:ea typeface="Consolas"/>
                <a:cs typeface="Consolas"/>
                <a:sym typeface="Consolas"/>
              </a:rPr>
              <a:t>  if puntaje_equipo &gt;= puntaje_minimo_clasificacion:</a:t>
            </a:r>
            <a:endParaRPr/>
          </a:p>
          <a:p>
            <a:pPr indent="0" lvl="0" marL="0" marR="0" rtl="0" algn="l">
              <a:spcBef>
                <a:spcPts val="0"/>
              </a:spcBef>
              <a:spcAft>
                <a:spcPts val="0"/>
              </a:spcAft>
              <a:buNone/>
            </a:pPr>
            <a:r>
              <a:rPr b="0" i="0" lang="en-US" sz="1800" u="none" cap="none" strike="noStrike">
                <a:solidFill>
                  <a:srgbClr val="4ADFCB"/>
                </a:solidFill>
                <a:latin typeface="Consolas"/>
                <a:ea typeface="Consolas"/>
                <a:cs typeface="Consolas"/>
                <a:sym typeface="Consolas"/>
              </a:rPr>
              <a:t>      print("Resultado del torneo:", "El equipo clasifica a semifinales.")</a:t>
            </a:r>
            <a:endParaRPr/>
          </a:p>
          <a:p>
            <a:pPr indent="0" lvl="0" marL="0" marR="0" rtl="0" algn="l">
              <a:spcBef>
                <a:spcPts val="0"/>
              </a:spcBef>
              <a:spcAft>
                <a:spcPts val="0"/>
              </a:spcAft>
              <a:buNone/>
            </a:pPr>
            <a:r>
              <a:rPr b="0" i="0" lang="en-US" sz="1800" u="none" cap="none" strike="noStrike">
                <a:solidFill>
                  <a:srgbClr val="4ADFCB"/>
                </a:solidFill>
                <a:latin typeface="Consolas"/>
                <a:ea typeface="Consolas"/>
                <a:cs typeface="Consolas"/>
                <a:sym typeface="Consolas"/>
              </a:rPr>
              <a:t>  else:</a:t>
            </a:r>
            <a:endParaRPr/>
          </a:p>
          <a:p>
            <a:pPr indent="0" lvl="0" marL="0" marR="0" rtl="0" algn="l">
              <a:spcBef>
                <a:spcPts val="0"/>
              </a:spcBef>
              <a:spcAft>
                <a:spcPts val="0"/>
              </a:spcAft>
              <a:buNone/>
            </a:pPr>
            <a:r>
              <a:rPr b="0" i="0" lang="en-US" sz="1800" u="none" cap="none" strike="noStrike">
                <a:solidFill>
                  <a:srgbClr val="4ADFCB"/>
                </a:solidFill>
                <a:latin typeface="Consolas"/>
                <a:ea typeface="Consolas"/>
                <a:cs typeface="Consolas"/>
                <a:sym typeface="Consolas"/>
              </a:rPr>
              <a:t>      print("Resultado del torneo:", "El equipo queda eliminado.")</a:t>
            </a:r>
            <a:endParaRPr/>
          </a:p>
          <a:p>
            <a:pPr indent="0" lvl="0" marL="0" marR="0" rtl="0" algn="l">
              <a:spcBef>
                <a:spcPts val="0"/>
              </a:spcBef>
              <a:spcAft>
                <a:spcPts val="0"/>
              </a:spcAft>
              <a:buNone/>
            </a:pPr>
            <a:r>
              <a:rPr b="0" i="0" lang="en-US" sz="1800" u="none" cap="none" strike="noStrike">
                <a:solidFill>
                  <a:srgbClr val="4ADFCB"/>
                </a:solidFill>
                <a:latin typeface="Consolas"/>
                <a:ea typeface="Consolas"/>
                <a:cs typeface="Consolas"/>
                <a:sym typeface="Consolas"/>
              </a:rPr>
              <a:t>  &gt;&gt; Resultado del torneo: El equipo clasifica a semifinales.</a:t>
            </a:r>
            <a:endParaRPr/>
          </a:p>
        </p:txBody>
      </p:sp>
      <p:sp>
        <p:nvSpPr>
          <p:cNvPr id="208" name="Google Shape;208;p7"/>
          <p:cNvSpPr/>
          <p:nvPr/>
        </p:nvSpPr>
        <p:spPr>
          <a:xfrm>
            <a:off x="548640" y="5589016"/>
            <a:ext cx="11094415" cy="1104392"/>
          </a:xfrm>
          <a:prstGeom prst="rect">
            <a:avLst/>
          </a:prstGeom>
          <a:solidFill>
            <a:srgbClr val="1621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9" name="Google Shape;209;p7"/>
          <p:cNvSpPr/>
          <p:nvPr/>
        </p:nvSpPr>
        <p:spPr>
          <a:xfrm>
            <a:off x="548640" y="5589016"/>
            <a:ext cx="73152" cy="1104392"/>
          </a:xfrm>
          <a:prstGeom prst="rect">
            <a:avLst/>
          </a:prstGeom>
          <a:solidFill>
            <a:srgbClr val="F5A6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0" name="Google Shape;210;p7"/>
          <p:cNvSpPr txBox="1"/>
          <p:nvPr/>
        </p:nvSpPr>
        <p:spPr>
          <a:xfrm>
            <a:off x="777240" y="5662168"/>
            <a:ext cx="10728655"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F5A623"/>
                </a:solidFill>
                <a:latin typeface="Calibri"/>
                <a:ea typeface="Calibri"/>
                <a:cs typeface="Calibri"/>
                <a:sym typeface="Calibri"/>
              </a:rPr>
              <a:t>💡  Idea clave</a:t>
            </a:r>
            <a:endParaRPr/>
          </a:p>
        </p:txBody>
      </p:sp>
      <p:sp>
        <p:nvSpPr>
          <p:cNvPr id="211" name="Google Shape;211;p7"/>
          <p:cNvSpPr txBox="1"/>
          <p:nvPr/>
        </p:nvSpPr>
        <p:spPr>
          <a:xfrm>
            <a:off x="777240" y="5982208"/>
            <a:ext cx="10728655" cy="66548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Cuando termines de escribir, prueba el valor exacto del borde. En estos programas son 14, 7, 3, 18 y 800.</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8"/>
          <p:cNvSpPr/>
          <p:nvPr/>
        </p:nvSpPr>
        <p:spPr>
          <a:xfrm>
            <a:off x="0" y="0"/>
            <a:ext cx="12191695" cy="6858000"/>
          </a:xfrm>
          <a:prstGeom prst="rect">
            <a:avLst/>
          </a:prstGeom>
          <a:solidFill>
            <a:srgbClr val="1A1A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7" name="Google Shape;217;p8"/>
          <p:cNvSpPr/>
          <p:nvPr/>
        </p:nvSpPr>
        <p:spPr>
          <a:xfrm>
            <a:off x="0" y="0"/>
            <a:ext cx="12191695" cy="502920"/>
          </a:xfrm>
          <a:prstGeom prst="rect">
            <a:avLst/>
          </a:prstGeom>
          <a:solidFill>
            <a:srgbClr val="0F16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8" name="Google Shape;218;p8"/>
          <p:cNvSpPr txBox="1"/>
          <p:nvPr/>
        </p:nvSpPr>
        <p:spPr>
          <a:xfrm>
            <a:off x="411479" y="118872"/>
            <a:ext cx="5486400" cy="3200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94A3B8"/>
                </a:solidFill>
                <a:latin typeface="Consolas"/>
                <a:ea typeface="Consolas"/>
                <a:cs typeface="Consolas"/>
                <a:sym typeface="Consolas"/>
              </a:rPr>
              <a:t>🐍 Python · Clase 19.5</a:t>
            </a:r>
            <a:endParaRPr/>
          </a:p>
        </p:txBody>
      </p:sp>
      <p:sp>
        <p:nvSpPr>
          <p:cNvPr id="219" name="Google Shape;219;p8"/>
          <p:cNvSpPr txBox="1"/>
          <p:nvPr/>
        </p:nvSpPr>
        <p:spPr>
          <a:xfrm>
            <a:off x="8534095" y="118872"/>
            <a:ext cx="3200400" cy="320040"/>
          </a:xfrm>
          <a:prstGeom prst="rect">
            <a:avLst/>
          </a:prstGeom>
          <a:noFill/>
          <a:ln>
            <a:noFill/>
          </a:ln>
        </p:spPr>
        <p:txBody>
          <a:bodyPr anchorCtr="0" anchor="ctr" bIns="45700" lIns="91425" spcFirstLastPara="1" rIns="91425" wrap="square" tIns="45700">
            <a:spAutoFit/>
          </a:bodyPr>
          <a:lstStyle/>
          <a:p>
            <a:pPr indent="0" lvl="0" marL="0" marR="0" rtl="0" algn="r">
              <a:spcBef>
                <a:spcPts val="0"/>
              </a:spcBef>
              <a:spcAft>
                <a:spcPts val="0"/>
              </a:spcAft>
              <a:buNone/>
            </a:pPr>
            <a:r>
              <a:rPr b="1" i="0" lang="en-US" sz="1200" u="none" cap="none" strike="noStrike">
                <a:solidFill>
                  <a:srgbClr val="0F9B8E"/>
                </a:solidFill>
                <a:latin typeface="Consolas"/>
                <a:ea typeface="Consolas"/>
                <a:cs typeface="Consolas"/>
                <a:sym typeface="Consolas"/>
              </a:rPr>
              <a:t>Contenido nuevo</a:t>
            </a:r>
            <a:endParaRPr/>
          </a:p>
        </p:txBody>
      </p:sp>
      <p:sp>
        <p:nvSpPr>
          <p:cNvPr id="220" name="Google Shape;220;p8"/>
          <p:cNvSpPr txBox="1"/>
          <p:nvPr/>
        </p:nvSpPr>
        <p:spPr>
          <a:xfrm>
            <a:off x="548640" y="566928"/>
            <a:ext cx="11094415"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 Conceptos 1–4</a:t>
            </a:r>
            <a:endParaRPr/>
          </a:p>
        </p:txBody>
      </p:sp>
      <p:sp>
        <p:nvSpPr>
          <p:cNvPr id="221" name="Google Shape;221;p8"/>
          <p:cNvSpPr/>
          <p:nvPr/>
        </p:nvSpPr>
        <p:spPr>
          <a:xfrm>
            <a:off x="548640" y="1115568"/>
            <a:ext cx="5212080" cy="5486400"/>
          </a:xfrm>
          <a:prstGeom prst="rect">
            <a:avLst/>
          </a:prstGeom>
          <a:solidFill>
            <a:srgbClr val="1621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2" name="Google Shape;222;p8"/>
          <p:cNvSpPr/>
          <p:nvPr/>
        </p:nvSpPr>
        <p:spPr>
          <a:xfrm>
            <a:off x="548640" y="1115568"/>
            <a:ext cx="73152" cy="5486400"/>
          </a:xfrm>
          <a:prstGeom prst="rect">
            <a:avLst/>
          </a:prstGeom>
          <a:solidFill>
            <a:srgbClr val="0F9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3" name="Google Shape;223;p8"/>
          <p:cNvSpPr txBox="1"/>
          <p:nvPr/>
        </p:nvSpPr>
        <p:spPr>
          <a:xfrm>
            <a:off x="749808" y="1298448"/>
            <a:ext cx="4919472" cy="5212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Calibri"/>
                <a:ea typeface="Calibri"/>
                <a:cs typeface="Calibri"/>
                <a:sym typeface="Calibri"/>
              </a:rPr>
              <a:t>📘 1. Independientes — varios </a:t>
            </a:r>
            <a:r>
              <a:rPr b="0" i="0" lang="en-US" sz="1800" u="none" cap="none" strike="noStrike">
                <a:solidFill>
                  <a:srgbClr val="4ADFCB"/>
                </a:solidFill>
                <a:latin typeface="Consolas"/>
                <a:ea typeface="Consolas"/>
                <a:cs typeface="Consolas"/>
                <a:sym typeface="Consolas"/>
              </a:rPr>
              <a:t>if</a:t>
            </a:r>
            <a:r>
              <a:rPr b="0" i="0" lang="en-US" sz="1800" u="none" cap="none" strike="noStrike">
                <a:solidFill>
                  <a:srgbClr val="FFFFFF"/>
                </a:solidFill>
                <a:latin typeface="Calibri"/>
                <a:ea typeface="Calibri"/>
                <a:cs typeface="Calibri"/>
                <a:sym typeface="Calibri"/>
              </a:rPr>
              <a:t> seguidos</a:t>
            </a:r>
            <a:br>
              <a:rPr b="0" i="0" lang="en-US" sz="1800" u="none" cap="none" strike="noStrike">
                <a:solidFill>
                  <a:srgbClr val="FFFFFF"/>
                </a:solidFill>
                <a:latin typeface="Calibri"/>
                <a:ea typeface="Calibri"/>
                <a:cs typeface="Calibri"/>
                <a:sym typeface="Calibri"/>
              </a:rPr>
            </a:br>
            <a:r>
              <a:rPr b="0" i="0" lang="en-US" sz="1800" u="none" cap="none" strike="noStrike">
                <a:solidFill>
                  <a:srgbClr val="FFFFFF"/>
                </a:solidFill>
                <a:latin typeface="Calibri"/>
                <a:ea typeface="Calibri"/>
                <a:cs typeface="Calibri"/>
                <a:sym typeface="Calibri"/>
              </a:rPr>
              <a:t>    Cuando dos preguntas no tienen nada que ver entre sí, cada una va en su propio </a:t>
            </a:r>
            <a:r>
              <a:rPr b="0" i="0" lang="en-US" sz="1800" u="none" cap="none" strike="noStrike">
                <a:solidFill>
                  <a:srgbClr val="4ADFCB"/>
                </a:solidFill>
                <a:latin typeface="Consolas"/>
                <a:ea typeface="Consolas"/>
                <a:cs typeface="Consolas"/>
                <a:sym typeface="Consolas"/>
              </a:rPr>
              <a:t>if</a:t>
            </a:r>
            <a:r>
              <a:rPr b="0" i="0" lang="en-US" sz="1800" u="none" cap="none" strike="noStrike">
                <a:solidFill>
                  <a:srgbClr val="FFFFFF"/>
                </a:solidFill>
                <a:latin typeface="Calibri"/>
                <a:ea typeface="Calibri"/>
                <a:cs typeface="Calibri"/>
                <a:sym typeface="Calibri"/>
              </a:rPr>
              <a:t>.</a:t>
            </a:r>
            <a:br>
              <a:rPr b="0" i="0" lang="en-US" sz="1800" u="none" cap="none" strike="noStrike">
                <a:solidFill>
                  <a:srgbClr val="FFFFFF"/>
                </a:solidFill>
                <a:latin typeface="Calibri"/>
                <a:ea typeface="Calibri"/>
                <a:cs typeface="Calibri"/>
                <a:sym typeface="Calibri"/>
              </a:rPr>
            </a:br>
            <a:br>
              <a:rPr b="0" i="0" lang="en-US" sz="1800" u="none" cap="none" strike="noStrike">
                <a:solidFill>
                  <a:srgbClr val="FFFFFF"/>
                </a:solidFill>
                <a:latin typeface="Calibri"/>
                <a:ea typeface="Calibri"/>
                <a:cs typeface="Calibri"/>
                <a:sym typeface="Calibri"/>
              </a:rPr>
            </a:br>
            <a:r>
              <a:rPr b="0" i="0" lang="en-US" sz="1800" u="none" cap="none" strike="noStrike">
                <a:solidFill>
                  <a:srgbClr val="FFFFFF"/>
                </a:solidFill>
                <a:latin typeface="Calibri"/>
                <a:ea typeface="Calibri"/>
                <a:cs typeface="Calibri"/>
                <a:sym typeface="Calibri"/>
              </a:rPr>
              <a:t>📘 2. Excluyentes — </a:t>
            </a:r>
            <a:r>
              <a:rPr b="0" i="0" lang="en-US" sz="1800" u="none" cap="none" strike="noStrike">
                <a:solidFill>
                  <a:srgbClr val="4ADFCB"/>
                </a:solidFill>
                <a:latin typeface="Consolas"/>
                <a:ea typeface="Consolas"/>
                <a:cs typeface="Consolas"/>
                <a:sym typeface="Consolas"/>
              </a:rPr>
              <a:t>if / elif / else</a:t>
            </a:r>
            <a:r>
              <a:rPr b="0" i="0" lang="en-US" sz="1800" u="none" cap="none" strike="noStrike">
                <a:solidFill>
                  <a:srgbClr val="FFFFFF"/>
                </a:solidFill>
                <a:latin typeface="Calibri"/>
                <a:ea typeface="Calibri"/>
                <a:cs typeface="Calibri"/>
                <a:sym typeface="Calibri"/>
              </a:rPr>
              <a:t>, y el orden decide</a:t>
            </a:r>
            <a:br>
              <a:rPr b="0" i="0" lang="en-US" sz="1800" u="none" cap="none" strike="noStrike">
                <a:solidFill>
                  <a:srgbClr val="FFFFFF"/>
                </a:solidFill>
                <a:latin typeface="Calibri"/>
                <a:ea typeface="Calibri"/>
                <a:cs typeface="Calibri"/>
                <a:sym typeface="Calibri"/>
              </a:rPr>
            </a:br>
            <a:r>
              <a:rPr b="0" i="0" lang="en-US" sz="1800" u="none" cap="none" strike="noStrike">
                <a:solidFill>
                  <a:srgbClr val="FFFFFF"/>
                </a:solidFill>
                <a:latin typeface="Calibri"/>
                <a:ea typeface="Calibri"/>
                <a:cs typeface="Calibri"/>
                <a:sym typeface="Calibri"/>
              </a:rPr>
              <a:t>    Cuando las preguntas son distintas versiones de lo mismo y solo una puede ser la respuesta, van encadenadas con </a:t>
            </a:r>
            <a:r>
              <a:rPr b="0" i="0" lang="en-US" sz="1800" u="none" cap="none" strike="noStrike">
                <a:solidFill>
                  <a:srgbClr val="4ADFCB"/>
                </a:solidFill>
                <a:latin typeface="Consolas"/>
                <a:ea typeface="Consolas"/>
                <a:cs typeface="Consolas"/>
                <a:sym typeface="Consolas"/>
              </a:rPr>
              <a:t>elif</a:t>
            </a:r>
            <a:r>
              <a:rPr b="0" i="0" lang="en-US" sz="1800" u="none" cap="none" strike="noStrike">
                <a:solidFill>
                  <a:srgbClr val="FFFFFF"/>
                </a:solidFill>
                <a:latin typeface="Calibri"/>
                <a:ea typeface="Calibri"/>
                <a:cs typeface="Calibri"/>
                <a:sym typeface="Calibri"/>
              </a:rPr>
              <a:t>.</a:t>
            </a:r>
            <a:br>
              <a:rPr b="0" i="0" lang="en-US" sz="1800" u="none" cap="none" strike="noStrike">
                <a:solidFill>
                  <a:srgbClr val="FFFFFF"/>
                </a:solidFill>
                <a:latin typeface="Calibri"/>
                <a:ea typeface="Calibri"/>
                <a:cs typeface="Calibri"/>
                <a:sym typeface="Calibri"/>
              </a:rPr>
            </a:br>
            <a:br>
              <a:rPr b="0" i="0" lang="en-US" sz="1800" u="none" cap="none" strike="noStrike">
                <a:solidFill>
                  <a:srgbClr val="FFFFFF"/>
                </a:solidFill>
                <a:latin typeface="Calibri"/>
                <a:ea typeface="Calibri"/>
                <a:cs typeface="Calibri"/>
                <a:sym typeface="Calibri"/>
              </a:rPr>
            </a:br>
            <a:r>
              <a:rPr b="0" i="0" lang="en-US" sz="1800" u="none" cap="none" strike="noStrike">
                <a:solidFill>
                  <a:srgbClr val="FFFFFF"/>
                </a:solidFill>
                <a:latin typeface="Calibri"/>
                <a:ea typeface="Calibri"/>
                <a:cs typeface="Calibri"/>
                <a:sym typeface="Calibri"/>
              </a:rPr>
              <a:t>📘 3. Una depende de la otra — </a:t>
            </a:r>
            <a:r>
              <a:rPr b="0" i="0" lang="en-US" sz="1800" u="none" cap="none" strike="noStrike">
                <a:solidFill>
                  <a:srgbClr val="4ADFCB"/>
                </a:solidFill>
                <a:latin typeface="Consolas"/>
                <a:ea typeface="Consolas"/>
                <a:cs typeface="Consolas"/>
                <a:sym typeface="Consolas"/>
              </a:rPr>
              <a:t>if</a:t>
            </a:r>
            <a:r>
              <a:rPr b="0" i="0" lang="en-US" sz="1800" u="none" cap="none" strike="noStrike">
                <a:solidFill>
                  <a:srgbClr val="FFFFFF"/>
                </a:solidFill>
                <a:latin typeface="Calibri"/>
                <a:ea typeface="Calibri"/>
                <a:cs typeface="Calibri"/>
                <a:sym typeface="Calibri"/>
              </a:rPr>
              <a:t> anidado</a:t>
            </a:r>
            <a:br>
              <a:rPr b="0" i="0" lang="en-US" sz="1800" u="none" cap="none" strike="noStrike">
                <a:solidFill>
                  <a:srgbClr val="FFFFFF"/>
                </a:solidFill>
                <a:latin typeface="Calibri"/>
                <a:ea typeface="Calibri"/>
                <a:cs typeface="Calibri"/>
                <a:sym typeface="Calibri"/>
              </a:rPr>
            </a:br>
            <a:r>
              <a:rPr b="0" i="0" lang="en-US" sz="1800" u="none" cap="none" strike="noStrike">
                <a:solidFill>
                  <a:srgbClr val="FFFFFF"/>
                </a:solidFill>
                <a:latin typeface="Calibri"/>
                <a:ea typeface="Calibri"/>
                <a:cs typeface="Calibri"/>
                <a:sym typeface="Calibri"/>
              </a:rPr>
              <a:t>    Cuando la segunda pregunta solo tiene sentido si la primera resultó de cierta manera, la segunda va escrita **dentro** de la primera.</a:t>
            </a:r>
            <a:br>
              <a:rPr b="0" i="0" lang="en-US" sz="1800" u="none" cap="none" strike="noStrike">
                <a:solidFill>
                  <a:srgbClr val="FFFFFF"/>
                </a:solidFill>
                <a:latin typeface="Calibri"/>
                <a:ea typeface="Calibri"/>
                <a:cs typeface="Calibri"/>
                <a:sym typeface="Calibri"/>
              </a:rPr>
            </a:br>
            <a:br>
              <a:rPr b="0" i="0" lang="en-US" sz="1800" u="none" cap="none" strike="noStrike">
                <a:solidFill>
                  <a:srgbClr val="FFFFFF"/>
                </a:solidFill>
                <a:latin typeface="Calibri"/>
                <a:ea typeface="Calibri"/>
                <a:cs typeface="Calibri"/>
                <a:sym typeface="Calibri"/>
              </a:rPr>
            </a:br>
            <a:r>
              <a:rPr b="0" i="0" lang="en-US" sz="1800" u="none" cap="none" strike="noStrike">
                <a:solidFill>
                  <a:srgbClr val="FFFFFF"/>
                </a:solidFill>
                <a:latin typeface="Calibri"/>
                <a:ea typeface="Calibri"/>
                <a:cs typeface="Calibri"/>
                <a:sym typeface="Calibri"/>
              </a:rPr>
              <a:t>📘 4. Probar el valor del borde</a:t>
            </a:r>
            <a:br>
              <a:rPr b="0" i="0" lang="en-US" sz="1800" u="none" cap="none" strike="noStrike">
                <a:solidFill>
                  <a:srgbClr val="FFFFFF"/>
                </a:solidFill>
                <a:latin typeface="Calibri"/>
                <a:ea typeface="Calibri"/>
                <a:cs typeface="Calibri"/>
                <a:sym typeface="Calibri"/>
              </a:rPr>
            </a:br>
            <a:r>
              <a:rPr b="0" i="0" lang="en-US" sz="1800" u="none" cap="none" strike="noStrike">
                <a:solidFill>
                  <a:srgbClr val="FFFFFF"/>
                </a:solidFill>
                <a:latin typeface="Calibri"/>
                <a:ea typeface="Calibri"/>
                <a:cs typeface="Calibri"/>
                <a:sym typeface="Calibri"/>
              </a:rPr>
              <a:t>    El borde es el valor exacto donde una condición cambia de resultado.</a:t>
            </a:r>
            <a:endParaRPr/>
          </a:p>
        </p:txBody>
      </p:sp>
      <p:sp>
        <p:nvSpPr>
          <p:cNvPr id="224" name="Google Shape;224;p8"/>
          <p:cNvSpPr/>
          <p:nvPr/>
        </p:nvSpPr>
        <p:spPr>
          <a:xfrm>
            <a:off x="5961888" y="1115568"/>
            <a:ext cx="5681167" cy="5486400"/>
          </a:xfrm>
          <a:prstGeom prst="rect">
            <a:avLst/>
          </a:prstGeom>
          <a:solidFill>
            <a:srgbClr val="0D111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5" name="Google Shape;225;p8"/>
          <p:cNvSpPr/>
          <p:nvPr/>
        </p:nvSpPr>
        <p:spPr>
          <a:xfrm>
            <a:off x="5961888" y="1115568"/>
            <a:ext cx="5681167" cy="91440"/>
          </a:xfrm>
          <a:prstGeom prst="rect">
            <a:avLst/>
          </a:prstGeom>
          <a:solidFill>
            <a:srgbClr val="0F9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6" name="Google Shape;226;p8"/>
          <p:cNvSpPr txBox="1"/>
          <p:nvPr/>
        </p:nvSpPr>
        <p:spPr>
          <a:xfrm>
            <a:off x="6126479" y="1298448"/>
            <a:ext cx="5425135" cy="5212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4ADFCB"/>
                </a:solidFill>
                <a:latin typeface="Consolas"/>
                <a:ea typeface="Consolas"/>
                <a:cs typeface="Consolas"/>
                <a:sym typeface="Consolas"/>
              </a:rPr>
              <a:t>  bateria_baja = True</a:t>
            </a:r>
            <a:endParaRPr/>
          </a:p>
          <a:p>
            <a:pPr indent="0" lvl="0" marL="0" marR="0" rtl="0" algn="l">
              <a:spcBef>
                <a:spcPts val="0"/>
              </a:spcBef>
              <a:spcAft>
                <a:spcPts val="0"/>
              </a:spcAft>
              <a:buNone/>
            </a:pPr>
            <a:r>
              <a:rPr b="0" i="0" lang="en-US" sz="1800" u="none" cap="none" strike="noStrike">
                <a:solidFill>
                  <a:srgbClr val="4ADFCB"/>
                </a:solidFill>
                <a:latin typeface="Consolas"/>
                <a:ea typeface="Consolas"/>
                <a:cs typeface="Consolas"/>
                <a:sym typeface="Consolas"/>
              </a:rPr>
              <a:t>  hay_wifi_disponible = True</a:t>
            </a:r>
            <a:endParaRPr/>
          </a:p>
          <a:p>
            <a:pPr indent="0" lvl="0" marL="0" marR="0" rtl="0" algn="l">
              <a:spcBef>
                <a:spcPts val="0"/>
              </a:spcBef>
              <a:spcAft>
                <a:spcPts val="0"/>
              </a:spcAft>
              <a:buNone/>
            </a:pPr>
            <a:r>
              <a:t/>
            </a:r>
            <a:endParaRPr b="0" i="0" sz="1800" u="none" cap="none" strike="noStrike">
              <a:solidFill>
                <a:srgbClr val="4ADFCB"/>
              </a:solidFill>
              <a:latin typeface="Consolas"/>
              <a:ea typeface="Consolas"/>
              <a:cs typeface="Consolas"/>
              <a:sym typeface="Consolas"/>
            </a:endParaRPr>
          </a:p>
          <a:p>
            <a:pPr indent="0" lvl="0" marL="0" marR="0" rtl="0" algn="l">
              <a:spcBef>
                <a:spcPts val="0"/>
              </a:spcBef>
              <a:spcAft>
                <a:spcPts val="0"/>
              </a:spcAft>
              <a:buNone/>
            </a:pPr>
            <a:r>
              <a:rPr b="0" i="0" lang="en-US" sz="1800" u="none" cap="none" strike="noStrike">
                <a:solidFill>
                  <a:srgbClr val="4ADFCB"/>
                </a:solidFill>
                <a:latin typeface="Consolas"/>
                <a:ea typeface="Consolas"/>
                <a:cs typeface="Consolas"/>
                <a:sym typeface="Consolas"/>
              </a:rPr>
              <a:t>  if bateria_baja == True:</a:t>
            </a:r>
            <a:endParaRPr/>
          </a:p>
          <a:p>
            <a:pPr indent="0" lvl="0" marL="0" marR="0" rtl="0" algn="l">
              <a:spcBef>
                <a:spcPts val="0"/>
              </a:spcBef>
              <a:spcAft>
                <a:spcPts val="0"/>
              </a:spcAft>
              <a:buNone/>
            </a:pPr>
            <a:r>
              <a:rPr b="0" i="0" lang="en-US" sz="1800" u="none" cap="none" strike="noStrike">
                <a:solidFill>
                  <a:srgbClr val="4ADFCB"/>
                </a:solidFill>
                <a:latin typeface="Consolas"/>
                <a:ea typeface="Consolas"/>
                <a:cs typeface="Consolas"/>
                <a:sym typeface="Consolas"/>
              </a:rPr>
              <a:t>      print("Queda poca batería.")</a:t>
            </a:r>
            <a:endParaRPr/>
          </a:p>
          <a:p>
            <a:pPr indent="0" lvl="0" marL="0" marR="0" rtl="0" algn="l">
              <a:spcBef>
                <a:spcPts val="0"/>
              </a:spcBef>
              <a:spcAft>
                <a:spcPts val="0"/>
              </a:spcAft>
              <a:buNone/>
            </a:pPr>
            <a:r>
              <a:rPr b="0" i="0" lang="en-US" sz="1800" u="none" cap="none" strike="noStrike">
                <a:solidFill>
                  <a:srgbClr val="4ADFCB"/>
                </a:solidFill>
                <a:latin typeface="Consolas"/>
                <a:ea typeface="Consolas"/>
                <a:cs typeface="Consolas"/>
                <a:sym typeface="Consolas"/>
              </a:rPr>
              <a:t>  &gt;&gt; Queda poca batería.</a:t>
            </a:r>
            <a:endParaRPr/>
          </a:p>
          <a:p>
            <a:pPr indent="0" lvl="0" marL="0" marR="0" rtl="0" algn="l">
              <a:spcBef>
                <a:spcPts val="0"/>
              </a:spcBef>
              <a:spcAft>
                <a:spcPts val="0"/>
              </a:spcAft>
              <a:buNone/>
            </a:pPr>
            <a:r>
              <a:t/>
            </a:r>
            <a:endParaRPr b="0" i="0" sz="1800" u="none" cap="none" strike="noStrike">
              <a:solidFill>
                <a:srgbClr val="4ADFCB"/>
              </a:solidFill>
              <a:latin typeface="Consolas"/>
              <a:ea typeface="Consolas"/>
              <a:cs typeface="Consolas"/>
              <a:sym typeface="Consolas"/>
            </a:endParaRPr>
          </a:p>
          <a:p>
            <a:pPr indent="0" lvl="0" marL="0" marR="0" rtl="0" algn="l">
              <a:spcBef>
                <a:spcPts val="0"/>
              </a:spcBef>
              <a:spcAft>
                <a:spcPts val="0"/>
              </a:spcAft>
              <a:buNone/>
            </a:pPr>
            <a:r>
              <a:rPr b="0" i="0" lang="en-US" sz="1800" u="none" cap="none" strike="noStrike">
                <a:solidFill>
                  <a:srgbClr val="4ADFCB"/>
                </a:solidFill>
                <a:latin typeface="Consolas"/>
                <a:ea typeface="Consolas"/>
                <a:cs typeface="Consolas"/>
                <a:sym typeface="Consolas"/>
              </a:rPr>
              <a:t>  if hay_wifi_disponible == True:</a:t>
            </a:r>
            <a:endParaRPr/>
          </a:p>
          <a:p>
            <a:pPr indent="0" lvl="0" marL="0" marR="0" rtl="0" algn="l">
              <a:spcBef>
                <a:spcPts val="0"/>
              </a:spcBef>
              <a:spcAft>
                <a:spcPts val="0"/>
              </a:spcAft>
              <a:buNone/>
            </a:pPr>
            <a:r>
              <a:rPr b="0" i="0" lang="en-US" sz="1800" u="none" cap="none" strike="noStrike">
                <a:solidFill>
                  <a:srgbClr val="4ADFCB"/>
                </a:solidFill>
                <a:latin typeface="Consolas"/>
                <a:ea typeface="Consolas"/>
                <a:cs typeface="Consolas"/>
                <a:sym typeface="Consolas"/>
              </a:rPr>
              <a:t>      print("Hay wifi disponible.")</a:t>
            </a:r>
            <a:endParaRPr/>
          </a:p>
          <a:p>
            <a:pPr indent="0" lvl="0" marL="0" marR="0" rtl="0" algn="l">
              <a:spcBef>
                <a:spcPts val="0"/>
              </a:spcBef>
              <a:spcAft>
                <a:spcPts val="0"/>
              </a:spcAft>
              <a:buNone/>
            </a:pPr>
            <a:r>
              <a:rPr b="0" i="0" lang="en-US" sz="1800" u="none" cap="none" strike="noStrike">
                <a:solidFill>
                  <a:srgbClr val="4ADFCB"/>
                </a:solidFill>
                <a:latin typeface="Consolas"/>
                <a:ea typeface="Consolas"/>
                <a:cs typeface="Consolas"/>
                <a:sym typeface="Consolas"/>
              </a:rPr>
              <a:t>  &gt;&gt; Hay wifi disponible.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9"/>
          <p:cNvSpPr/>
          <p:nvPr/>
        </p:nvSpPr>
        <p:spPr>
          <a:xfrm>
            <a:off x="0" y="0"/>
            <a:ext cx="12191695" cy="6858000"/>
          </a:xfrm>
          <a:prstGeom prst="rect">
            <a:avLst/>
          </a:prstGeom>
          <a:solidFill>
            <a:srgbClr val="1A1A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2" name="Google Shape;232;p9"/>
          <p:cNvSpPr/>
          <p:nvPr/>
        </p:nvSpPr>
        <p:spPr>
          <a:xfrm>
            <a:off x="0" y="0"/>
            <a:ext cx="12191695" cy="502920"/>
          </a:xfrm>
          <a:prstGeom prst="rect">
            <a:avLst/>
          </a:prstGeom>
          <a:solidFill>
            <a:srgbClr val="0F16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3" name="Google Shape;233;p9"/>
          <p:cNvSpPr txBox="1"/>
          <p:nvPr/>
        </p:nvSpPr>
        <p:spPr>
          <a:xfrm>
            <a:off x="411479" y="118872"/>
            <a:ext cx="5486400" cy="3200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94A3B8"/>
                </a:solidFill>
                <a:latin typeface="Consolas"/>
                <a:ea typeface="Consolas"/>
                <a:cs typeface="Consolas"/>
                <a:sym typeface="Consolas"/>
              </a:rPr>
              <a:t>🐍 Python · Clase 19.5</a:t>
            </a:r>
            <a:endParaRPr/>
          </a:p>
        </p:txBody>
      </p:sp>
      <p:sp>
        <p:nvSpPr>
          <p:cNvPr id="234" name="Google Shape;234;p9"/>
          <p:cNvSpPr txBox="1"/>
          <p:nvPr/>
        </p:nvSpPr>
        <p:spPr>
          <a:xfrm>
            <a:off x="8534095" y="118872"/>
            <a:ext cx="3200400" cy="320040"/>
          </a:xfrm>
          <a:prstGeom prst="rect">
            <a:avLst/>
          </a:prstGeom>
          <a:noFill/>
          <a:ln>
            <a:noFill/>
          </a:ln>
        </p:spPr>
        <p:txBody>
          <a:bodyPr anchorCtr="0" anchor="ctr" bIns="45700" lIns="91425" spcFirstLastPara="1" rIns="91425" wrap="square" tIns="45700">
            <a:spAutoFit/>
          </a:bodyPr>
          <a:lstStyle/>
          <a:p>
            <a:pPr indent="0" lvl="0" marL="0" marR="0" rtl="0" algn="r">
              <a:spcBef>
                <a:spcPts val="0"/>
              </a:spcBef>
              <a:spcAft>
                <a:spcPts val="0"/>
              </a:spcAft>
              <a:buNone/>
            </a:pPr>
            <a:r>
              <a:rPr b="1" i="0" lang="en-US" sz="1200" u="none" cap="none" strike="noStrike">
                <a:solidFill>
                  <a:srgbClr val="0F9B8E"/>
                </a:solidFill>
                <a:latin typeface="Consolas"/>
                <a:ea typeface="Consolas"/>
                <a:cs typeface="Consolas"/>
                <a:sym typeface="Consolas"/>
              </a:rPr>
              <a:t>Errores típicos</a:t>
            </a:r>
            <a:endParaRPr/>
          </a:p>
        </p:txBody>
      </p:sp>
      <p:sp>
        <p:nvSpPr>
          <p:cNvPr id="235" name="Google Shape;235;p9"/>
          <p:cNvSpPr txBox="1"/>
          <p:nvPr/>
        </p:nvSpPr>
        <p:spPr>
          <a:xfrm>
            <a:off x="548640" y="868680"/>
            <a:ext cx="11094415"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FFFFFF"/>
                </a:solidFill>
                <a:latin typeface="Calibri"/>
                <a:ea typeface="Calibri"/>
                <a:cs typeface="Calibri"/>
                <a:sym typeface="Calibri"/>
              </a:rPr>
              <a:t>⚠️ Errores típicos a evitar</a:t>
            </a:r>
            <a:endParaRPr/>
          </a:p>
        </p:txBody>
      </p:sp>
      <p:graphicFrame>
        <p:nvGraphicFramePr>
          <p:cNvPr id="236" name="Google Shape;236;p9"/>
          <p:cNvGraphicFramePr/>
          <p:nvPr/>
        </p:nvGraphicFramePr>
        <p:xfrm>
          <a:off x="548640" y="1600200"/>
          <a:ext cx="3000000" cy="3000000"/>
        </p:xfrm>
        <a:graphic>
          <a:graphicData uri="http://schemas.openxmlformats.org/drawingml/2006/table">
            <a:tbl>
              <a:tblPr bandRow="1" firstRow="1">
                <a:noFill/>
                <a:tableStyleId>{84DF54F8-2199-4838-81C5-889B0CC1E708}</a:tableStyleId>
              </a:tblPr>
              <a:tblGrid>
                <a:gridCol w="3200400"/>
                <a:gridCol w="4114800"/>
                <a:gridCol w="3779225"/>
              </a:tblGrid>
              <a:tr h="1028700">
                <a:tc>
                  <a:txBody>
                    <a:bodyPr/>
                    <a:lstStyle/>
                    <a:p>
                      <a:pPr indent="0" lvl="0" marL="0" marR="0" rtl="0" algn="ctr">
                        <a:spcBef>
                          <a:spcPts val="0"/>
                        </a:spcBef>
                        <a:spcAft>
                          <a:spcPts val="0"/>
                        </a:spcAft>
                        <a:buNone/>
                      </a:pPr>
                      <a:r>
                        <a:rPr b="1" lang="en-US" sz="1800" u="none" cap="none" strike="noStrike">
                          <a:solidFill>
                            <a:srgbClr val="FFFFFF"/>
                          </a:solidFill>
                          <a:latin typeface="Calibri"/>
                          <a:ea typeface="Calibri"/>
                          <a:cs typeface="Calibri"/>
                          <a:sym typeface="Calibri"/>
                        </a:rPr>
                        <a:t>Error</a:t>
                      </a:r>
                      <a:endParaRPr/>
                    </a:p>
                  </a:txBody>
                  <a:tcPr marT="45725" marB="45725" marR="91450" marL="91450" anchor="ctr">
                    <a:solidFill>
                      <a:srgbClr val="0F162A"/>
                    </a:solidFill>
                  </a:tcPr>
                </a:tc>
                <a:tc>
                  <a:txBody>
                    <a:bodyPr/>
                    <a:lstStyle/>
                    <a:p>
                      <a:pPr indent="0" lvl="0" marL="0" marR="0" rtl="0" algn="ctr">
                        <a:spcBef>
                          <a:spcPts val="0"/>
                        </a:spcBef>
                        <a:spcAft>
                          <a:spcPts val="0"/>
                        </a:spcAft>
                        <a:buNone/>
                      </a:pPr>
                      <a:r>
                        <a:rPr b="1" lang="en-US" sz="1800" u="none" cap="none" strike="noStrike">
                          <a:solidFill>
                            <a:srgbClr val="FFFFFF"/>
                          </a:solidFill>
                          <a:latin typeface="Calibri"/>
                          <a:ea typeface="Calibri"/>
                          <a:cs typeface="Calibri"/>
                          <a:sym typeface="Calibri"/>
                        </a:rPr>
                        <a:t>Qué ocurre</a:t>
                      </a:r>
                      <a:endParaRPr/>
                    </a:p>
                  </a:txBody>
                  <a:tcPr marT="45725" marB="45725" marR="91450" marL="91450" anchor="ctr">
                    <a:solidFill>
                      <a:srgbClr val="0F162A"/>
                    </a:solidFill>
                  </a:tcPr>
                </a:tc>
                <a:tc>
                  <a:txBody>
                    <a:bodyPr/>
                    <a:lstStyle/>
                    <a:p>
                      <a:pPr indent="0" lvl="0" marL="0" marR="0" rtl="0" algn="ctr">
                        <a:spcBef>
                          <a:spcPts val="0"/>
                        </a:spcBef>
                        <a:spcAft>
                          <a:spcPts val="0"/>
                        </a:spcAft>
                        <a:buNone/>
                      </a:pPr>
                      <a:r>
                        <a:rPr b="1" lang="en-US" sz="1800" u="none" cap="none" strike="noStrike">
                          <a:solidFill>
                            <a:srgbClr val="FFFFFF"/>
                          </a:solidFill>
                          <a:latin typeface="Calibri"/>
                          <a:ea typeface="Calibri"/>
                          <a:cs typeface="Calibri"/>
                          <a:sym typeface="Calibri"/>
                        </a:rPr>
                        <a:t>Cómo corregirlo</a:t>
                      </a:r>
                      <a:endParaRPr/>
                    </a:p>
                  </a:txBody>
                  <a:tcPr marT="45725" marB="45725" marR="91450" marL="91450" anchor="ctr">
                    <a:solidFill>
                      <a:srgbClr val="0F162A"/>
                    </a:solidFill>
                  </a:tcPr>
                </a:tc>
              </a:tr>
              <a:tr h="1028700">
                <a:tc>
                  <a:txBody>
                    <a:bodyPr/>
                    <a:lstStyle/>
                    <a:p>
                      <a:pPr indent="0" lvl="0" marL="0" marR="0" rtl="0" algn="l">
                        <a:spcBef>
                          <a:spcPts val="0"/>
                        </a:spcBef>
                        <a:spcAft>
                          <a:spcPts val="0"/>
                        </a:spcAft>
                        <a:buNone/>
                      </a:pPr>
                      <a:r>
                        <a:rPr lang="en-US" sz="1600" u="none" cap="none" strike="noStrike">
                          <a:solidFill>
                            <a:srgbClr val="FFFFFF"/>
                          </a:solidFill>
                          <a:latin typeface="Calibri"/>
                          <a:ea typeface="Calibri"/>
                          <a:cs typeface="Calibri"/>
                          <a:sym typeface="Calibri"/>
                        </a:rPr>
                        <a:t>Cadena de </a:t>
                      </a:r>
                      <a:r>
                        <a:rPr lang="en-US" sz="1600" u="none" cap="none" strike="noStrike">
                          <a:solidFill>
                            <a:srgbClr val="4ADFCB"/>
                          </a:solidFill>
                          <a:latin typeface="Consolas"/>
                          <a:ea typeface="Consolas"/>
                          <a:cs typeface="Consolas"/>
                          <a:sym typeface="Consolas"/>
                        </a:rPr>
                        <a:t>elif</a:t>
                      </a:r>
                      <a:r>
                        <a:rPr lang="en-US" sz="1600" u="none" cap="none" strike="noStrike">
                          <a:solidFill>
                            <a:srgbClr val="FFFFFF"/>
                          </a:solidFill>
                          <a:latin typeface="Calibri"/>
                          <a:ea typeface="Calibri"/>
                          <a:cs typeface="Calibri"/>
                          <a:sym typeface="Calibri"/>
                        </a:rPr>
                        <a:t> ordenada de menor a mayor</a:t>
                      </a:r>
                      <a:endParaRPr/>
                    </a:p>
                  </a:txBody>
                  <a:tcPr marT="45725" marB="45725" marR="91450" marL="91450" anchor="ctr">
                    <a:solidFill>
                      <a:srgbClr val="1F2944"/>
                    </a:solidFill>
                  </a:tcPr>
                </a:tc>
                <a:tc>
                  <a:txBody>
                    <a:bodyPr/>
                    <a:lstStyle/>
                    <a:p>
                      <a:pPr indent="0" lvl="0" marL="0" marR="0" rtl="0" algn="l">
                        <a:spcBef>
                          <a:spcPts val="0"/>
                        </a:spcBef>
                        <a:spcAft>
                          <a:spcPts val="0"/>
                        </a:spcAft>
                        <a:buNone/>
                      </a:pPr>
                      <a:r>
                        <a:rPr lang="en-US" sz="1600" u="none" cap="none" strike="noStrike">
                          <a:solidFill>
                            <a:srgbClr val="FFFFFF"/>
                          </a:solidFill>
                          <a:latin typeface="Calibri"/>
                          <a:ea typeface="Calibri"/>
                          <a:cs typeface="Calibri"/>
                          <a:sym typeface="Calibri"/>
                        </a:rPr>
                        <a:t>La condición más amplia se cumple primero y se lleva todos los casos. Las ramas más exigentes nunca se alcanzan.</a:t>
                      </a:r>
                      <a:endParaRPr/>
                    </a:p>
                  </a:txBody>
                  <a:tcPr marT="45725" marB="45725" marR="91450" marL="91450" anchor="ctr">
                    <a:solidFill>
                      <a:srgbClr val="1F2944"/>
                    </a:solidFill>
                  </a:tcPr>
                </a:tc>
                <a:tc>
                  <a:txBody>
                    <a:bodyPr/>
                    <a:lstStyle/>
                    <a:p>
                      <a:pPr indent="0" lvl="0" marL="0" marR="0" rtl="0" algn="l">
                        <a:spcBef>
                          <a:spcPts val="0"/>
                        </a:spcBef>
                        <a:spcAft>
                          <a:spcPts val="0"/>
                        </a:spcAft>
                        <a:buNone/>
                      </a:pPr>
                      <a:r>
                        <a:rPr lang="en-US" sz="1600" u="none" cap="none" strike="noStrike">
                          <a:solidFill>
                            <a:srgbClr val="FFFFFF"/>
                          </a:solidFill>
                          <a:latin typeface="Calibri"/>
                          <a:ea typeface="Calibri"/>
                          <a:cs typeface="Calibri"/>
                          <a:sym typeface="Calibri"/>
                        </a:rPr>
                        <a:t>Ordenar de mayor a menor exigencia, y probar un valor de cada franja.</a:t>
                      </a:r>
                      <a:endParaRPr/>
                    </a:p>
                  </a:txBody>
                  <a:tcPr marT="45725" marB="45725" marR="91450" marL="91450" anchor="ctr">
                    <a:solidFill>
                      <a:srgbClr val="1F2944"/>
                    </a:solidFill>
                  </a:tcPr>
                </a:tc>
              </a:tr>
              <a:tr h="1028700">
                <a:tc>
                  <a:txBody>
                    <a:bodyPr/>
                    <a:lstStyle/>
                    <a:p>
                      <a:pPr indent="0" lvl="0" marL="0" marR="0" rtl="0" algn="l">
                        <a:spcBef>
                          <a:spcPts val="0"/>
                        </a:spcBef>
                        <a:spcAft>
                          <a:spcPts val="0"/>
                        </a:spcAft>
                        <a:buNone/>
                      </a:pPr>
                      <a:r>
                        <a:rPr lang="en-US" sz="1600" u="none" cap="none" strike="noStrike">
                          <a:solidFill>
                            <a:srgbClr val="FFFFFF"/>
                          </a:solidFill>
                          <a:latin typeface="Calibri"/>
                          <a:ea typeface="Calibri"/>
                          <a:cs typeface="Calibri"/>
                          <a:sym typeface="Calibri"/>
                        </a:rPr>
                        <a:t>Dos preguntas dependientes escritas como </a:t>
                      </a:r>
                      <a:r>
                        <a:rPr lang="en-US" sz="1600" u="none" cap="none" strike="noStrike">
                          <a:solidFill>
                            <a:srgbClr val="4ADFCB"/>
                          </a:solidFill>
                          <a:latin typeface="Consolas"/>
                          <a:ea typeface="Consolas"/>
                          <a:cs typeface="Consolas"/>
                          <a:sym typeface="Consolas"/>
                        </a:rPr>
                        <a:t>if</a:t>
                      </a:r>
                      <a:r>
                        <a:rPr lang="en-US" sz="1600" u="none" cap="none" strike="noStrike">
                          <a:solidFill>
                            <a:srgbClr val="FFFFFF"/>
                          </a:solidFill>
                          <a:latin typeface="Calibri"/>
                          <a:ea typeface="Calibri"/>
                          <a:cs typeface="Calibri"/>
                          <a:sym typeface="Calibri"/>
                        </a:rPr>
                        <a:t> sueltos</a:t>
                      </a:r>
                      <a:endParaRPr/>
                    </a:p>
                  </a:txBody>
                  <a:tcPr marT="45725" marB="45725" marR="91450" marL="91450" anchor="ctr">
                    <a:solidFill>
                      <a:srgbClr val="1F2944"/>
                    </a:solidFill>
                  </a:tcPr>
                </a:tc>
                <a:tc>
                  <a:txBody>
                    <a:bodyPr/>
                    <a:lstStyle/>
                    <a:p>
                      <a:pPr indent="0" lvl="0" marL="0" marR="0" rtl="0" algn="l">
                        <a:spcBef>
                          <a:spcPts val="0"/>
                        </a:spcBef>
                        <a:spcAft>
                          <a:spcPts val="0"/>
                        </a:spcAft>
                        <a:buNone/>
                      </a:pPr>
                      <a:r>
                        <a:rPr lang="en-US" sz="1600" u="none" cap="none" strike="noStrike">
                          <a:solidFill>
                            <a:srgbClr val="FFFFFF"/>
                          </a:solidFill>
                          <a:latin typeface="Calibri"/>
                          <a:ea typeface="Calibri"/>
                          <a:cs typeface="Calibri"/>
                          <a:sym typeface="Calibri"/>
                        </a:rPr>
                        <a:t>La segunda pregunta se hace siempre, aunque la primera ya haya resuelto el caso. Salen dos mensajes que se contradicen.</a:t>
                      </a:r>
                      <a:endParaRPr/>
                    </a:p>
                  </a:txBody>
                  <a:tcPr marT="45725" marB="45725" marR="91450" marL="91450" anchor="ctr">
                    <a:solidFill>
                      <a:srgbClr val="1F2944"/>
                    </a:solidFill>
                  </a:tcPr>
                </a:tc>
                <a:tc>
                  <a:txBody>
                    <a:bodyPr/>
                    <a:lstStyle/>
                    <a:p>
                      <a:pPr indent="0" lvl="0" marL="0" marR="0" rtl="0" algn="l">
                        <a:spcBef>
                          <a:spcPts val="0"/>
                        </a:spcBef>
                        <a:spcAft>
                          <a:spcPts val="0"/>
                        </a:spcAft>
                        <a:buNone/>
                      </a:pPr>
                      <a:r>
                        <a:rPr lang="en-US" sz="1600" u="none" cap="none" strike="noStrike">
                          <a:solidFill>
                            <a:srgbClr val="FFFFFF"/>
                          </a:solidFill>
                          <a:latin typeface="Calibri"/>
                          <a:ea typeface="Calibri"/>
                          <a:cs typeface="Calibri"/>
                          <a:sym typeface="Calibri"/>
                        </a:rPr>
                        <a:t>Escribir la segunda pregunta dentro del </a:t>
                      </a:r>
                      <a:r>
                        <a:rPr lang="en-US" sz="1600" u="none" cap="none" strike="noStrike">
                          <a:solidFill>
                            <a:srgbClr val="4ADFCB"/>
                          </a:solidFill>
                          <a:latin typeface="Consolas"/>
                          <a:ea typeface="Consolas"/>
                          <a:cs typeface="Consolas"/>
                          <a:sym typeface="Consolas"/>
                        </a:rPr>
                        <a:t>if</a:t>
                      </a:r>
                      <a:r>
                        <a:rPr lang="en-US" sz="1600" u="none" cap="none" strike="noStrike">
                          <a:solidFill>
                            <a:srgbClr val="FFFFFF"/>
                          </a:solidFill>
                          <a:latin typeface="Calibri"/>
                          <a:ea typeface="Calibri"/>
                          <a:cs typeface="Calibri"/>
                          <a:sym typeface="Calibri"/>
                        </a:rPr>
                        <a:t> o del </a:t>
                      </a:r>
                      <a:r>
                        <a:rPr lang="en-US" sz="1600" u="none" cap="none" strike="noStrike">
                          <a:solidFill>
                            <a:srgbClr val="4ADFCB"/>
                          </a:solidFill>
                          <a:latin typeface="Consolas"/>
                          <a:ea typeface="Consolas"/>
                          <a:cs typeface="Consolas"/>
                          <a:sym typeface="Consolas"/>
                        </a:rPr>
                        <a:t>else</a:t>
                      </a:r>
                      <a:r>
                        <a:rPr lang="en-US" sz="1600" u="none" cap="none" strike="noStrike">
                          <a:solidFill>
                            <a:srgbClr val="FFFFFF"/>
                          </a:solidFill>
                          <a:latin typeface="Calibri"/>
                          <a:ea typeface="Calibri"/>
                          <a:cs typeface="Calibri"/>
                          <a:sym typeface="Calibri"/>
                        </a:rPr>
                        <a:t> de la primera.</a:t>
                      </a:r>
                      <a:endParaRPr/>
                    </a:p>
                  </a:txBody>
                  <a:tcPr marT="45725" marB="45725" marR="91450" marL="91450" anchor="ctr">
                    <a:solidFill>
                      <a:srgbClr val="1F2944"/>
                    </a:solidFill>
                  </a:tcPr>
                </a:tc>
              </a:tr>
              <a:tr h="1028700">
                <a:tc>
                  <a:txBody>
                    <a:bodyPr/>
                    <a:lstStyle/>
                    <a:p>
                      <a:pPr indent="0" lvl="0" marL="0" marR="0" rtl="0" algn="l">
                        <a:spcBef>
                          <a:spcPts val="0"/>
                        </a:spcBef>
                        <a:spcAft>
                          <a:spcPts val="0"/>
                        </a:spcAft>
                        <a:buNone/>
                      </a:pPr>
                      <a:r>
                        <a:rPr lang="en-US" sz="1600" u="none" cap="none" strike="noStrike">
                          <a:solidFill>
                            <a:srgbClr val="FFFFFF"/>
                          </a:solidFill>
                          <a:latin typeface="Calibri"/>
                          <a:ea typeface="Calibri"/>
                          <a:cs typeface="Calibri"/>
                          <a:sym typeface="Calibri"/>
                        </a:rPr>
                        <a:t>Usar </a:t>
                      </a:r>
                      <a:r>
                        <a:rPr lang="en-US" sz="1600" u="none" cap="none" strike="noStrike">
                          <a:solidFill>
                            <a:srgbClr val="4ADFCB"/>
                          </a:solidFill>
                          <a:latin typeface="Consolas"/>
                          <a:ea typeface="Consolas"/>
                          <a:cs typeface="Consolas"/>
                          <a:sym typeface="Consolas"/>
                        </a:rPr>
                        <a:t>&gt;</a:t>
                      </a:r>
                      <a:r>
                        <a:rPr lang="en-US" sz="1600" u="none" cap="none" strike="noStrike">
                          <a:solidFill>
                            <a:srgbClr val="FFFFFF"/>
                          </a:solidFill>
                          <a:latin typeface="Calibri"/>
                          <a:ea typeface="Calibri"/>
                          <a:cs typeface="Calibri"/>
                          <a:sym typeface="Calibri"/>
                        </a:rPr>
                        <a:t> donde correspondía </a:t>
                      </a:r>
                      <a:r>
                        <a:rPr lang="en-US" sz="1600" u="none" cap="none" strike="noStrike">
                          <a:solidFill>
                            <a:srgbClr val="4ADFCB"/>
                          </a:solidFill>
                          <a:latin typeface="Consolas"/>
                          <a:ea typeface="Consolas"/>
                          <a:cs typeface="Consolas"/>
                          <a:sym typeface="Consolas"/>
                        </a:rPr>
                        <a:t>&gt;=</a:t>
                      </a:r>
                      <a:r>
                        <a:rPr lang="en-US" sz="1600" u="none" cap="none" strike="noStrike">
                          <a:solidFill>
                            <a:srgbClr val="FFFFFF"/>
                          </a:solidFill>
                          <a:latin typeface="Calibri"/>
                          <a:ea typeface="Calibri"/>
                          <a:cs typeface="Calibri"/>
                          <a:sym typeface="Calibri"/>
                        </a:rPr>
                        <a:t> (o al revés)</a:t>
                      </a:r>
                      <a:endParaRPr/>
                    </a:p>
                  </a:txBody>
                  <a:tcPr marT="45725" marB="45725" marR="91450" marL="91450" anchor="ctr">
                    <a:solidFill>
                      <a:srgbClr val="1F2944"/>
                    </a:solidFill>
                  </a:tcPr>
                </a:tc>
                <a:tc>
                  <a:txBody>
                    <a:bodyPr/>
                    <a:lstStyle/>
                    <a:p>
                      <a:pPr indent="0" lvl="0" marL="0" marR="0" rtl="0" algn="l">
                        <a:spcBef>
                          <a:spcPts val="0"/>
                        </a:spcBef>
                        <a:spcAft>
                          <a:spcPts val="0"/>
                        </a:spcAft>
                        <a:buNone/>
                      </a:pPr>
                      <a:r>
                        <a:rPr lang="en-US" sz="1600" u="none" cap="none" strike="noStrike">
                          <a:solidFill>
                            <a:srgbClr val="FFFFFF"/>
                          </a:solidFill>
                          <a:latin typeface="Calibri"/>
                          <a:ea typeface="Calibri"/>
                          <a:cs typeface="Calibri"/>
                          <a:sym typeface="Calibri"/>
                        </a:rPr>
                        <a:t>El programa funciona con todos los ejemplos menos con el valor exacto del borde.</a:t>
                      </a:r>
                      <a:endParaRPr/>
                    </a:p>
                  </a:txBody>
                  <a:tcPr marT="45725" marB="45725" marR="91450" marL="91450" anchor="ctr">
                    <a:solidFill>
                      <a:srgbClr val="1F2944"/>
                    </a:solidFill>
                  </a:tcPr>
                </a:tc>
                <a:tc>
                  <a:txBody>
                    <a:bodyPr/>
                    <a:lstStyle/>
                    <a:p>
                      <a:pPr indent="0" lvl="0" marL="0" marR="0" rtl="0" algn="l">
                        <a:spcBef>
                          <a:spcPts val="0"/>
                        </a:spcBef>
                        <a:spcAft>
                          <a:spcPts val="0"/>
                        </a:spcAft>
                        <a:buNone/>
                      </a:pPr>
                      <a:r>
                        <a:rPr lang="en-US" sz="1600" u="none" cap="none" strike="noStrike">
                          <a:solidFill>
                            <a:srgbClr val="FFFFFF"/>
                          </a:solidFill>
                          <a:latin typeface="Calibri"/>
                          <a:ea typeface="Calibri"/>
                          <a:cs typeface="Calibri"/>
                          <a:sym typeface="Calibri"/>
                        </a:rPr>
                        <a:t>Probar siempre el valor del borde antes de dar el programa por terminado.</a:t>
                      </a:r>
                      <a:endParaRPr/>
                    </a:p>
                  </a:txBody>
                  <a:tcPr marT="45725" marB="45725" marR="91450" marL="91450" anchor="ctr">
                    <a:solidFill>
                      <a:srgbClr val="1F2944"/>
                    </a:solidFill>
                  </a:tcPr>
                </a:tc>
              </a:tr>
            </a:tbl>
          </a:graphicData>
        </a:graphic>
      </p:graphicFrame>
      <p:sp>
        <p:nvSpPr>
          <p:cNvPr id="237" name="Google Shape;237;p9"/>
          <p:cNvSpPr/>
          <p:nvPr/>
        </p:nvSpPr>
        <p:spPr>
          <a:xfrm>
            <a:off x="548640" y="5943600"/>
            <a:ext cx="11094415" cy="640080"/>
          </a:xfrm>
          <a:prstGeom prst="rect">
            <a:avLst/>
          </a:prstGeom>
          <a:solidFill>
            <a:srgbClr val="1621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8" name="Google Shape;238;p9"/>
          <p:cNvSpPr/>
          <p:nvPr/>
        </p:nvSpPr>
        <p:spPr>
          <a:xfrm>
            <a:off x="548640" y="5943600"/>
            <a:ext cx="73152" cy="640080"/>
          </a:xfrm>
          <a:prstGeom prst="rect">
            <a:avLst/>
          </a:prstGeom>
          <a:solidFill>
            <a:srgbClr val="0F9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9" name="Google Shape;239;p9"/>
          <p:cNvSpPr txBox="1"/>
          <p:nvPr/>
        </p:nvSpPr>
        <p:spPr>
          <a:xfrm>
            <a:off x="731520" y="5989320"/>
            <a:ext cx="10820095" cy="5486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 Si te aparece uno de estos errores, vuelve a esta tabla antes de pedir ayuda.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0"/>
          <p:cNvSpPr/>
          <p:nvPr/>
        </p:nvSpPr>
        <p:spPr>
          <a:xfrm>
            <a:off x="0" y="0"/>
            <a:ext cx="12191695" cy="6858000"/>
          </a:xfrm>
          <a:prstGeom prst="rect">
            <a:avLst/>
          </a:prstGeom>
          <a:solidFill>
            <a:srgbClr val="1A1A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5" name="Google Shape;245;p10"/>
          <p:cNvSpPr txBox="1"/>
          <p:nvPr/>
        </p:nvSpPr>
        <p:spPr>
          <a:xfrm>
            <a:off x="548640" y="411480"/>
            <a:ext cx="11094415"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FFFFFF"/>
                </a:solidFill>
                <a:latin typeface="Calibri"/>
                <a:ea typeface="Calibri"/>
                <a:cs typeface="Calibri"/>
                <a:sym typeface="Calibri"/>
              </a:rPr>
              <a:t>Cierre</a:t>
            </a:r>
            <a:endParaRPr/>
          </a:p>
        </p:txBody>
      </p:sp>
      <p:sp>
        <p:nvSpPr>
          <p:cNvPr id="246" name="Google Shape;246;p10"/>
          <p:cNvSpPr/>
          <p:nvPr/>
        </p:nvSpPr>
        <p:spPr>
          <a:xfrm>
            <a:off x="548640" y="1051560"/>
            <a:ext cx="1188720" cy="54864"/>
          </a:xfrm>
          <a:prstGeom prst="rect">
            <a:avLst/>
          </a:prstGeom>
          <a:solidFill>
            <a:srgbClr val="F5A6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7" name="Google Shape;247;p10"/>
          <p:cNvSpPr/>
          <p:nvPr/>
        </p:nvSpPr>
        <p:spPr>
          <a:xfrm>
            <a:off x="548640" y="1325880"/>
            <a:ext cx="11094415" cy="1417320"/>
          </a:xfrm>
          <a:prstGeom prst="rect">
            <a:avLst/>
          </a:prstGeom>
          <a:solidFill>
            <a:srgbClr val="0F16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8" name="Google Shape;248;p10"/>
          <p:cNvSpPr txBox="1"/>
          <p:nvPr/>
        </p:nvSpPr>
        <p:spPr>
          <a:xfrm>
            <a:off x="777240" y="1463039"/>
            <a:ext cx="146304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F5A623"/>
                </a:solidFill>
                <a:latin typeface="Calibri"/>
                <a:ea typeface="Calibri"/>
                <a:cs typeface="Calibri"/>
                <a:sym typeface="Calibri"/>
              </a:rPr>
              <a:t>Objetivo</a:t>
            </a:r>
            <a:endParaRPr/>
          </a:p>
        </p:txBody>
      </p:sp>
      <p:sp>
        <p:nvSpPr>
          <p:cNvPr id="249" name="Google Shape;249;p10"/>
          <p:cNvSpPr txBox="1"/>
          <p:nvPr/>
        </p:nvSpPr>
        <p:spPr>
          <a:xfrm>
            <a:off x="2331720" y="1463039"/>
            <a:ext cx="9082735" cy="1143000"/>
          </a:xfrm>
          <a:prstGeom prst="rect">
            <a:avLst/>
          </a:prstGeom>
          <a:noFill/>
          <a:ln>
            <a:noFill/>
          </a:ln>
        </p:spPr>
        <p:txBody>
          <a:bodyPr anchorCtr="0" anchor="t" bIns="45700" lIns="91425" spcFirstLastPara="1" rIns="91425" wrap="square" tIns="45700">
            <a:normAutofit lnSpcReduction="10000"/>
          </a:bodyPr>
          <a:lstStyle/>
          <a:p>
            <a:pPr indent="0" lvl="0" marL="0" marR="0" rtl="0" algn="l">
              <a:spcBef>
                <a:spcPts val="0"/>
              </a:spcBef>
              <a:spcAft>
                <a:spcPts val="0"/>
              </a:spcAft>
              <a:buNone/>
            </a:pPr>
            <a:r>
              <a:rPr b="0" i="0" lang="en-US" sz="2400" u="none" cap="none" strike="noStrike">
                <a:solidFill>
                  <a:srgbClr val="FFFFFF"/>
                </a:solidFill>
                <a:latin typeface="Calibri"/>
                <a:ea typeface="Calibri"/>
                <a:cs typeface="Calibri"/>
                <a:sym typeface="Calibri"/>
              </a:rPr>
              <a:t>Distinguir si dos condiciones son independientes, excluyentes o dependientes, escribir la forma de </a:t>
            </a:r>
            <a:r>
              <a:rPr b="0" i="0" lang="en-US" sz="2400" u="none" cap="none" strike="noStrike">
                <a:solidFill>
                  <a:srgbClr val="4ADFCB"/>
                </a:solidFill>
                <a:latin typeface="Consolas"/>
                <a:ea typeface="Consolas"/>
                <a:cs typeface="Consolas"/>
                <a:sym typeface="Consolas"/>
              </a:rPr>
              <a:t>if</a:t>
            </a:r>
            <a:r>
              <a:rPr b="0" i="0" lang="en-US" sz="2400" u="none" cap="none" strike="noStrike">
                <a:solidFill>
                  <a:srgbClr val="FFFFFF"/>
                </a:solidFill>
                <a:latin typeface="Calibri"/>
                <a:ea typeface="Calibri"/>
                <a:cs typeface="Calibri"/>
                <a:sym typeface="Calibri"/>
              </a:rPr>
              <a:t> que corresponde a cada caso y comprobarla en el valor del borde, con rigurosidad.</a:t>
            </a:r>
            <a:endParaRPr/>
          </a:p>
        </p:txBody>
      </p:sp>
      <p:sp>
        <p:nvSpPr>
          <p:cNvPr id="250" name="Google Shape;250;p10"/>
          <p:cNvSpPr/>
          <p:nvPr/>
        </p:nvSpPr>
        <p:spPr>
          <a:xfrm>
            <a:off x="548640" y="3017520"/>
            <a:ext cx="5387187" cy="3429000"/>
          </a:xfrm>
          <a:prstGeom prst="rect">
            <a:avLst/>
          </a:prstGeom>
          <a:solidFill>
            <a:srgbClr val="0F2A4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1" name="Google Shape;251;p10"/>
          <p:cNvSpPr txBox="1"/>
          <p:nvPr/>
        </p:nvSpPr>
        <p:spPr>
          <a:xfrm>
            <a:off x="822959" y="3246120"/>
            <a:ext cx="4838547"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900" u="none" cap="none" strike="noStrike">
                <a:solidFill>
                  <a:srgbClr val="38BDF8"/>
                </a:solidFill>
                <a:latin typeface="Calibri"/>
                <a:ea typeface="Calibri"/>
                <a:cs typeface="Calibri"/>
                <a:sym typeface="Calibri"/>
              </a:rPr>
              <a:t>Comprensión 1 a 5</a:t>
            </a:r>
            <a:endParaRPr/>
          </a:p>
        </p:txBody>
      </p:sp>
      <p:sp>
        <p:nvSpPr>
          <p:cNvPr id="252" name="Google Shape;252;p10"/>
          <p:cNvSpPr txBox="1"/>
          <p:nvPr/>
        </p:nvSpPr>
        <p:spPr>
          <a:xfrm>
            <a:off x="868680" y="3794759"/>
            <a:ext cx="4747107" cy="242316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None/>
            </a:pPr>
            <a:r>
              <a:rPr b="0" i="0" lang="en-US" sz="2400" u="none" cap="none" strike="noStrike">
                <a:solidFill>
                  <a:srgbClr val="FFFFFF"/>
                </a:solidFill>
                <a:latin typeface="Calibri"/>
                <a:ea typeface="Calibri"/>
                <a:cs typeface="Calibri"/>
                <a:sym typeface="Calibri"/>
              </a:rPr>
              <a:t>¿Qué tan seguro/a te sientes decidiendo si dos condiciones van encadenadas con </a:t>
            </a:r>
            <a:r>
              <a:rPr b="0" i="0" lang="en-US" sz="2400" u="none" cap="none" strike="noStrike">
                <a:solidFill>
                  <a:srgbClr val="4ADFCB"/>
                </a:solidFill>
                <a:latin typeface="Consolas"/>
                <a:ea typeface="Consolas"/>
                <a:cs typeface="Consolas"/>
                <a:sym typeface="Consolas"/>
              </a:rPr>
              <a:t>elif</a:t>
            </a:r>
            <a:r>
              <a:rPr b="0" i="0" lang="en-US" sz="2400" u="none" cap="none" strike="noStrike">
                <a:solidFill>
                  <a:srgbClr val="FFFFFF"/>
                </a:solidFill>
                <a:latin typeface="Calibri"/>
                <a:ea typeface="Calibri"/>
                <a:cs typeface="Calibri"/>
                <a:sym typeface="Calibri"/>
              </a:rPr>
              <a:t> o en </a:t>
            </a:r>
            <a:r>
              <a:rPr b="0" i="0" lang="en-US" sz="2400" u="none" cap="none" strike="noStrike">
                <a:solidFill>
                  <a:srgbClr val="4ADFCB"/>
                </a:solidFill>
                <a:latin typeface="Consolas"/>
                <a:ea typeface="Consolas"/>
                <a:cs typeface="Consolas"/>
                <a:sym typeface="Consolas"/>
              </a:rPr>
              <a:t>if</a:t>
            </a:r>
            <a:r>
              <a:rPr b="0" i="0" lang="en-US" sz="2400" u="none" cap="none" strike="noStrike">
                <a:solidFill>
                  <a:srgbClr val="FFFFFF"/>
                </a:solidFill>
                <a:latin typeface="Calibri"/>
                <a:ea typeface="Calibri"/>
                <a:cs typeface="Calibri"/>
                <a:sym typeface="Calibri"/>
              </a:rPr>
              <a:t> separados?, donde 1 es "no entendí nada" y 5 es "puedo explicárselo a otro".</a:t>
            </a:r>
            <a:endParaRPr/>
          </a:p>
        </p:txBody>
      </p:sp>
      <p:sp>
        <p:nvSpPr>
          <p:cNvPr id="253" name="Google Shape;253;p10"/>
          <p:cNvSpPr/>
          <p:nvPr/>
        </p:nvSpPr>
        <p:spPr>
          <a:xfrm>
            <a:off x="6255867" y="3017520"/>
            <a:ext cx="5387187" cy="3429000"/>
          </a:xfrm>
          <a:prstGeom prst="rect">
            <a:avLst/>
          </a:prstGeom>
          <a:solidFill>
            <a:srgbClr val="102A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4" name="Google Shape;254;p10"/>
          <p:cNvSpPr txBox="1"/>
          <p:nvPr/>
        </p:nvSpPr>
        <p:spPr>
          <a:xfrm>
            <a:off x="6530187" y="3246120"/>
            <a:ext cx="4838547"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900" u="none" cap="none" strike="noStrike">
                <a:solidFill>
                  <a:srgbClr val="4ADE80"/>
                </a:solidFill>
                <a:latin typeface="Calibri"/>
                <a:ea typeface="Calibri"/>
                <a:cs typeface="Calibri"/>
                <a:sym typeface="Calibri"/>
              </a:rPr>
              <a:t>Propósito</a:t>
            </a:r>
            <a:endParaRPr/>
          </a:p>
        </p:txBody>
      </p:sp>
      <p:sp>
        <p:nvSpPr>
          <p:cNvPr id="255" name="Google Shape;255;p10"/>
          <p:cNvSpPr txBox="1"/>
          <p:nvPr/>
        </p:nvSpPr>
        <p:spPr>
          <a:xfrm>
            <a:off x="6575907" y="3794759"/>
            <a:ext cx="4747107" cy="242316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None/>
            </a:pPr>
            <a:r>
              <a:rPr b="0" i="0" lang="en-US" sz="2400" u="none" cap="none" strike="noStrike">
                <a:solidFill>
                  <a:srgbClr val="FFFFFF"/>
                </a:solidFill>
                <a:latin typeface="Calibri"/>
                <a:ea typeface="Calibri"/>
                <a:cs typeface="Calibri"/>
                <a:sym typeface="Calibri"/>
              </a:rPr>
              <a:t>Fuera de la programación, ¿en qué situación revisas siempre el caso del borde antes de dar algo por bueno?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