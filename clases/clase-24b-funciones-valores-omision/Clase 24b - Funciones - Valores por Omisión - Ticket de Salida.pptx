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5A623"/>
                </a:solidFill>
                <a:latin typeface="Calibri"/>
              </a:rPr>
              <a:t>🎫  Ticket de Salida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Clase 24b — Funciones (valores por omisión)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💡  Cómo lo vamos 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1.  Son 3 preguntas. Las vemos </a:t>
            </a:r>
            <a:r>
              <a:rPr b="1" sz="2200">
                <a:solidFill>
                  <a:srgbClr val="FFFFFF"/>
                </a:solidFill>
                <a:latin typeface="Calibri"/>
              </a:rPr>
              <a:t>una por una</a:t>
            </a:r>
            <a:r>
              <a:rPr sz="22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2.  Decide tu respuesta </a:t>
            </a:r>
            <a:r>
              <a:rPr b="1" sz="2200">
                <a:solidFill>
                  <a:srgbClr val="FFFFFF"/>
                </a:solidFill>
                <a:latin typeface="Calibri"/>
              </a:rPr>
              <a:t>en silencio</a:t>
            </a:r>
            <a:r>
              <a:rPr sz="2200">
                <a:solidFill>
                  <a:srgbClr val="FFFFFF"/>
                </a:solidFill>
                <a:latin typeface="Calibri"/>
              </a:rPr>
              <a:t>: no la digas ni la comentes.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3.  Anota la letra que elegiste (</a:t>
            </a:r>
            <a:r>
              <a:rPr b="1" sz="2200">
                <a:solidFill>
                  <a:srgbClr val="FFFFFF"/>
                </a:solidFill>
                <a:latin typeface="Calibri"/>
              </a:rPr>
              <a:t>A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B</a:t>
            </a:r>
            <a:r>
              <a:rPr sz="2200">
                <a:solidFill>
                  <a:srgbClr val="FFFFFF"/>
                </a:solidFill>
                <a:latin typeface="Calibri"/>
              </a:rPr>
              <a:t>, </a:t>
            </a:r>
            <a:r>
              <a:rPr b="1" sz="2200">
                <a:solidFill>
                  <a:srgbClr val="FFFFFF"/>
                </a:solidFill>
                <a:latin typeface="Calibri"/>
              </a:rPr>
              <a:t>C</a:t>
            </a:r>
            <a:r>
              <a:rPr sz="2200">
                <a:solidFill>
                  <a:srgbClr val="FFFFFF"/>
                </a:solidFill>
                <a:latin typeface="Calibri"/>
              </a:rPr>
              <a:t> o </a:t>
            </a:r>
            <a:r>
              <a:rPr b="1" sz="2200">
                <a:solidFill>
                  <a:srgbClr val="FFFFFF"/>
                </a:solidFill>
                <a:latin typeface="Calibri"/>
              </a:rPr>
              <a:t>D</a:t>
            </a:r>
            <a:r>
              <a:rPr sz="2200">
                <a:solidFill>
                  <a:srgbClr val="FFFFFF"/>
                </a:solidFill>
                <a:latin typeface="Calibri"/>
              </a:rPr>
              <a:t>).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4.  Recién al terminar la pregunta 3 completamos el Formulario.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5.  Después de enviarlo, revisamos juntos las respuestas.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Calibri"/>
              </a:rPr>
              <a:t>Nadie responde el Formulario antes de tiempo: primero te comprometes con tu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1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8166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597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def calcula_puntaje(base, bono=10):
    return base + bono
resultado = calcula_puntaje(50)
print("Puntaje:", resultado)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Puntaje: 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Puntaje: 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908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95299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640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Puntaje: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6908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95299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7640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Error, falta indicar el segundo argumento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2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181660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1597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def calcula_puntaje(base, bono=10):
    return base + bono
resultado = calcula_puntaje(50, 30)
print("Puntaje:", resultado)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Puntaje: 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934967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401116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4008119"/>
            <a:ext cx="4541367" cy="48158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Puntaje: 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908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495299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640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Puntaje: 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690872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495299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764024"/>
            <a:ext cx="4541367" cy="853439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Error, no se puede reemplazar un valor por omisión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A623"/>
                </a:solidFill>
                <a:latin typeface="Calibri"/>
              </a:rPr>
              <a:t>🎫  Pregunta 3 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¿Qué ocurre al intentar definir esta función?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35480"/>
            <a:ext cx="11094415" cy="902207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81784"/>
            <a:ext cx="10820095" cy="682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def calcula_total(cantidad, precio_unitario=1000, iva):
    return cantidad * precio_unitario * 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20568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4686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3093720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define bien, pero falla recién al llamarla sin indicar </a:t>
            </a:r>
            <a:r>
              <a:rPr sz="2300">
                <a:solidFill>
                  <a:srgbClr val="4ADFCB"/>
                </a:solidFill>
                <a:latin typeface="Consolas"/>
              </a:rPr>
              <a:t>iva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020568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97599" y="34686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391" y="3093720"/>
            <a:ext cx="4541367" cy="122529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define sin problema, porque Python permite cualquier orden de parámetros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0184"/>
            <a:ext cx="5410047" cy="211531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53400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593336"/>
            <a:ext cx="4541367" cy="19690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Se define bien, y </a:t>
            </a:r>
            <a:r>
              <a:rPr sz="2300">
                <a:solidFill>
                  <a:srgbClr val="4ADFCB"/>
                </a:solidFill>
                <a:latin typeface="Consolas"/>
              </a:rPr>
              <a:t>iva</a:t>
            </a:r>
            <a:r>
              <a:rPr sz="2400">
                <a:solidFill>
                  <a:srgbClr val="FFFFFF"/>
                </a:solidFill>
                <a:latin typeface="Calibri"/>
              </a:rPr>
              <a:t> toma automáticamente el valor por omisión de </a:t>
            </a:r>
            <a:r>
              <a:rPr sz="2300">
                <a:solidFill>
                  <a:srgbClr val="4ADFCB"/>
                </a:solidFill>
                <a:latin typeface="Consolas"/>
              </a:rPr>
              <a:t>precio_unitario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33007" y="4520184"/>
            <a:ext cx="5410047" cy="211531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7599" y="53400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2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391" y="4593336"/>
            <a:ext cx="4541367" cy="19690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Python lanza un error al definirla, porque el parámetro obligatorio </a:t>
            </a:r>
            <a:r>
              <a:rPr sz="2300">
                <a:solidFill>
                  <a:srgbClr val="4ADFCB"/>
                </a:solidFill>
                <a:latin typeface="Consolas"/>
              </a:rPr>
              <a:t>iva</a:t>
            </a:r>
            <a:r>
              <a:rPr sz="2400">
                <a:solidFill>
                  <a:srgbClr val="FFFFFF"/>
                </a:solidFill>
                <a:latin typeface="Calibri"/>
              </a:rPr>
              <a:t> está después del parámetro opcional </a:t>
            </a:r>
            <a:r>
              <a:rPr sz="2300">
                <a:solidFill>
                  <a:srgbClr val="4ADFCB"/>
                </a:solidFill>
                <a:latin typeface="Consolas"/>
              </a:rPr>
              <a:t>precio_unitario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TICKET DE SALIDA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2C39A"/>
                </a:solidFill>
                <a:latin typeface="Calibri"/>
              </a:rPr>
              <a:t>📝  Ahora sí: completa el Formulario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4ADFCB"/>
                </a:solidFill>
                <a:latin typeface="Consolas"/>
              </a:rPr>
              <a:t>https://forms.gle/sjRpbgmQzrpkEBsH9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Calibri"/>
              </a:rPr>
              <a:t>💡  Qué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2200">
                <a:solidFill>
                  <a:srgbClr val="FFFFFF"/>
                </a:solidFill>
                <a:latin typeface="Calibri"/>
              </a:rPr>
              <a:t>Nombre:</a:t>
            </a:r>
            <a:r>
              <a:rPr sz="2200">
                <a:solidFill>
                  <a:srgbClr val="FFFFFF"/>
                </a:solidFill>
                <a:latin typeface="Calibri"/>
              </a:rPr>
              <a:t> tu nombre completo.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Tema de la clase de hoy:</a:t>
            </a:r>
            <a:r>
              <a:rPr sz="2200">
                <a:solidFill>
                  <a:srgbClr val="FFFFFF"/>
                </a:solidFill>
                <a:latin typeface="Calibri"/>
              </a:rPr>
              <a:t> </a:t>
            </a:r>
            <a:r>
              <a:rPr sz="2100">
                <a:solidFill>
                  <a:srgbClr val="4ADFCB"/>
                </a:solidFill>
                <a:latin typeface="Consolas"/>
              </a:rPr>
              <a:t>Funciones (valores por omisión)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b="1" sz="2200">
                <a:solidFill>
                  <a:srgbClr val="FFFFFF"/>
                </a:solidFill>
                <a:latin typeface="Calibri"/>
              </a:rPr>
              <a:t>Respuestas:</a:t>
            </a:r>
            <a:r>
              <a:rPr sz="2200">
                <a:solidFill>
                  <a:srgbClr val="FFFFFF"/>
                </a:solidFill>
                <a:latin typeface="Calibri"/>
              </a:rPr>
              <a:t> marca la letra que anotaste en cada una de las 3 preguntas.</a:t>
            </a:r>
          </a:p>
          <a:p>
            <a:pPr algn="l">
              <a:lnSpc>
                <a:spcPct val="105000"/>
              </a:lnSpc>
              <a:spcBef>
                <a:spcPts val="769"/>
              </a:spcBef>
            </a:pPr>
            <a:r>
              <a:rPr sz="2200">
                <a:solidFill>
                  <a:srgbClr val="FFFFFF"/>
                </a:solidFill>
                <a:latin typeface="Calibri"/>
              </a:rPr>
              <a:t>Envía. Cuando estén todos, revisamos las respuestas juntos.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1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Puntaje: 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como no se indicó el segundo argumento, Python usa el valor por omisión (10), y la función devuelve 50+10=60.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2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imprime este programa?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Puntaje: 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al indicar 30 explícitamente, ese valor reemplaza al de por omisión solo en esta llamada: 50+30=80.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24b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F5A623"/>
                </a:solidFill>
                <a:latin typeface="Consolas"/>
              </a:rPr>
              <a:t>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2C39A"/>
                </a:solidFill>
                <a:latin typeface="Calibri"/>
              </a:rPr>
              <a:t>✅  Pregunta 3 — 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>
                <a:solidFill>
                  <a:srgbClr val="CBD5E1"/>
                </a:solidFill>
                <a:latin typeface="Calibri"/>
              </a:rPr>
              <a:t>¿Qué ocurre al intentar definir esta función?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2600">
                <a:solidFill>
                  <a:srgbClr val="1A1A2E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>
                <a:solidFill>
                  <a:srgbClr val="FFFFFF"/>
                </a:solidFill>
                <a:latin typeface="Calibri"/>
              </a:rPr>
              <a:t>Python lanza un error al definirla, porque el parámetro obligatorio </a:t>
            </a:r>
            <a:r>
              <a:rPr sz="2300">
                <a:solidFill>
                  <a:srgbClr val="4ADFCB"/>
                </a:solidFill>
                <a:latin typeface="Consolas"/>
              </a:rPr>
              <a:t>iva</a:t>
            </a:r>
            <a:r>
              <a:rPr sz="2400">
                <a:solidFill>
                  <a:srgbClr val="FFFFFF"/>
                </a:solidFill>
                <a:latin typeface="Calibri"/>
              </a:rPr>
              <a:t> está después del parámetro opcional </a:t>
            </a:r>
            <a:r>
              <a:rPr sz="2300">
                <a:solidFill>
                  <a:srgbClr val="4ADFCB"/>
                </a:solidFill>
                <a:latin typeface="Consolas"/>
              </a:rPr>
              <a:t>precio_unitario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💡  Por qué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>
                <a:solidFill>
                  <a:srgbClr val="FFFFFF"/>
                </a:solidFill>
                <a:latin typeface="Calibri"/>
              </a:rPr>
              <a:t>los parámetros obligatorios deben ir siempre antes que los que tienen valor por omisión; Python lanza </a:t>
            </a:r>
            <a:r>
              <a:rPr sz="2100">
                <a:solidFill>
                  <a:srgbClr val="4ADFCB"/>
                </a:solidFill>
                <a:latin typeface="Consolas"/>
              </a:rPr>
              <a:t>SyntaxError</a:t>
            </a:r>
            <a:r>
              <a:rPr sz="2200">
                <a:solidFill>
                  <a:srgbClr val="FFFFFF"/>
                </a:solidFill>
                <a:latin typeface="Calibri"/>
              </a:rPr>
              <a:t> apenas se intenta definir la función, sin llegar a ejecutar nada.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