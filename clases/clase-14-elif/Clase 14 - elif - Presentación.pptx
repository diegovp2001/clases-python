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dk/k1rlRud+5h58rVvtkg7XBX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F444A7-F905-44C8-ACD0-6144F3CF76B9}">
  <a:tblStyle styleId="{5DF444A7-F905-44C8-ACD0-6144F3CF76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424dc5a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424dc5a3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424dc5a3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424dc5a3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424dc5a3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424dc5a3a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424dc5a3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424dc5a3a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424dc5a3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424dc5a3a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424dc5a3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424dc5a3a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424dc5a3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424dc5a3a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397ae0e0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397ae0e0f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Hoy: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encadenamiento de condiciones alternativas, orden de evaluación, condiciones mutuamente excluyentes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Clase 14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Mensaje de hoy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Hoy aprenderás elif — un paso más para que tu código haga cosas reales 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 Clase 14 - elif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85800" y="914400"/>
            <a:ext cx="3996854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Objetivo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1417320"/>
            <a:ext cx="3854833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Aplicar la sentencia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en Python para construir programas que clasifiquen entre múltiples condiciones mutuamente excluyentes, con orden.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5206293" y="914400"/>
            <a:ext cx="6426264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206293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434893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Propósito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434892" y="1417320"/>
            <a:ext cx="6041787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orden es la capacidad de pensar los caminos posibles antes de ponerse a escribir — organizarlos de mayor a menor urgencia, de forma que no se pisen entre sí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Hoy la vas a ejercitar diseñando con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☝ Reglas de ahora en adelante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🦻 No ocupen audífonos.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📓 Todo comando nuevo va al cuaderno.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🚫 NO hagan copiar-pegar de los comandos.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En toda evaluación podrán usar sus apuntes.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118872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Haz Ahora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448056"/>
            <a:ext cx="1109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⚡ Haz Ahora &lt;&lt;5:</a:t>
            </a:r>
            <a:r>
              <a:rPr b="1" lang="en-US" sz="30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0&gt;&gt;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48640" y="996696"/>
            <a:ext cx="11094415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996696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9808" y="1039205"/>
            <a:ext cx="1082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Hace algunos años, cursos que ya hicieron el viaje de estudio aprendieron por experiencia qué actividad funciona mejor según cuánto lleva el fondo. Con ese aprendizaje acumulado, crearon esta tabla:</a:t>
            </a:r>
            <a:endParaRPr sz="1700"/>
          </a:p>
        </p:txBody>
      </p:sp>
      <p:graphicFrame>
        <p:nvGraphicFramePr>
          <p:cNvPr id="125" name="Google Shape;125;p3"/>
          <p:cNvGraphicFramePr/>
          <p:nvPr/>
        </p:nvGraphicFramePr>
        <p:xfrm>
          <a:off x="2422662" y="18379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{5DF444A7-F905-44C8-ACD0-6144F3CF76B9}</a:tableStyleId>
              </a:tblPr>
              <a:tblGrid>
                <a:gridCol w="3673175"/>
                <a:gridCol w="3673175"/>
              </a:tblGrid>
              <a:tr h="48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Si el fondo lleva…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La actividad recomendada es…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</a:tr>
              <a:tr h="48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Menos de $250.000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Bingo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  <a:tr h="48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Entre $250.000 y $499.999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Rifa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</a:tr>
              <a:tr h="48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Entre $500.000 y $749.999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Feria en el liceo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  <a:tr h="48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Entre $750.000 y $999.999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Vender colaciones en recreos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</a:tr>
              <a:tr h="48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$1.000.000 o más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FFFFFF"/>
                          </a:solidFill>
                        </a:rPr>
                        <a:t>¡Meta cumplida!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3"/>
          <p:cNvSpPr/>
          <p:nvPr/>
        </p:nvSpPr>
        <p:spPr>
          <a:xfrm>
            <a:off x="227639" y="4816110"/>
            <a:ext cx="11590114" cy="164591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47006" y="4816110"/>
            <a:ext cx="76420" cy="1645919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49808" y="4816110"/>
            <a:ext cx="10820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Discutiendo en 3 minutos con su compañero de banco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El fondo lleva $380.000 — ¿qué actividad harían?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El fondo lleva $720.000 — ¿cambia la actividad?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El fondo lleva $50.000 — ¿qué harían ahora?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El fondo lleva $1.020.000 — ¿qué dice el sistema?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En tus propias palabras, escribe la regla de decisión que seguirías para elegir la actividad correcta según el monto del fondo.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Conceptos 1–3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48640" y="1115568"/>
            <a:ext cx="5212080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48640" y="1115568"/>
            <a:ext cx="73152" cy="54864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749808" y="1298448"/>
            <a:ext cx="4919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Sintaxis de </a:t>
            </a:r>
            <a:r>
              <a:rPr b="1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una condición alternativa que se evalúa solo si las condiciones anteriores resultaron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5824700" y="1106425"/>
            <a:ext cx="6321300" cy="5486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824800" y="1115575"/>
            <a:ext cx="6321300" cy="183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6525658" y="1440498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### PROGRAMA DE TEMPERATURA ###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424dc5a3a_0_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424dc5a3a_0_1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424dc5a3a_0_1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151" name="Google Shape;151;g3f424dc5a3a_0_1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52" name="Google Shape;152;g3f424dc5a3a_0_1"/>
          <p:cNvSpPr txBox="1"/>
          <p:nvPr/>
        </p:nvSpPr>
        <p:spPr>
          <a:xfrm>
            <a:off x="548640" y="566928"/>
            <a:ext cx="110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Conceptos 1–3</a:t>
            </a:r>
            <a:endParaRPr/>
          </a:p>
        </p:txBody>
      </p:sp>
      <p:sp>
        <p:nvSpPr>
          <p:cNvPr id="153" name="Google Shape;153;g3f424dc5a3a_0_1"/>
          <p:cNvSpPr/>
          <p:nvPr/>
        </p:nvSpPr>
        <p:spPr>
          <a:xfrm>
            <a:off x="548640" y="1115568"/>
            <a:ext cx="5212200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424dc5a3a_0_1"/>
          <p:cNvSpPr/>
          <p:nvPr/>
        </p:nvSpPr>
        <p:spPr>
          <a:xfrm>
            <a:off x="548640" y="1115568"/>
            <a:ext cx="73200" cy="54864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f424dc5a3a_0_1"/>
          <p:cNvSpPr txBox="1"/>
          <p:nvPr/>
        </p:nvSpPr>
        <p:spPr>
          <a:xfrm>
            <a:off x="749808" y="1298448"/>
            <a:ext cx="49194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Sintaxis de </a:t>
            </a:r>
            <a:r>
              <a:rPr b="1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una condición alternativa que se evalúa solo si las condiciones anteriores resultaron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📘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Se comienza con un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luego agregar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según sea necesario y termiar con un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56" name="Google Shape;156;g3f424dc5a3a_0_1"/>
          <p:cNvSpPr/>
          <p:nvPr/>
        </p:nvSpPr>
        <p:spPr>
          <a:xfrm>
            <a:off x="5824700" y="1106425"/>
            <a:ext cx="6321300" cy="5486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424dc5a3a_0_1"/>
          <p:cNvSpPr/>
          <p:nvPr/>
        </p:nvSpPr>
        <p:spPr>
          <a:xfrm>
            <a:off x="5824800" y="1115575"/>
            <a:ext cx="6321300" cy="183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424dc5a3a_0_1"/>
          <p:cNvSpPr txBox="1"/>
          <p:nvPr/>
        </p:nvSpPr>
        <p:spPr>
          <a:xfrm>
            <a:off x="6525658" y="1440498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### PROGRAMA DE TEMPERATURA ###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424dc5a3a_0_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424dc5a3a_0_16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424dc5a3a_0_16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166" name="Google Shape;166;g3f424dc5a3a_0_16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67" name="Google Shape;167;g3f424dc5a3a_0_16"/>
          <p:cNvSpPr txBox="1"/>
          <p:nvPr/>
        </p:nvSpPr>
        <p:spPr>
          <a:xfrm>
            <a:off x="548640" y="566928"/>
            <a:ext cx="110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Conceptos 1–3</a:t>
            </a:r>
            <a:endParaRPr/>
          </a:p>
        </p:txBody>
      </p:sp>
      <p:sp>
        <p:nvSpPr>
          <p:cNvPr id="168" name="Google Shape;168;g3f424dc5a3a_0_16"/>
          <p:cNvSpPr/>
          <p:nvPr/>
        </p:nvSpPr>
        <p:spPr>
          <a:xfrm>
            <a:off x="548640" y="1115568"/>
            <a:ext cx="5212200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424dc5a3a_0_16"/>
          <p:cNvSpPr/>
          <p:nvPr/>
        </p:nvSpPr>
        <p:spPr>
          <a:xfrm>
            <a:off x="548640" y="1115568"/>
            <a:ext cx="73200" cy="54864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424dc5a3a_0_16"/>
          <p:cNvSpPr txBox="1"/>
          <p:nvPr/>
        </p:nvSpPr>
        <p:spPr>
          <a:xfrm>
            <a:off x="749808" y="1298448"/>
            <a:ext cx="49194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Sintaxis de </a:t>
            </a:r>
            <a:r>
              <a:rPr b="1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una condición alternativa que se evalúa solo si las condiciones anteriores resultaron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📘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Se comienza con un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luego agregar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según sea necesario y termiar con un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Solo una rama se ejecuta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Python evalúa las condiciones en orden, de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arriba hacia abajo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71" name="Google Shape;171;g3f424dc5a3a_0_16"/>
          <p:cNvSpPr/>
          <p:nvPr/>
        </p:nvSpPr>
        <p:spPr>
          <a:xfrm>
            <a:off x="5824700" y="1106425"/>
            <a:ext cx="6321300" cy="5486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424dc5a3a_0_16"/>
          <p:cNvSpPr/>
          <p:nvPr/>
        </p:nvSpPr>
        <p:spPr>
          <a:xfrm>
            <a:off x="5824800" y="1115575"/>
            <a:ext cx="6321300" cy="183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f424dc5a3a_0_16"/>
          <p:cNvSpPr txBox="1"/>
          <p:nvPr/>
        </p:nvSpPr>
        <p:spPr>
          <a:xfrm>
            <a:off x="6525658" y="1440498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### PROGRAMA DE TEMPERATURA ###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424dc5a3a_0_3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424dc5a3a_0_31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424dc5a3a_0_31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181" name="Google Shape;181;g3f424dc5a3a_0_31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82" name="Google Shape;182;g3f424dc5a3a_0_31"/>
          <p:cNvSpPr txBox="1"/>
          <p:nvPr/>
        </p:nvSpPr>
        <p:spPr>
          <a:xfrm>
            <a:off x="548640" y="566928"/>
            <a:ext cx="110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Conceptos 1–3</a:t>
            </a:r>
            <a:endParaRPr/>
          </a:p>
        </p:txBody>
      </p:sp>
      <p:sp>
        <p:nvSpPr>
          <p:cNvPr id="183" name="Google Shape;183;g3f424dc5a3a_0_31"/>
          <p:cNvSpPr/>
          <p:nvPr/>
        </p:nvSpPr>
        <p:spPr>
          <a:xfrm>
            <a:off x="548640" y="1115568"/>
            <a:ext cx="5212200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424dc5a3a_0_31"/>
          <p:cNvSpPr/>
          <p:nvPr/>
        </p:nvSpPr>
        <p:spPr>
          <a:xfrm>
            <a:off x="548640" y="1115568"/>
            <a:ext cx="73200" cy="54864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424dc5a3a_0_31"/>
          <p:cNvSpPr txBox="1"/>
          <p:nvPr/>
        </p:nvSpPr>
        <p:spPr>
          <a:xfrm>
            <a:off x="749808" y="1298448"/>
            <a:ext cx="49194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Sintaxis de </a:t>
            </a:r>
            <a:r>
              <a:rPr b="1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una condición alternativa que se evalúa solo si las condiciones anteriores resultaron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📘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Se comienza con un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luego agregar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según sea necesario y termiar con un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Solo una rama se ejecuta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Python evalúa las condiciones en orden, de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arriba hacia abajo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86" name="Google Shape;186;g3f424dc5a3a_0_31"/>
          <p:cNvSpPr/>
          <p:nvPr/>
        </p:nvSpPr>
        <p:spPr>
          <a:xfrm>
            <a:off x="5824700" y="1106425"/>
            <a:ext cx="6321300" cy="5486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424dc5a3a_0_31"/>
          <p:cNvSpPr/>
          <p:nvPr/>
        </p:nvSpPr>
        <p:spPr>
          <a:xfrm>
            <a:off x="5824800" y="1115575"/>
            <a:ext cx="6321300" cy="183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424dc5a3a_0_31"/>
          <p:cNvSpPr txBox="1"/>
          <p:nvPr/>
        </p:nvSpPr>
        <p:spPr>
          <a:xfrm>
            <a:off x="5760725" y="2013225"/>
            <a:ext cx="64314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temperatura = 25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temperatura &lt; 10: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print("Frío — lleva abrigo.")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" name="Google Shape;189;g3f424dc5a3a_0_31"/>
          <p:cNvSpPr txBox="1"/>
          <p:nvPr/>
        </p:nvSpPr>
        <p:spPr>
          <a:xfrm>
            <a:off x="6525658" y="1440498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### PROGRAMA DE TEMPERATURA ###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424dc5a3a_0_4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424dc5a3a_0_47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424dc5a3a_0_47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197" name="Google Shape;197;g3f424dc5a3a_0_47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98" name="Google Shape;198;g3f424dc5a3a_0_47"/>
          <p:cNvSpPr txBox="1"/>
          <p:nvPr/>
        </p:nvSpPr>
        <p:spPr>
          <a:xfrm>
            <a:off x="548640" y="566928"/>
            <a:ext cx="110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Conceptos 1–3</a:t>
            </a:r>
            <a:endParaRPr/>
          </a:p>
        </p:txBody>
      </p:sp>
      <p:sp>
        <p:nvSpPr>
          <p:cNvPr id="199" name="Google Shape;199;g3f424dc5a3a_0_47"/>
          <p:cNvSpPr/>
          <p:nvPr/>
        </p:nvSpPr>
        <p:spPr>
          <a:xfrm>
            <a:off x="548640" y="1115568"/>
            <a:ext cx="5212200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424dc5a3a_0_47"/>
          <p:cNvSpPr/>
          <p:nvPr/>
        </p:nvSpPr>
        <p:spPr>
          <a:xfrm>
            <a:off x="548640" y="1115568"/>
            <a:ext cx="73200" cy="54864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424dc5a3a_0_47"/>
          <p:cNvSpPr txBox="1"/>
          <p:nvPr/>
        </p:nvSpPr>
        <p:spPr>
          <a:xfrm>
            <a:off x="749808" y="1298448"/>
            <a:ext cx="49194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Sintaxis de </a:t>
            </a:r>
            <a:r>
              <a:rPr b="1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una condición alternativa que se evalúa solo si las condiciones anteriores resultaron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📘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Se comienza con un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luego agregar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según sea necesario y termiar con un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Solo una rama se ejecuta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Python evalúa las condiciones en orden, de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arriba hacia abajo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02" name="Google Shape;202;g3f424dc5a3a_0_47"/>
          <p:cNvSpPr/>
          <p:nvPr/>
        </p:nvSpPr>
        <p:spPr>
          <a:xfrm>
            <a:off x="5824700" y="1106425"/>
            <a:ext cx="6321300" cy="5486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424dc5a3a_0_47"/>
          <p:cNvSpPr/>
          <p:nvPr/>
        </p:nvSpPr>
        <p:spPr>
          <a:xfrm>
            <a:off x="5824800" y="1115575"/>
            <a:ext cx="6321300" cy="183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424dc5a3a_0_47"/>
          <p:cNvSpPr txBox="1"/>
          <p:nvPr/>
        </p:nvSpPr>
        <p:spPr>
          <a:xfrm>
            <a:off x="5760725" y="2013225"/>
            <a:ext cx="6431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temperatura = 25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temperatura &lt; 10: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print("Frío — lleva abrigo.")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 temperatura &lt; 20: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print("Fresco — una chaqueta  basta.")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5" name="Google Shape;205;g3f424dc5a3a_0_47"/>
          <p:cNvSpPr txBox="1"/>
          <p:nvPr/>
        </p:nvSpPr>
        <p:spPr>
          <a:xfrm>
            <a:off x="6525658" y="1440498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### PROGRAMA DE TEMPERATURA ###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424dc5a3a_0_6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424dc5a3a_0_62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424dc5a3a_0_62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213" name="Google Shape;213;g3f424dc5a3a_0_62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214" name="Google Shape;214;g3f424dc5a3a_0_62"/>
          <p:cNvSpPr txBox="1"/>
          <p:nvPr/>
        </p:nvSpPr>
        <p:spPr>
          <a:xfrm>
            <a:off x="548640" y="566928"/>
            <a:ext cx="110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Conceptos 1–3</a:t>
            </a:r>
            <a:endParaRPr/>
          </a:p>
        </p:txBody>
      </p:sp>
      <p:sp>
        <p:nvSpPr>
          <p:cNvPr id="215" name="Google Shape;215;g3f424dc5a3a_0_62"/>
          <p:cNvSpPr/>
          <p:nvPr/>
        </p:nvSpPr>
        <p:spPr>
          <a:xfrm>
            <a:off x="548640" y="1115568"/>
            <a:ext cx="5212200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424dc5a3a_0_62"/>
          <p:cNvSpPr/>
          <p:nvPr/>
        </p:nvSpPr>
        <p:spPr>
          <a:xfrm>
            <a:off x="548640" y="1115568"/>
            <a:ext cx="73200" cy="54864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424dc5a3a_0_62"/>
          <p:cNvSpPr txBox="1"/>
          <p:nvPr/>
        </p:nvSpPr>
        <p:spPr>
          <a:xfrm>
            <a:off x="749808" y="1298448"/>
            <a:ext cx="49194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Sintaxis de </a:t>
            </a:r>
            <a:r>
              <a:rPr b="1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una condición alternativa que se evalúa solo si las condiciones anteriores resultaron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📘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Se comienza con un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luego agregar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según sea necesario y termiar con un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Solo una rama se ejecuta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Python evalúa las condiciones en orden, de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arriba hacia abajo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18" name="Google Shape;218;g3f424dc5a3a_0_62"/>
          <p:cNvSpPr/>
          <p:nvPr/>
        </p:nvSpPr>
        <p:spPr>
          <a:xfrm>
            <a:off x="5824700" y="1106425"/>
            <a:ext cx="6321300" cy="5486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424dc5a3a_0_62"/>
          <p:cNvSpPr/>
          <p:nvPr/>
        </p:nvSpPr>
        <p:spPr>
          <a:xfrm>
            <a:off x="5824800" y="1115575"/>
            <a:ext cx="6321300" cy="183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424dc5a3a_0_62"/>
          <p:cNvSpPr txBox="1"/>
          <p:nvPr/>
        </p:nvSpPr>
        <p:spPr>
          <a:xfrm>
            <a:off x="5760725" y="2013225"/>
            <a:ext cx="64314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temperatura = 25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temperatura &lt; 10: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print("Frío — lleva abrigo.")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 temperatura &lt; 20: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print("Fresco — una chaqueta  basta.")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 temperatura &lt; 30: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print("Cálido — manga corta.")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1" name="Google Shape;221;g3f424dc5a3a_0_62"/>
          <p:cNvSpPr txBox="1"/>
          <p:nvPr/>
        </p:nvSpPr>
        <p:spPr>
          <a:xfrm>
            <a:off x="6525658" y="1440498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### PROGRAMA DE TEMPERATURA ###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424dc5a3a_0_7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424dc5a3a_0_77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424dc5a3a_0_77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229" name="Google Shape;229;g3f424dc5a3a_0_77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230" name="Google Shape;230;g3f424dc5a3a_0_77"/>
          <p:cNvSpPr txBox="1"/>
          <p:nvPr/>
        </p:nvSpPr>
        <p:spPr>
          <a:xfrm>
            <a:off x="548640" y="566928"/>
            <a:ext cx="110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Conceptos 1–3</a:t>
            </a:r>
            <a:endParaRPr/>
          </a:p>
        </p:txBody>
      </p:sp>
      <p:sp>
        <p:nvSpPr>
          <p:cNvPr id="231" name="Google Shape;231;g3f424dc5a3a_0_77"/>
          <p:cNvSpPr/>
          <p:nvPr/>
        </p:nvSpPr>
        <p:spPr>
          <a:xfrm>
            <a:off x="548640" y="1115568"/>
            <a:ext cx="5212200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424dc5a3a_0_77"/>
          <p:cNvSpPr/>
          <p:nvPr/>
        </p:nvSpPr>
        <p:spPr>
          <a:xfrm>
            <a:off x="548640" y="1115568"/>
            <a:ext cx="73200" cy="54864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424dc5a3a_0_77"/>
          <p:cNvSpPr txBox="1"/>
          <p:nvPr/>
        </p:nvSpPr>
        <p:spPr>
          <a:xfrm>
            <a:off x="749808" y="1298448"/>
            <a:ext cx="49194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Sintaxis de </a:t>
            </a:r>
            <a:r>
              <a:rPr b="1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una condición alternativa que se evalúa solo si las condiciones anteriores resultaron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📘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Se comienza con un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luego agregar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según sea necesario y termiar con un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Solo una rama se ejecuta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Python evalúa las condiciones en orden, de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arriba hacia abajo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34" name="Google Shape;234;g3f424dc5a3a_0_77"/>
          <p:cNvSpPr/>
          <p:nvPr/>
        </p:nvSpPr>
        <p:spPr>
          <a:xfrm>
            <a:off x="5824700" y="1106425"/>
            <a:ext cx="6321300" cy="5486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424dc5a3a_0_77"/>
          <p:cNvSpPr/>
          <p:nvPr/>
        </p:nvSpPr>
        <p:spPr>
          <a:xfrm>
            <a:off x="5824800" y="1115575"/>
            <a:ext cx="6321300" cy="183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424dc5a3a_0_77"/>
          <p:cNvSpPr txBox="1"/>
          <p:nvPr/>
        </p:nvSpPr>
        <p:spPr>
          <a:xfrm>
            <a:off x="5760725" y="2013225"/>
            <a:ext cx="64314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temperatura = 25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temperatura &lt; 10: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print("Frío — lleva abrigo.")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 temperatura &lt; 20: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print("Fresco — una chaqueta  basta.")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 temperatura &lt; 30: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print("Cálido — manga corta.")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print("Caliente — usa protector</a:t>
            </a:r>
            <a:r>
              <a:rPr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solar.")</a:t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" name="Google Shape;237;g3f424dc5a3a_0_77"/>
          <p:cNvSpPr txBox="1"/>
          <p:nvPr/>
        </p:nvSpPr>
        <p:spPr>
          <a:xfrm>
            <a:off x="6525658" y="1440498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### PROGRAMA DE TEMPERATURA ###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424dc5a3a_0_9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424dc5a3a_0_92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424dc5a3a_0_92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245" name="Google Shape;245;g3f424dc5a3a_0_92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246" name="Google Shape;246;g3f424dc5a3a_0_92"/>
          <p:cNvSpPr txBox="1"/>
          <p:nvPr/>
        </p:nvSpPr>
        <p:spPr>
          <a:xfrm>
            <a:off x="548640" y="566928"/>
            <a:ext cx="110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Conceptos 1–3</a:t>
            </a:r>
            <a:endParaRPr/>
          </a:p>
        </p:txBody>
      </p:sp>
      <p:sp>
        <p:nvSpPr>
          <p:cNvPr id="247" name="Google Shape;247;g3f424dc5a3a_0_92"/>
          <p:cNvSpPr/>
          <p:nvPr/>
        </p:nvSpPr>
        <p:spPr>
          <a:xfrm>
            <a:off x="548640" y="1115568"/>
            <a:ext cx="5212200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424dc5a3a_0_92"/>
          <p:cNvSpPr/>
          <p:nvPr/>
        </p:nvSpPr>
        <p:spPr>
          <a:xfrm>
            <a:off x="548640" y="1115568"/>
            <a:ext cx="73200" cy="54864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424dc5a3a_0_92"/>
          <p:cNvSpPr txBox="1"/>
          <p:nvPr/>
        </p:nvSpPr>
        <p:spPr>
          <a:xfrm>
            <a:off x="749808" y="1298448"/>
            <a:ext cx="49194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Sintaxis de </a:t>
            </a:r>
            <a:r>
              <a:rPr b="1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una condición alternativa que se evalúa solo si las condiciones anteriores resultaron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📘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Se comienza con un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luego agregar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según sea necesario y termiar con un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Solo una rama se ejecuta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Python evalúa las condiciones en orden, de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arriba hacia abajo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50" name="Google Shape;250;g3f424dc5a3a_0_92"/>
          <p:cNvSpPr/>
          <p:nvPr/>
        </p:nvSpPr>
        <p:spPr>
          <a:xfrm>
            <a:off x="5824700" y="1106425"/>
            <a:ext cx="6321300" cy="5486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424dc5a3a_0_92"/>
          <p:cNvSpPr/>
          <p:nvPr/>
        </p:nvSpPr>
        <p:spPr>
          <a:xfrm>
            <a:off x="5824800" y="1115575"/>
            <a:ext cx="6321300" cy="183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424dc5a3a_0_92"/>
          <p:cNvSpPr txBox="1"/>
          <p:nvPr/>
        </p:nvSpPr>
        <p:spPr>
          <a:xfrm>
            <a:off x="5760725" y="2013225"/>
            <a:ext cx="6431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temperatura = 25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temperatura &lt; 10: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print("Frío — lleva abrigo.")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 temperatura &lt; 20: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print("Fresco — una chaqueta  basta.")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 temperatura &lt; 30: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print("Cálido — manga corta.")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print("Caliente — usa protector</a:t>
            </a:r>
            <a:r>
              <a:rPr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solar.")</a:t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&gt;&gt; Cálido — manga corta.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3" name="Google Shape;253;g3f424dc5a3a_0_92"/>
          <p:cNvSpPr txBox="1"/>
          <p:nvPr/>
        </p:nvSpPr>
        <p:spPr>
          <a:xfrm>
            <a:off x="6525658" y="1440498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### PROGRAMA DE TEMPERATURA ###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397ae0e0f_0_3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397ae0e0f_0_35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397ae0e0f_0_35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261" name="Google Shape;261;g3f397ae0e0f_0_35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262" name="Google Shape;262;g3f397ae0e0f_0_35"/>
          <p:cNvSpPr txBox="1"/>
          <p:nvPr/>
        </p:nvSpPr>
        <p:spPr>
          <a:xfrm>
            <a:off x="548640" y="566928"/>
            <a:ext cx="110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Conceptos 1–3</a:t>
            </a:r>
            <a:endParaRPr/>
          </a:p>
        </p:txBody>
      </p:sp>
      <p:sp>
        <p:nvSpPr>
          <p:cNvPr id="263" name="Google Shape;263;g3f397ae0e0f_0_35"/>
          <p:cNvSpPr/>
          <p:nvPr/>
        </p:nvSpPr>
        <p:spPr>
          <a:xfrm>
            <a:off x="548640" y="1115568"/>
            <a:ext cx="5212200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f397ae0e0f_0_35"/>
          <p:cNvSpPr/>
          <p:nvPr/>
        </p:nvSpPr>
        <p:spPr>
          <a:xfrm>
            <a:off x="548640" y="1115568"/>
            <a:ext cx="73200" cy="54864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397ae0e0f_0_35"/>
          <p:cNvSpPr txBox="1"/>
          <p:nvPr/>
        </p:nvSpPr>
        <p:spPr>
          <a:xfrm>
            <a:off x="749808" y="1298448"/>
            <a:ext cx="49194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Sintaxis de </a:t>
            </a:r>
            <a:r>
              <a:rPr b="1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una condición alternativa que se evalúa solo si las condiciones anteriores resultaron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📘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Se comienza con un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if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luego agregar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según sea necesario y termiar con un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Solo una rama se ejecuta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Python evalúa las condiciones en orden, de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arriba hacia abajo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66" name="Google Shape;266;g3f397ae0e0f_0_35"/>
          <p:cNvSpPr/>
          <p:nvPr/>
        </p:nvSpPr>
        <p:spPr>
          <a:xfrm>
            <a:off x="5824700" y="1106425"/>
            <a:ext cx="6321300" cy="5486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397ae0e0f_0_35"/>
          <p:cNvSpPr/>
          <p:nvPr/>
        </p:nvSpPr>
        <p:spPr>
          <a:xfrm>
            <a:off x="5824800" y="1115575"/>
            <a:ext cx="6321300" cy="183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397ae0e0f_0_35"/>
          <p:cNvSpPr txBox="1"/>
          <p:nvPr/>
        </p:nvSpPr>
        <p:spPr>
          <a:xfrm>
            <a:off x="5760725" y="2013225"/>
            <a:ext cx="6431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temperatura = 25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temperatura &lt; 10: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print("Frío — lleva abrigo.")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 temperatura &lt; 20: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print("Fresco — una chaqueta  basta.")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elif temperatura &lt; 30: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print("Cálido — manga corta.")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print("Caliente — usa protector</a:t>
            </a:r>
            <a:r>
              <a:rPr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solar.")</a:t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&gt;&gt; Cálido — manga corta.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9" name="Google Shape;269;g3f397ae0e0f_0_35"/>
          <p:cNvSpPr txBox="1"/>
          <p:nvPr/>
        </p:nvSpPr>
        <p:spPr>
          <a:xfrm>
            <a:off x="6525658" y="1440498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### PROGRAMA DE TEMPERATURA ###</a:t>
            </a:r>
            <a:endParaRPr/>
          </a:p>
        </p:txBody>
      </p:sp>
      <p:sp>
        <p:nvSpPr>
          <p:cNvPr id="270" name="Google Shape;270;g3f397ae0e0f_0_35"/>
          <p:cNvSpPr txBox="1"/>
          <p:nvPr/>
        </p:nvSpPr>
        <p:spPr>
          <a:xfrm>
            <a:off x="6516733" y="6076723"/>
            <a:ext cx="491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OjO que el orden importa</a:t>
            </a:r>
            <a:endParaRPr b="1">
              <a:solidFill>
                <a:srgbClr val="F5A62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14</a:t>
            </a:r>
            <a:endParaRPr/>
          </a:p>
        </p:txBody>
      </p:sp>
      <p:sp>
        <p:nvSpPr>
          <p:cNvPr id="278" name="Google Shape;278;p5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Errores típicos</a:t>
            </a:r>
            <a:endParaRPr/>
          </a:p>
        </p:txBody>
      </p:sp>
      <p:sp>
        <p:nvSpPr>
          <p:cNvPr id="279" name="Google Shape;279;p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Errores típicos a evitar</a:t>
            </a:r>
            <a:endParaRPr/>
          </a:p>
        </p:txBody>
      </p:sp>
      <p:graphicFrame>
        <p:nvGraphicFramePr>
          <p:cNvPr id="280" name="Google Shape;280;p5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{5DF444A7-F905-44C8-ACD0-6144F3CF76B9}</a:tableStyleId>
              </a:tblPr>
              <a:tblGrid>
                <a:gridCol w="3200400"/>
                <a:gridCol w="4114800"/>
                <a:gridCol w="3779225"/>
              </a:tblGrid>
              <a:tr h="102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ocurre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corregirlo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Primera condición demasiado amplia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los valores entran al primer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 nunca llegan al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elif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Ordenar las condiciones de menor a mayor (o mayor a menor) de forma consistente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elif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después de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SyntaxError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— Python no acepta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elif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después del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siempre va al final, después de todos los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elif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Olvidar el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final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 ninguna condición se cumple, el programa no imprime nada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Agregar un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que cubra todos los casos restantes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281" name="Google Shape;281;p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Si te aparece uno de estos errores, vuelve a esta tabla antes de pedir ayuda.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